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3"/>
    <p:sldId id="263" r:id="rId9"/>
    <p:sldId id="264" r:id="rId10"/>
    <p:sldId id="265" r:id="rId11"/>
    <p:sldId id="268" r:id="rId14"/>
    <p:sldId id="269" r:id="rId15"/>
    <p:sldId id="266" r:id="rId12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4" r:id="rId35"/>
    <p:sldId id="283" r:id="rId34"/>
    <p:sldId id="282" r:id="rId33"/>
    <p:sldId id="281" r:id="rId32"/>
    <p:sldId id="280" r:id="rId31"/>
    <p:sldId id="279" r:id="rId30"/>
    <p:sldId id="278" r:id="rId29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02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'dsher Gun'kin" userId="78e5edb383196875" providerId="LiveId" clId="{345933C3-A71C-4F7F-9FF7-0217B45264EF}"/>
    <pc:docChg chg="modSld">
      <pc:chgData name="Fel'dsher Gun'kin" userId="78e5edb383196875" providerId="LiveId" clId="{345933C3-A71C-4F7F-9FF7-0217B45264EF}" dt="2026-04-16T08:16:44.755" v="60" actId="20577"/>
      <pc:docMkLst>
        <pc:docMk/>
      </pc:docMkLst>
      <pc:sldChg chg="modSp mod">
        <pc:chgData name="Fel'dsher Gun'kin" userId="78e5edb383196875" providerId="LiveId" clId="{345933C3-A71C-4F7F-9FF7-0217B45264EF}" dt="2026-04-16T08:16:44.755" v="60" actId="20577"/>
        <pc:sldMkLst>
          <pc:docMk/>
          <pc:sldMk cId="0" sldId="256"/>
        </pc:sldMkLst>
        <pc:spChg chg="mod">
          <ac:chgData name="Fel'dsher Gun'kin" userId="78e5edb383196875" providerId="LiveId" clId="{345933C3-A71C-4F7F-9FF7-0217B45264EF}" dt="2026-04-16T08:16:44.755" v="6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Fel'dsher Gun'kin" userId="78e5edb383196875" providerId="LiveId" clId="{345933C3-A71C-4F7F-9FF7-0217B45264EF}" dt="2026-04-16T08:16:27.441" v="48" actId="20577"/>
        <pc:sldMkLst>
          <pc:docMk/>
          <pc:sldMk cId="0" sldId="277"/>
        </pc:sldMkLst>
        <pc:spChg chg="mod">
          <ac:chgData name="Fel'dsher Gun'kin" userId="78e5edb383196875" providerId="LiveId" clId="{345933C3-A71C-4F7F-9FF7-0217B45264EF}" dt="2026-04-16T08:16:27.441" v="48" actId="20577"/>
          <ac:spMkLst>
            <pc:docMk/>
            <pc:sldMk cId="0" sldId="277"/>
            <ac:spMk id="14" creationId="{00000000-0000-0000-0000-000000000000}"/>
          </ac:spMkLst>
        </pc:spChg>
      </pc:sldChg>
    </pc:docChg>
  </pc:docChgLst>
  <pc:docChgLst>
    <pc:chgData name="Fel'dsher Gun'kin" userId="78e5edb383196875" providerId="LiveId" clId="{E9B172E7-6F22-4E28-8D41-6239B8ED2377}"/>
    <pc:docChg chg="modSld">
      <pc:chgData name="Fel'dsher Gun'kin" userId="78e5edb383196875" providerId="LiveId" clId="{E9B172E7-6F22-4E28-8D41-6239B8ED2377}" dt="2026-03-18T13:39:36.419" v="24" actId="1036"/>
      <pc:docMkLst>
        <pc:docMk/>
      </pc:docMkLst>
      <pc:sldChg chg="modSp mod">
        <pc:chgData name="Fel'dsher Gun'kin" userId="78e5edb383196875" providerId="LiveId" clId="{E9B172E7-6F22-4E28-8D41-6239B8ED2377}" dt="2026-03-18T13:38:35.788" v="10" actId="1035"/>
        <pc:sldMkLst>
          <pc:docMk/>
          <pc:sldMk cId="0" sldId="260"/>
        </pc:sldMkLst>
        <pc:spChg chg="mod">
          <ac:chgData name="Fel'dsher Gun'kin" userId="78e5edb383196875" providerId="LiveId" clId="{E9B172E7-6F22-4E28-8D41-6239B8ED2377}" dt="2026-03-18T13:38:35.788" v="10" actId="1035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Fel'dsher Gun'kin" userId="78e5edb383196875" providerId="LiveId" clId="{E9B172E7-6F22-4E28-8D41-6239B8ED2377}" dt="2026-03-18T13:39:36.419" v="24" actId="1036"/>
        <pc:sldMkLst>
          <pc:docMk/>
          <pc:sldMk cId="0" sldId="262"/>
        </pc:sldMkLst>
        <pc:spChg chg="mod">
          <ac:chgData name="Fel'dsher Gun'kin" userId="78e5edb383196875" providerId="LiveId" clId="{E9B172E7-6F22-4E28-8D41-6239B8ED2377}" dt="2026-03-18T13:39:36.419" v="24" actId="1036"/>
          <ac:spMkLst>
            <pc:docMk/>
            <pc:sldMk cId="0" sldId="262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Оборудование</c:v>
                </c:pt>
              </c:strCache>
            </c:strRef>
          </c:tx>
          <c:spPr>
            <a:solidFill>
              <a:srgbClr val="C67B5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Минимум</c:v>
                </c:pt>
                <c:pt idx="1">
                  <c:v>Медиана</c:v>
                </c:pt>
                <c:pt idx="2">
                  <c:v>Максимум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1.36</c:v>
                </c:pt>
                <c:pt idx="1">
                  <c:v>1.36</c:v>
                </c:pt>
                <c:pt idx="2">
                  <c:v>1.36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63E-4B09-BE83-565BAA88EF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Электроэнергия</c:v>
                </c:pt>
              </c:strCache>
            </c:strRef>
          </c:tx>
          <c:spPr>
            <a:solidFill>
              <a:srgbClr val="4A7C59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Минимум</c:v>
                </c:pt>
                <c:pt idx="1">
                  <c:v>Медиана</c:v>
                </c:pt>
                <c:pt idx="2">
                  <c:v>Максимум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</c:v>
                </c:pt>
                <c:pt idx="1">
                  <c:v>0.12</c:v>
                </c:pt>
                <c:pt idx="2">
                  <c:v>0.22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63E-4B09-BE83-565BAA88EF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Строительство</c:v>
                </c:pt>
              </c:strCache>
            </c:strRef>
          </c:tx>
          <c:spPr>
            <a:solidFill>
              <a:srgbClr val="7A857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Минимум</c:v>
                </c:pt>
                <c:pt idx="1">
                  <c:v>Медиана</c:v>
                </c:pt>
                <c:pt idx="2">
                  <c:v>Максимум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0.04</c:v>
                </c:pt>
                <c:pt idx="1">
                  <c:v>0.06</c:v>
                </c:pt>
                <c:pt idx="2">
                  <c:v>0.1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63E-4B09-BE83-565BAA88E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AF8F5"/>
                </a:solidFill>
                <a:latin typeface="Georgia"/>
              </a:rPr>
              <a:t>Одной дешёвой энергии
недостаточно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Calibri"/>
              </a:rPr>
              <a:t>Модель торговли вычислительными услугами 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C4BDB6"/>
                </a:solidFill>
                <a:latin typeface="Calibri"/>
              </a:rPr>
              <a:t>Михаил Локшин</a:t>
            </a:r>
            <a:r>
              <a:rPr lang="en-US" sz="1600" b="0" i="0" dirty="0">
                <a:solidFill>
                  <a:srgbClr val="C4BDB6"/>
                </a:solidFill>
                <a:latin typeface="Calibri"/>
              </a:rPr>
              <a:t>, Всемирный банк</a:t>
            </a:r>
            <a:endParaRPr sz="1600" b="0" i="0" dirty="0">
              <a:solidFill>
                <a:srgbClr val="C4BDB6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A8574"/>
                </a:solidFill>
                <a:latin typeface="Calibri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c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880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9144000" cy="594360"/>
          </a:xfrm>
          <a:prstGeom prst="rect">
            <a:avLst/>
          </a:prstGeom>
          <a:solidFill>
            <a:srgbClr val="2C2C2C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AF8F5"/>
                </a:solidFill>
                <a:latin typeface="Georgia"/>
              </a:rPr>
              <a:t>Как производятся FLOP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D4CFC8"/>
                </a:solidFill>
                <a:latin typeface="Calibri"/>
              </a:rPr>
              <a:t>Дата-центр превращает электроэнергию в операции с плавающей запятой — сырьё 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971800"/>
            <a:ext cx="2011680" cy="123444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2011680" cy="4572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67B5C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AF8F5"/>
                </a:solidFill>
                <a:latin typeface="Calibri"/>
              </a:rPr>
              <a:t>Электроэнергия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4290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Цена сети (pⱼᴱ)
Единственный фактор,
различающийся по странам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3154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Georg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971800"/>
            <a:ext cx="2011680" cy="123444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14600" y="2971800"/>
            <a:ext cx="2011680" cy="45720"/>
          </a:xfrm>
          <a:prstGeom prst="rect">
            <a:avLst/>
          </a:prstGeom>
          <a:solidFill>
            <a:srgbClr val="A8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624A"/>
                </a:solidFill>
                <a:latin typeface="Calibri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815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AF8F5"/>
                </a:solidFill>
                <a:latin typeface="Calibri"/>
              </a:rPr>
              <a:t>Охлаждение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4290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Накладные расходы PUE
Зависят от климата
(θⱼ → издержки охлаждения)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971800"/>
            <a:ext cx="2011680" cy="123444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2971800"/>
            <a:ext cx="2011680" cy="4572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B7355"/>
                </a:solidFill>
                <a:latin typeface="Calibri"/>
              </a:rPr>
              <a:t>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0815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AF8F5"/>
                </a:solidFill>
                <a:latin typeface="Calibri"/>
              </a:rPr>
              <a:t>Оборудование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290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Видеокарты H100/B200
Мировая цена
(~90% себестоимости)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54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Georg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2971800"/>
            <a:ext cx="2011680" cy="123444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95160" y="2971800"/>
            <a:ext cx="2011680" cy="4572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86600" y="3108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A7C59"/>
                </a:solidFill>
                <a:latin typeface="Calibri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0815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AF8F5"/>
                </a:solidFill>
                <a:latin typeface="Calibri"/>
              </a:rPr>
              <a:t>Выпуск FLOP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42900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Вычислительные услуги
Training (пакетный)
Inference (реальное время)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297680"/>
            <a:ext cx="9144000" cy="502920"/>
          </a:xfrm>
          <a:prstGeom prst="rect">
            <a:avLst/>
          </a:prstGeom>
          <a:solidFill>
            <a:srgbClr val="2A2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7C59"/>
                </a:solidFill>
                <a:latin typeface="Calibri"/>
              </a:rPr>
              <a:t xml:space="preserve">Удельная себестоимость:  </a:t>
            </a:r>
            <a:r>
              <a:rPr sz="1200" b="0" i="0">
                <a:solidFill>
                  <a:srgbClr val="FAF8F5"/>
                </a:solidFill>
                <a:latin typeface="Calibri"/>
              </a:rPr>
              <a:t>cⱼ = </a:t>
            </a:r>
            <a:r>
              <a:rPr sz="1200" b="1" i="0">
                <a:solidFill>
                  <a:srgbClr val="C67B5C"/>
                </a:solidFill>
                <a:latin typeface="Calibri"/>
              </a:rPr>
              <a:t>электроэнергия (~8%)</a:t>
            </a:r>
            <a:r>
              <a:rPr sz="1200" b="0" i="0">
                <a:solidFill>
                  <a:srgbClr val="FAF8F5"/>
                </a:solidFill>
                <a:latin typeface="Calibri"/>
              </a:rPr>
              <a:t>  +  </a:t>
            </a:r>
            <a:r>
              <a:rPr sz="1200" b="1" i="0">
                <a:solidFill>
                  <a:srgbClr val="8B7355"/>
                </a:solidFill>
                <a:latin typeface="Calibri"/>
              </a:rPr>
              <a:t>оборудование (~90%)</a:t>
            </a:r>
            <a:r>
              <a:rPr sz="1200" b="0" i="0">
                <a:solidFill>
                  <a:srgbClr val="FAF8F5"/>
                </a:solidFill>
                <a:latin typeface="Calibri"/>
              </a:rPr>
              <a:t>  +  </a:t>
            </a:r>
            <a:r>
              <a:rPr sz="1200" b="1" i="0">
                <a:solidFill>
                  <a:srgbClr val="7A8574"/>
                </a:solidFill>
                <a:latin typeface="Calibri"/>
              </a:rPr>
              <a:t>сети + строительство (~2%)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AF8F5"/>
                </a:solidFill>
                <a:latin typeface="Georgia"/>
              </a:rPr>
              <a:t>Новые игроки на рынке вычислений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574"/>
                </a:solidFill>
                <a:latin typeface="Calibri"/>
              </a:rPr>
              <a:t>Миллиардные вложения в дата-центры больше не ограничены США, Европой и Китаем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54864" cy="141732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67B5C"/>
                </a:solidFill>
                <a:latin typeface="Calibri"/>
              </a:rPr>
              <a:t>АРМЕНИЯ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Firebird / NVIDIA AI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$4 млрд (фаза 1: $500 млн) · 100 МВт
50 000 GPU NVIDIA · поставка одобрена США
Премьер Пашинян лоббировал у Трампа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144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54864" cy="141732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987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A7C59"/>
                </a:solidFill>
                <a:latin typeface="Calibri"/>
              </a:rPr>
              <a:t>САУДОВСКАЯ АРАВИЯ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HUMAIN / NEOM / DataVolt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361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$23+ млрд в ИИ-партнёрствах · 11 дата-центров
по 200 МВт · NEOM становится хабом
Цель PIF: 3-й в мире поставщик 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9144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59" y="914400"/>
            <a:ext cx="54864" cy="1417320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987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7355"/>
                </a:solidFill>
                <a:latin typeface="Calibri"/>
              </a:rPr>
              <a:t>ОАЭ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2070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OpenAI–G42 Абу-Даби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361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Кампус 5 ГВт · крупнейшая площадка ИИ
Международная экспансия Stargate
Объект Khazna 100 МВт в Аджмане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146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54864" cy="141732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5877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8C5A"/>
                </a:solidFill>
                <a:latin typeface="Calibri"/>
              </a:rPr>
              <a:t>ИНДОНЕЗИЯ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072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Коридор Джакарта / Батам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363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Princeton Digital: кампус $1 млрд
Облачные регионы Microsoft и Google
Крупнейший рынок ЮВА по спросу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5146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514600"/>
            <a:ext cx="54864" cy="1417320"/>
          </a:xfrm>
          <a:prstGeom prst="rect">
            <a:avLst/>
          </a:prstGeom>
          <a:solidFill>
            <a:srgbClr val="A8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25877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624A"/>
                </a:solidFill>
                <a:latin typeface="Calibri"/>
              </a:rPr>
              <a:t>КЕНИЯ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072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Africa Data Centres / IXAfrica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1363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Хаб дата-центров Восточной Африки · 1 ГВт
Дешёвая геотермика (~$0.07/кВт·ч)
Облачные регионы Microsoft и Google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59" y="2514600"/>
            <a:ext cx="2743200" cy="1417320"/>
          </a:xfrm>
          <a:prstGeom prst="rect">
            <a:avLst/>
          </a:prstGeom>
          <a:solidFill>
            <a:srgbClr val="352F2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80759" y="2514600"/>
            <a:ext cx="54864" cy="1417320"/>
          </a:xfrm>
          <a:prstGeom prst="rect">
            <a:avLst/>
          </a:prstGeom>
          <a:solidFill>
            <a:srgbClr val="6B7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5877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F5E"/>
                </a:solidFill>
                <a:latin typeface="Calibri"/>
              </a:rPr>
              <a:t>МАЛАЙЗИЯ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8072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AF8F5"/>
                </a:solidFill>
                <a:latin typeface="Calibri"/>
              </a:rPr>
              <a:t>Коридор Джохор (Microsoft / NTT)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136392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Бум инвестиций $34 млрд · $6 млрд к 2031
2-й облачный регион Microsoft (SE Asia 3)
Сайберджая: 22 действующих + 9 новых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2A2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7C59"/>
                </a:solidFill>
                <a:latin typeface="Calibri"/>
              </a:rPr>
              <a:t xml:space="preserve">Ключевой вопрос: </a:t>
            </a:r>
            <a:r>
              <a:rPr sz="1200" b="0" i="0">
                <a:solidFill>
                  <a:srgbClr val="C4BDB6"/>
                </a:solidFill>
                <a:latin typeface="Calibri"/>
              </a:rPr>
              <a:t>У этих стран есть дешёвая энергия и политическая воля. Смогут ли они преодолеть геополитические барьеры и институциональную слабость, чтобы получить долю спроса на вычисления ИИ?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Возможность: экспорт FLOP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4846320" cy="3291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Спрос на вычисления ИИ удваивается каждые шесть месяцев. Дата-центры уже потребляют 1.5% мировой электроэнергии — к 2030 году показатель более чем удвоится.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Страны могут превращать дешёвую энергию в экспорт вычислений ИИ — поднимаясь от сырья к цифровым услугам.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Богатые энергией развивающиеся страны — дешёвая электроэнергия, растущая сеть, политическая воля — получают редкий шанс войти в цифровой экспорт, минуя традиционную индустриализацию.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80160"/>
            <a:ext cx="2743200" cy="9601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481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3258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67B5C"/>
                </a:solidFill>
                <a:latin typeface="Georgia"/>
              </a:rPr>
              <a:t>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темп удвоения
спроса на вычисления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423160"/>
            <a:ext cx="2743200" cy="9601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624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Calibri"/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79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67B5C"/>
                </a:solidFill>
                <a:latin typeface="Georgia"/>
              </a:rPr>
              <a:t>10×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26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разброс цен
на электроэнергию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566160"/>
            <a:ext cx="2743200" cy="9601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376732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67B5C"/>
                </a:solidFill>
                <a:latin typeface="Calibri"/>
              </a:rPr>
              <a:t>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79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67B5C"/>
                </a:solidFill>
                <a:latin typeface="Georgia"/>
              </a:rPr>
              <a:t>$9 млрд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трансграничный
экспорт услуг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Georgia"/>
              </a:rPr>
              <a:t>Вклад настоящей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713232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96012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20040" y="1143000"/>
            <a:ext cx="594360" cy="5943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AF8F5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51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272206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333333"/>
                </a:solidFill>
                <a:latin typeface="Calibri"/>
              </a:rPr>
              <a:t>Рикардианская модель торговли вычислениями с ограничением по мощности, «айсберговыми» издержками времени отклика и геополитическими надбавками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184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Разделяет Training (нечувствителен ко времени отклика) и Inference (чувствителен) — возникают пять равновесных режимов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148840"/>
            <a:ext cx="713232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97280" y="214884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0040" y="2331720"/>
            <a:ext cx="594360" cy="5943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331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AF8F5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2402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Калибровка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6032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Калибровка по 85 странам с поправкой на энергосубсидии, искажающие рейтинги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80720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Субсидируемые тарифы заменены на LRMC для 13 стран; геополитическая надбавка — из голосований ГА ООН, адекватности данных и санкций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337560"/>
            <a:ext cx="713232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97280" y="333756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20040" y="3520440"/>
            <a:ext cx="594360" cy="5943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520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AF8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29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Calibri"/>
              </a:rPr>
              <a:t>Благосостояние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4904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Торговые режимы и оценка потерь благосостояния от геополитических надбавок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9592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Потери благосостояния — 1.5% расходов на вычисления (~$1.3 млрд/год): достаточно мало, чтобы внутреннее производство было рациональным для государственных задач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Georgia"/>
              </a:rPr>
              <a:t>Обзор литературы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Литература охватывает управление ИИ, цифровую торговлю и географию дата-центров — но формальной модели торговли вычислениями в ней нет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ИИ и сравнительные преимущества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Goldfarb &amp; Trefler (2018)
Korinek &amp; Stiglitz (2021)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ИИ переносит источник сравнительного преимущества с труда и сырья на данные и человеческий капитал. Страны, у которых нет ни того, ни другого, рискуют остаться в стороне.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23443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Офшоринг ИТ-услуг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53619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Blinder (2006)
Brainard (1997), Helpman et al. (2004)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Классический офшоринг услуг опирается на дешёвый квалифицированный труд — круг экспортёров здесь иной, чем в торговле вычислениями.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География дата-центров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Flucker et al. (2013), Liu et al. (2023)
Lehdonvirta et al. (2024), Pilz et al.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Климат определяет издержки охлаждения, размещение идёт за холодом и дешёвой энергией. «Вычислительный Север» держит 77% мощностей.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74320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2880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Управление вычислениями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8211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Sastry et al. (2024)
World Bank (2025), Biglaiser et al.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Вычисления удобно регулировать: они локализуемы, измеримы и идут через немногих поставщиков. Но рамки «издержки — торговля» нет.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4343400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DB6"/>
                </a:solidFill>
                <a:latin typeface="Calibri"/>
              </a:rPr>
              <a:t>Пробел: нет формальной модели, которая связывала бы издержки производства → торговые потоки → потери благосостояния для вычислительных услуг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Архитектура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7A8574"/>
                </a:solidFill>
                <a:latin typeface="Calibri"/>
              </a:rPr>
              <a:t>Рикардианская модель с ограничением по мощности и тремя нововведениями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560320" cy="30175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333"/>
                </a:solidFill>
                <a:latin typeface="Georgia"/>
              </a:rPr>
              <a:t>Структура издержек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Страновые издержки производства из электроэнергии, оборудования (мировая цена) и строительства. PUE зависит от климата.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54480"/>
            <a:ext cx="2560320" cy="30175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A8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23774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333"/>
                </a:solidFill>
                <a:latin typeface="Georgia"/>
              </a:rPr>
              <a:t>Торговые издержки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3464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Training нечувствителен ко времени отклика (свободно выносится за рубеж). Inference деградирует с расстоянием — рынки локальны.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2560320" cy="30175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33333"/>
                </a:solidFill>
                <a:latin typeface="Georgia"/>
              </a:rPr>
              <a:t>Геополитическая надбавка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3546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7A8574"/>
                </a:solidFill>
                <a:latin typeface="Calibri"/>
              </a:rPr>
              <a:t>Двусторонние барьеры: геополитическая дистанция, регуляторные пробелы, санкции. Дефицит доверия как торговый барьер.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33333"/>
                </a:solidFill>
                <a:latin typeface="Georgia"/>
              </a:rPr>
              <a:t>Модель: издержки и торговля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64008" cy="141732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7B5C"/>
                </a:solidFill>
                <a:latin typeface="Calibri"/>
              </a:rPr>
              <a:t>(1)  Издержки производства cⱼ</a:t>
            </a:r>
          </a:p>
        </p:txBody>
      </p:sp>
      <p:pic>
        <p:nvPicPr>
          <p:cNvPr id="6" name="Picture 5" descr="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4114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749808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cⱼ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удельная себестоимость GPU-часа в стране j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γ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потребляемая мощность GPU (кВт)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pⱼᴱ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цена электроэнергии ($/кВт·ч)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PUE(θⱼ)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накладные расходы охлаждения (θ = темп.)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ρ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амортизация оборудования (мировая, ~90%)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η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сетевое оборудование (мировое)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κⱼ/(Lf·H)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строительство / (срок службы × часов/год)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64008" cy="123444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7C59"/>
                </a:solidFill>
                <a:latin typeface="Calibri"/>
              </a:rPr>
              <a:t>(2)  Геополитическая надбавка</a:t>
            </a:r>
          </a:p>
        </p:txBody>
      </p:sp>
      <p:pic>
        <p:nvPicPr>
          <p:cNvPr id="11" name="Picture 10" descr="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41148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0" y="233172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A7C59"/>
                </a:solidFill>
                <a:latin typeface="Calibri"/>
              </a:rPr>
              <a:t>dⱼₖ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геополитическая дистанция (голосования ГА ООН)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4A7C59"/>
                </a:solidFill>
                <a:latin typeface="Calibri"/>
              </a:rPr>
              <a:t>Rⱼₖ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соглашение об адекватности данных (0/1)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4A7C59"/>
                </a:solidFill>
                <a:latin typeface="Calibri"/>
              </a:rPr>
              <a:t>Sⱼₖ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индикатор санкций → λ = 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7B5C"/>
                </a:solidFill>
                <a:latin typeface="Calibri"/>
              </a:rPr>
              <a:t>(3)  Издержки поставки Pˢⱼₖ</a:t>
            </a:r>
          </a:p>
        </p:txBody>
      </p:sp>
      <p:pic>
        <p:nvPicPr>
          <p:cNvPr id="16" name="Picture 15" descr="e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50208"/>
            <a:ext cx="45720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0" y="3639312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τ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темп деградации от времени отклика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ℓⱼₖ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время отклика туда-обратно (мс)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Training (s=T):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 τ = 0 → нет издержек времени отклика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Inference (s=I):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 τ &gt; 0 → издержки растут с расстоянием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33333"/>
                </a:solidFill>
                <a:latin typeface="Georgia"/>
              </a:rPr>
              <a:t>Модель: равновесие и благосостояние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7B5C"/>
                </a:solidFill>
                <a:latin typeface="Calibri"/>
              </a:rPr>
              <a:t>(4)  Спрос</a:t>
            </a:r>
          </a:p>
        </p:txBody>
      </p:sp>
      <p:pic>
        <p:nvPicPr>
          <p:cNvPr id="6" name="Picture 5" descr="e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87552"/>
            <a:ext cx="4114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7772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ωₖ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 xml:space="preserve"> = доля страны в установленной мощности дата-центров (МВт)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Разделение: Dᵀ = αΩωₖ (Training), Dᴵ = (1−α)Ωωₖ (Inference). Спрос страны задан её мощностью, а не ценой.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8229600" cy="12344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64008" cy="12344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7B5C"/>
                </a:solidFill>
                <a:latin typeface="Calibri"/>
              </a:rPr>
              <a:t>(5)  Выбор поставщика и ограничение мощности</a:t>
            </a:r>
          </a:p>
        </p:txBody>
      </p:sp>
      <p:pic>
        <p:nvPicPr>
          <p:cNvPr id="11" name="Picture 10" descr="e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45720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0" y="192024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Каждый покупатель выбирает источник с наименьшей ценой поставки — с учётом надбавки и времени отклика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GPU-часы идут в наиболее прибыльное применение: сначала Training, затем Inference, затем внутренний спрос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В пределах потолка мощности k̄ⱼ: энергосеть, разрешения, связность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64008" cy="91440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67B5C"/>
                </a:solidFill>
                <a:latin typeface="Calibri"/>
              </a:rPr>
              <a:t>(6)  Клиринг рынка Training</a:t>
            </a:r>
          </a:p>
        </p:txBody>
      </p:sp>
      <p:pic>
        <p:nvPicPr>
          <p:cNvPr id="16" name="Picture 15" descr="eq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93008"/>
            <a:ext cx="45720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0" y="329184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Цена равна издержкам предельного экспортёра — того, чей вход закрывает остаток спроса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Более дешёвые экспортёры получают ренту: разницу между мировой ценой и собственными издержками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1788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7C59"/>
                </a:solidFill>
                <a:latin typeface="Calibri"/>
              </a:rPr>
              <a:t>Потери:</a:t>
            </a:r>
          </a:p>
        </p:txBody>
      </p:sp>
      <p:pic>
        <p:nvPicPr>
          <p:cNvPr id="20" name="Picture 19" descr="eq_welfa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78808"/>
            <a:ext cx="411480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416052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4BDB6"/>
                </a:solidFill>
                <a:latin typeface="Calibri"/>
              </a:rPr>
              <a:t>Потери = наценка на импорт + аллокативная неэффективность внутреннего производства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33333"/>
                </a:solidFill>
                <a:latin typeface="Georgia"/>
              </a:rPr>
              <a:t>Спрос и ограничения мощности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3931920" cy="37947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393192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67B5C"/>
                </a:solidFill>
                <a:latin typeface="Calibri"/>
              </a:rPr>
              <a:t>Как определяется спрос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F8F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3443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Мировые расходы 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8132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Все расходы на вычисления, включая внутренние (~$90 млрд/год)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874519"/>
            <a:ext cx="365760" cy="3657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F8F5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28799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Доли стран  ωₖ = k̄ₖ / Σk̄ₖ'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7568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Аппроксимируются установленной мощностью дата-центров (МВт)
США ~43%, Китай ~26%, остальной мир ~31%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AF8F5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6032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Разделение Training /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0720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Dᵀ = α · Ω · ωₖ   (нечувствительно ко времени отклика)
Dᴵ = (1−α) · Ω · ωₖ   (чувствительно)
Базово: α = 50% Training, 50%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20440"/>
            <a:ext cx="3520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67B5C"/>
                </a:solidFill>
                <a:latin typeface="Calibri"/>
              </a:rPr>
              <a:t xml:space="preserve">Главное: </a:t>
            </a:r>
            <a:r>
              <a:rPr sz="1100" b="0" i="0">
                <a:solidFill>
                  <a:srgbClr val="7A8574"/>
                </a:solidFill>
                <a:latin typeface="Calibri"/>
              </a:rPr>
              <a:t>доли спроса фиксированы — модель определяет, кто покрывает спрос каждой страны, а не каков объём этого спроса.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731520"/>
            <a:ext cx="4023360" cy="37947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731520"/>
            <a:ext cx="4023360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822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7C59"/>
                </a:solidFill>
                <a:latin typeface="Calibri"/>
              </a:rPr>
              <a:t>Как работают ограничения мощности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188720"/>
            <a:ext cx="36576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Calibri"/>
              </a:rPr>
              <a:t xml:space="preserve">У каждой страны есть предел мощности k̄ⱼ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(сетевая мощность + разрешения + связность)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 xml:space="preserve">Без ограничений: 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>самая дешёвая страна покрывает весь спрос, pᵀ = c₁, рента нулевая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 xml:space="preserve">С ограничениями: </a:t>
            </a:r>
            <a:r>
              <a:rPr sz="1000" b="0" i="0">
                <a:solidFill>
                  <a:srgbClr val="7A8574"/>
                </a:solidFill>
                <a:latin typeface="Calibri"/>
              </a:rPr>
              <a:t>самая дешёвая исчерпывает мощность → цена растёт до издержек предельного участника → инфрамаржинальные экспортёры получают ренту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3242462"/>
            <a:ext cx="548640" cy="780897"/>
          </a:xfrm>
          <a:prstGeom prst="rect">
            <a:avLst/>
          </a:prstGeom>
          <a:solidFill>
            <a:srgbClr val="D49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37947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AF8F5"/>
                </a:solidFill>
                <a:latin typeface="Calibri"/>
              </a:rPr>
              <a:t>KGZ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7787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33333"/>
                </a:solidFill>
                <a:latin typeface="Calibri"/>
              </a:rPr>
              <a:t>$1.58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41264" y="3114446"/>
            <a:ext cx="1005840" cy="908913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41264" y="37947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AF8F5"/>
                </a:solidFill>
                <a:latin typeface="Calibri"/>
              </a:rPr>
              <a:t>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94985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33333"/>
                </a:solidFill>
                <a:latin typeface="Calibri"/>
              </a:rPr>
              <a:t>$1.59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3012033"/>
            <a:ext cx="411480" cy="1011326"/>
          </a:xfrm>
          <a:prstGeom prst="rect">
            <a:avLst/>
          </a:prstGeom>
          <a:solidFill>
            <a:srgbClr val="B06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79476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AF8F5"/>
                </a:solidFill>
                <a:latin typeface="Calibri"/>
              </a:rPr>
              <a:t>KOS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2847441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33333"/>
                </a:solidFill>
                <a:latin typeface="Calibri"/>
              </a:rPr>
              <a:t>$1.60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68312" y="2922422"/>
            <a:ext cx="640080" cy="1100937"/>
          </a:xfrm>
          <a:prstGeom prst="rect">
            <a:avLst/>
          </a:prstGeom>
          <a:solidFill>
            <a:srgbClr val="A8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68312" y="379476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AF8F5"/>
                </a:solidFill>
                <a:latin typeface="Calibri"/>
              </a:rPr>
              <a:t>FIN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275783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33333"/>
                </a:solidFill>
                <a:latin typeface="Calibri"/>
              </a:rPr>
              <a:t>$1.61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63256" y="2743200"/>
            <a:ext cx="502920" cy="1280160"/>
          </a:xfrm>
          <a:prstGeom prst="rect">
            <a:avLst/>
          </a:prstGeom>
          <a:solidFill>
            <a:srgbClr val="8B5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63256" y="379476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AF8F5"/>
                </a:solidFill>
                <a:latin typeface="Calibri"/>
              </a:rPr>
              <a:t>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257860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33333"/>
                </a:solidFill>
                <a:latin typeface="Calibri"/>
              </a:rPr>
              <a:t>$1.65+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06908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A8574"/>
                </a:solidFill>
                <a:latin typeface="Calibri"/>
              </a:rPr>
              <a:t>← накопленная мощность (GPU-часы) 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2734056"/>
            <a:ext cx="3566160" cy="18288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00000" y="2606040"/>
            <a:ext cx="8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A7C59"/>
                </a:solidFill>
                <a:latin typeface="Calibri"/>
              </a:rPr>
              <a:t>pᵀ = предельная
цена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01752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A7C59"/>
                </a:solidFill>
                <a:latin typeface="Calibri"/>
              </a:rPr>
              <a:t>↕
рента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Почему разброс издержек узок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5852160" y="1188720"/>
            <a:ext cx="2926080" cy="1828800"/>
          </a:xfrm>
          <a:prstGeom prst="rect">
            <a:avLst/>
          </a:prstGeom>
          <a:solidFill>
            <a:srgbClr val="2C2C2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52160" y="13716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67B5C"/>
                </a:solidFill>
                <a:latin typeface="Georgia"/>
              </a:rPr>
              <a:t>~90%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BDB6"/>
                </a:solidFill>
                <a:latin typeface="Calibri"/>
              </a:rPr>
              <a:t>себестоимости — оборудование,
одинаковое во всех странах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291840"/>
            <a:ext cx="292608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2160" y="3291840"/>
            <a:ext cx="64008" cy="137160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33832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4A7C59"/>
                </a:solidFill>
                <a:latin typeface="Georgia"/>
              </a:rPr>
              <a:t>12–20%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88620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общий разброс издержек
между странами — уже,
чем в любом другом секторе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Два рынка, две географии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3794760" cy="3291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37947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7B5C"/>
                </a:solidFill>
                <a:latin typeface="Calibr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333"/>
                </a:solidFill>
                <a:latin typeface="Georgia"/>
              </a:rPr>
              <a:t>Время отклика не важно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574"/>
                </a:solidFill>
                <a:latin typeface="Calibri"/>
              </a:rPr>
              <a:t>• Тренировка и дообучение моделей, пакетная обработка
• Нет штрафа за расстояние — свободно выносится
• Мировой рынок: побеждает самый дешёвый производитель
• Недели и месяцы вычислений
• Высокая концентрация: 1–2 экспортёра покрывают спрос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280160"/>
            <a:ext cx="3794760" cy="3291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280160"/>
            <a:ext cx="3794760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7C59"/>
                </a:solidFill>
                <a:latin typeface="Calibri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33333"/>
                </a:solidFill>
                <a:latin typeface="Georgia"/>
              </a:rPr>
              <a:t>Время отклика критично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7744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8574"/>
                </a:solidFill>
                <a:latin typeface="Calibri"/>
              </a:rPr>
              <a:t>• Чат-боты, автономные системы, агенты реального времени
• Качество падает с расстоянием (время отклика)
• Региональный рынок: важна близость
• Требуется отклик за миллисекунды
• Более рассеян: региональные хабы обслуживают соседей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Пять равновесных режимов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Из девяти возможных сочетаний в равновесии возникают только пять (Утверждение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8F5"/>
                          </a:solidFill>
                          <a:latin typeface="Calibri"/>
                        </a:rPr>
                        <a:t>Режим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8F5"/>
                          </a:solidFill>
                          <a:latin typeface="Calibri"/>
                        </a:rPr>
                        <a:t>Training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8F5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8F5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Экспорт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Экспорт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574"/>
                          </a:solidFill>
                          <a:latin typeface="Calibri"/>
                        </a:rPr>
                        <a:t>Самые дешёвые производители — мировой Training + региональный Inference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Экспорт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574"/>
                          </a:solidFill>
                          <a:latin typeface="Calibri"/>
                        </a:rPr>
                        <a:t>Региональные хабы Inference — недостаточно дёшевы для мирового Training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A8624A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Внутреннее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574"/>
                          </a:solidFill>
                          <a:latin typeface="Calibri"/>
                        </a:rPr>
                        <a:t>Импорт Training, Inference — внутри страны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A7C59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Внутреннее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Внутреннее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574"/>
                          </a:solidFill>
                          <a:latin typeface="Calibri"/>
                        </a:rPr>
                        <a:t>Высокая геополитическая надбавка — обе услуги внутри страны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Импорт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7A8574"/>
                          </a:solidFill>
                          <a:latin typeface="Calibri"/>
                        </a:rPr>
                        <a:t>Страны с высокими издержками — импорт обеих услуг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A8574"/>
                </a:solidFill>
                <a:latin typeface="Calibri"/>
              </a:rPr>
              <a:t>Остальные четыре сочетания исключены порядком издержек.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Georgia"/>
              </a:rPr>
              <a:t>Экспортёры Training ⊂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Утверждение 4: каждый экспортёр Training экспортирует и Inference — но не наоборот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51560"/>
            <a:ext cx="4572000" cy="3017520"/>
          </a:xfrm>
          <a:prstGeom prst="ellipse">
            <a:avLst/>
          </a:prstGeom>
          <a:solidFill>
            <a:srgbClr val="E8EDE4"/>
          </a:solidFill>
          <a:ln w="31750">
            <a:solidFill>
              <a:srgbClr val="C67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67B5C"/>
                </a:solidFill>
                <a:latin typeface="Calibri"/>
              </a:rPr>
              <a:t>Экспортёры Inference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600200"/>
            <a:ext cx="2926080" cy="2011680"/>
          </a:xfrm>
          <a:prstGeom prst="ellipse">
            <a:avLst/>
          </a:prstGeom>
          <a:solidFill>
            <a:srgbClr val="D4DFD0"/>
          </a:solidFill>
          <a:ln w="31750">
            <a:solidFill>
              <a:srgbClr val="4A7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20240" y="1874519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7C59"/>
                </a:solidFill>
                <a:latin typeface="Calibri"/>
              </a:rPr>
              <a:t>Экспортёры
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Канада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919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Кыргызстан†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Косово†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Финляндия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803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Норвегия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089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7B5C"/>
                </a:solidFill>
                <a:latin typeface="Calibri"/>
              </a:rPr>
              <a:t>Великобритания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71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A7C59"/>
                </a:solidFill>
                <a:latin typeface="Calibri"/>
              </a:rPr>
              <a:t>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67B5C"/>
                </a:solidFill>
                <a:latin typeface="Calibri"/>
              </a:rPr>
              <a:t>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051560"/>
            <a:ext cx="3383280" cy="15087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0" y="1051560"/>
            <a:ext cx="64008" cy="150876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7C59"/>
                </a:solidFill>
                <a:latin typeface="Calibri"/>
              </a:rPr>
              <a:t>Почему включение верно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389888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У Training нет штрафа за расстояние (τ = 0), поэтому его экспортёр выигрывает мировую конкуренцию по издержкам.
То же преимущество перекрывает наценку за время отклика для близких покупателей → он выигрывает и Inference локально.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2743200"/>
            <a:ext cx="338328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2743200"/>
            <a:ext cx="64008" cy="141732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0" y="27889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7C59"/>
                </a:solidFill>
                <a:latin typeface="Calibri"/>
              </a:rPr>
              <a:t>Но не наоборот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08152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Экспортёру Inference достаточно обойти соседей в пределах порога времени отклика.
Но он может быть недостаточно дёшев для мирового рынка Training, где конкурируют только по издержкам.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DB6"/>
                </a:solidFill>
                <a:latin typeface="Calibri"/>
              </a:rPr>
              <a:t>Следствие: режимы EI, ED и DE невозможны — пять равновесных режимов Утверждения 1 исчерпывают все варианты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Georgia"/>
              </a:rPr>
              <a:t>Рейтинг до и после поправки на субсидии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Субсидируемые тарифы заменены на LRMC — 13 стран скорректировано, 40 меняют режим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05840"/>
          <a:ext cx="6355080" cy="327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(1) Исходные тарифы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$/час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(2) Полное возмещение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$/час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8F5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Иран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$1.56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Кыргызстан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$1.58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Туркменистан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$1.57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Канада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$1.59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Эфиопия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$1.58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Эфиопия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$1.59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Кыргызстан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$1.58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Косово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Египет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$1.58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Таджикистан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Алжир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$1.59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Черногория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Канада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$1.59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Китай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Россия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$1.59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Украина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$1.61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ЮАР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Аргентина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Косово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Колумбия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$1.61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574"/>
                </a:solidFill>
                <a:latin typeface="Calibri"/>
              </a:rPr>
              <a:t>EE = экспортёр Training + Inference    IE = экспортёр Inference    DD = внутреннее    II = импортёр    * = санкции    † = развивающаяся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Georgia"/>
              </a:rPr>
              <a:t>Геополитика меняет всё (Таблица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Геополитические надбавки переводят развивающиеся страны из экспортёров во внутренних производителей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960120"/>
          <a:ext cx="6035040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Страна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(1) Исх.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Ранг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(2) LRMC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Ранг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(3) Двуст.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Ранг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AF8F5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2C2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Канада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Кыргызстан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45B4A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Иран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45B4A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Эфиопия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8C5A"/>
                          </a:solidFill>
                          <a:latin typeface="Calibri"/>
                        </a:rPr>
                        <a:t>EE†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45B4A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Косово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IE†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45B4A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Финляндия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США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A8574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Туркменистан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45B4A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7A857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DD*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Норвегия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67B5C"/>
                          </a:solidFill>
                          <a:latin typeface="Calibri"/>
                        </a:rPr>
                        <a:t>IE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B8C5A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4A7C59"/>
                          </a:solidFill>
                          <a:latin typeface="Calibri"/>
                        </a:rPr>
                        <a:t>DD</a:t>
                      </a:r>
                    </a:p>
                  </a:txBody>
                  <a:tcPr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A8574"/>
                </a:solidFill>
                <a:latin typeface="Calibri"/>
              </a:rPr>
              <a:t>— = вне топ-25 (США — дорогой импортёр) либо нет двустороннего ранга (Иран, Туркменистан под санкциями)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495800"/>
            <a:ext cx="3840480" cy="457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495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DB6"/>
                </a:solidFill>
                <a:latin typeface="Calibri"/>
              </a:rPr>
              <a:t>Только Канада и Кыргызстан остаются экспортёрами в двусторонней спецификации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4495800"/>
            <a:ext cx="4206240" cy="457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44958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4BDB6"/>
                </a:solidFill>
                <a:latin typeface="Calibri"/>
              </a:rPr>
              <a:t>Развитые экономики с высоким доверием поднимаются, развивающиеся экспортёры падают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5720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AF8F5"/>
                </a:solidFill>
                <a:latin typeface="Georgia"/>
              </a:rPr>
              <a:t>Главный 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4A7C59"/>
                </a:solidFill>
                <a:latin typeface="Georgia"/>
              </a:rPr>
              <a:t>Дешевле всех производить вычисления могут именно те страны, которым не хватает двустороннего доверия.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2606040" cy="4572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C5A"/>
                </a:solidFill>
                <a:latin typeface="Calibri"/>
              </a:rPr>
              <a:t>Преимущество есть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DB6"/>
                </a:solidFill>
                <a:latin typeface="Calibri"/>
              </a:rPr>
              <a:t>Развивающиеся страны с дешёвой энергией входят в число производителей с наименьшими издержками при ценах полного возмещения затрат.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2743200"/>
            <a:ext cx="2606040" cy="45720"/>
          </a:xfrm>
          <a:prstGeom prst="rect">
            <a:avLst/>
          </a:prstGeom>
          <a:solidFill>
            <a:srgbClr val="C4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5B4A"/>
                </a:solidFill>
                <a:latin typeface="Calibri"/>
              </a:rPr>
              <a:t>Недоверие его стирает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DB6"/>
                </a:solidFill>
                <a:latin typeface="Calibri"/>
              </a:rPr>
              <a:t>Двусторонние геополитические надбавки переводят почти все развивающиеся страны на внутреннее производство или импорт.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2606040" cy="4572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7C59"/>
                </a:solidFill>
                <a:latin typeface="Calibri"/>
              </a:rPr>
              <a:t>Потери: ~1.5%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4BDB6"/>
                </a:solidFill>
                <a:latin typeface="Calibri"/>
              </a:rPr>
              <a:t>Взвешенные по спросу потери от геополитических надбавок — 1.5% расходов на вычисления: умеренно, но не пренебрежимо.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Одно свойство — два следствия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7A8574"/>
                </a:solidFill>
                <a:latin typeface="Calibri"/>
              </a:rPr>
              <a:t>Узкий разброс издержек работает в обе стороны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794760" cy="30175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4008" cy="3017520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B8C5A"/>
                </a:solidFill>
                <a:latin typeface="Georgia"/>
              </a:rPr>
              <a:t>Легче всего войти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Поскольку оборудование имеет мировую цену и доминирует в издержках, абсолютный барьер конкурентоспособности низок. Странам с дешёвой электроэнергией и мягким климатом предстоит закрыть небольшой разрыв.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554480"/>
            <a:ext cx="3794760" cy="30175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554480"/>
            <a:ext cx="64008" cy="3017520"/>
          </a:xfrm>
          <a:prstGeom prst="rect">
            <a:avLst/>
          </a:prstGeom>
          <a:solidFill>
            <a:srgbClr val="C45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5B4A"/>
                </a:solidFill>
                <a:latin typeface="Georgia"/>
              </a:rPr>
              <a:t>Уязвим к барьерам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86000"/>
            <a:ext cx="3200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Та же узость означает, что даже умеренные барьеры — геополитическая надбавка, штраф за качество управления или более дорогой капитал — полностью меняют торговый режим страны.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33333"/>
                </a:solidFill>
                <a:latin typeface="Georgia"/>
              </a:rPr>
              <a:t>Устойчивость: анализ чувствительности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Рейтинги издержек устойчивы к правдоподобным вариациям параметров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3327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7B5C"/>
                </a:solidFill>
                <a:latin typeface="Calibri"/>
              </a:rPr>
              <a:t>Доля издержек оборудования (ρ ± 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Рост ρ сжимает штрафуемую долю → штрафы за управление слабеют → развивающиеся страны выигрывают.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Снижение ρ расширяет долю энергии и строительства → холодные страны с низкими издержками усиливают преимущество.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64008" cy="1005840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7C59"/>
                </a:solidFill>
                <a:latin typeface="Calibri"/>
              </a:rPr>
              <a:t>Единая геополитическая надбавка (λ = 10%)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1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При обеих спецификациях большинство стран производит внутри страны — назначения режимов схожи.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Только Канада и Кыргызстан остаются экспортёрами в обеих. При узком разбросе 10% достаточно для смены режима.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64008" cy="1005840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1927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67B5C"/>
                </a:solidFill>
                <a:latin typeface="Calibri"/>
              </a:rPr>
              <a:t>Три сегмента задач по чувствительности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1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Государственные (10%): только внутри. Регулируемые (20%): выше вес совместимости. Коммерческие (70%): стандарт.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Уровневый подход реалистичнее единого — государства редко применяют один стандарт к секретному и коммерческому ИИ.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DB6"/>
                </a:solidFill>
                <a:latin typeface="Calibri"/>
              </a:rPr>
              <a:t>Ключевой результат устойчив: ограничение — институциональное доверие, а не стоимость энергии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33333"/>
                </a:solidFill>
                <a:latin typeface="Georgia"/>
              </a:rPr>
              <a:t>Что осталось за рамками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Факторы вне текущей модели, которые дополнительно сузили бы круг жизнеспособных экспортёров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02336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Экспортный контроль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Ограничения США закрывают Ирану, России, Беларуси и частично Китаю доступ к передовым GPU. Преимущество в издержках бессмысленно без оборудования.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960120"/>
            <a:ext cx="402336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Эндогенные цены на электроэнергию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6304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Дата-центр на 100 МВт в Кыргызстане потреблял бы ~10% национальной генерации. При масштабировании цена по предельным издержкам поднялась бы выше текущего среднего тарифа.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402336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Стоимость капитала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Калибровка предполагает единый WACC. При 8% гиперскейлер ОЭСР платит $1.58/час, при 15% — $1.78/час. Разрыв $0.20/час многократно больше энергетического выигрыша.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514600"/>
            <a:ext cx="4023360" cy="13716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2514600"/>
            <a:ext cx="402336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GPU нового поколения (B200+)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8574"/>
                </a:solidFill>
                <a:latin typeface="Calibri"/>
              </a:rPr>
              <a:t>Новые GPU дают ~4× пропускной способности при ~1 кВт. Больший расход мощности расширяет разрыв по электроэнергии, слегка усиливая позиции развивающихся стран.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7C59"/>
                </a:solidFill>
                <a:latin typeface="Calibri"/>
              </a:rPr>
              <a:t xml:space="preserve">Направление смещения: </a:t>
            </a:r>
            <a:r>
              <a:rPr sz="1100" b="0" i="0">
                <a:solidFill>
                  <a:srgbClr val="C4BDB6"/>
                </a:solidFill>
                <a:latin typeface="Calibri"/>
              </a:rPr>
              <a:t>все четыре фактора сужают круг жизнеспособных экспортёров относительно базовой калибровки. Экспортный контроль и стоимость капитала работают против развивающихся стран; эндогенные цены — против малых; обновление GPU слегка выгодно богатым энергией.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33333"/>
                </a:solidFill>
                <a:latin typeface="Georgia"/>
              </a:rPr>
              <a:t>Выводы для политики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379476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Georgia"/>
              </a:rPr>
              <a:t>Training против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Ограничение импорта Training повышает издержки без выигрыша от близости. У Inference есть реальный аргумент за внутреннее производство.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188720"/>
            <a:ext cx="379476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Georgia"/>
              </a:rPr>
              <a:t>Институциональное доверие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Ограничение — не стоимость энергии, а институциональное доверие: отсутствие санкций, надёжные контракты, связность, стабильность регулирования.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379476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Georgia"/>
              </a:rPr>
              <a:t>Риск локализации данных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Широкая локализация данных рискует закрыть и экономию на импорте, и региональный экспорт — те самые выигрыши модели.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834640"/>
            <a:ext cx="3794760" cy="14173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971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3333"/>
                </a:solidFill>
                <a:latin typeface="Georgia"/>
              </a:rPr>
              <a:t>Ресурсное проклятие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383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A8574"/>
                </a:solidFill>
                <a:latin typeface="Calibri"/>
              </a:rPr>
              <a:t>Концентрированная экспортная выручка может запустить «голландскую болезнь». Исход определяют модели распределения доходов.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7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AF8F5"/>
                </a:solidFill>
                <a:latin typeface="Georgia"/>
              </a:rPr>
              <a:t>Ключевой тезис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 dirty="0">
                <a:solidFill>
                  <a:srgbClr val="C67B5C"/>
                </a:solidFill>
                <a:latin typeface="Georgia"/>
              </a:rPr>
              <a:t>Вычисления — самый доступный по издержкам сектор для развивающихся стран и самый уязвимый к малым барьерам, которые их не пускают.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7B5C"/>
                </a:solidFill>
                <a:latin typeface="Calibri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BDB6"/>
                </a:solidFill>
                <a:latin typeface="Calibri"/>
              </a:rPr>
              <a:t>Оборудование сжимает разброс издержек между странами до 12–20%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3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7B5C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BDB6"/>
                </a:solidFill>
                <a:latin typeface="Calibri"/>
              </a:rPr>
              <a:t>Цены полного возмещения выявляют подлинное сравнительное преимущество богатых энергией стран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7B5C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BDB6"/>
                </a:solidFill>
                <a:latin typeface="Calibri"/>
              </a:rPr>
              <a:t>Геополитические надбавки уничтожают экспорт развивающихся стран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67B5C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4BDB6"/>
                </a:solidFill>
                <a:latin typeface="Calibri"/>
              </a:rPr>
              <a:t>Ограничение — институциональное доверие, а не стоимость энергии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D3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7A8574"/>
                </a:solidFill>
                <a:latin typeface="Calibri"/>
              </a:rPr>
              <a:t xml:space="preserve">Михаил Локшин  •  Август 2026  •  </a:t>
            </a:r>
            <a:r>
              <a:rPr lang="en-US" sz="1100" b="0" i="0" dirty="0">
                <a:solidFill>
                  <a:srgbClr val="7A8574"/>
                </a:solidFill>
                <a:latin typeface="Calibri"/>
              </a:rPr>
              <a:t>mlokshin@worldbank.org</a:t>
            </a:r>
            <a:endParaRPr sz="1100" b="0" i="0" dirty="0">
              <a:solidFill>
                <a:srgbClr val="7A857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5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3333"/>
                </a:solidFill>
                <a:latin typeface="Georgia"/>
              </a:rPr>
              <a:t>Путь входа</a:t>
            </a:r>
          </a:p>
        </p:txBody>
      </p:sp>
      <p:sp>
        <p:nvSpPr>
          <p:cNvPr id="226" name="TextBox 227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Ранжировано по тому, насколько каждый шаг сдвигает cⱼ относительно pᵀ</a:t>
            </a:r>
          </a:p>
        </p:txBody>
      </p:sp>
      <p:sp>
        <p:nvSpPr>
          <p:cNvPr id="228" name="Rectangle 229"/>
          <p:cNvSpPr/>
          <p:nvPr/>
        </p:nvSpPr>
        <p:spPr>
          <a:xfrm>
            <a:off x="640080" y="1508760"/>
            <a:ext cx="45720" cy="50292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31"/>
          <p:cNvSpPr txBox="1"/>
          <p:nvPr/>
        </p:nvSpPr>
        <p:spPr>
          <a:xfrm>
            <a:off x="777240" y="1554480"/>
            <a:ext cx="320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45B4A"/>
                </a:solidFill>
                <a:latin typeface="Georgia"/>
              </a:rPr>
              <a:t>1</a:t>
            </a:r>
          </a:p>
        </p:txBody>
      </p:sp>
      <p:sp>
        <p:nvSpPr>
          <p:cNvPr id="232" name="TextBox 233"/>
          <p:cNvSpPr txBox="1"/>
          <p:nvPr/>
        </p:nvSpPr>
        <p:spPr>
          <a:xfrm>
            <a:off x="1143000" y="1508760"/>
            <a:ext cx="29718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Финансирование по мировым ставкам</a:t>
            </a:r>
          </a:p>
        </p:txBody>
      </p:sp>
      <p:sp>
        <p:nvSpPr>
          <p:cNvPr id="234" name="TextBox 235"/>
          <p:cNvSpPr txBox="1"/>
          <p:nvPr/>
        </p:nvSpPr>
        <p:spPr>
          <a:xfrm>
            <a:off x="1143000" y="1783080"/>
            <a:ext cx="29718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C45B4A"/>
                </a:solidFill>
                <a:latin typeface="Calibri"/>
              </a:rPr>
              <a:t>−$0.20 / GPU-час</a:t>
            </a:r>
          </a:p>
        </p:txBody>
      </p:sp>
      <p:sp>
        <p:nvSpPr>
          <p:cNvPr id="236" name="TextBox 237"/>
          <p:cNvSpPr txBox="1"/>
          <p:nvPr/>
        </p:nvSpPr>
        <p:spPr>
          <a:xfrm>
            <a:off x="4389120" y="1531620"/>
            <a:ext cx="4114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Крупнейший рычаг. Суверенные гарантии, многостороннее страхование рисков, соинвестиции гиперскейлеров.</a:t>
            </a:r>
          </a:p>
        </p:txBody>
      </p:sp>
      <p:sp>
        <p:nvSpPr>
          <p:cNvPr id="238" name="Rectangle 239"/>
          <p:cNvSpPr/>
          <p:nvPr/>
        </p:nvSpPr>
        <p:spPr>
          <a:xfrm>
            <a:off x="640080" y="2148840"/>
            <a:ext cx="45720" cy="502920"/>
          </a:xfrm>
          <a:prstGeom prst="rect">
            <a:avLst/>
          </a:prstGeom>
          <a:solidFill>
            <a:srgbClr val="C67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41"/>
          <p:cNvSpPr txBox="1"/>
          <p:nvPr/>
        </p:nvSpPr>
        <p:spPr>
          <a:xfrm>
            <a:off x="777240" y="2194560"/>
            <a:ext cx="320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67B5C"/>
                </a:solidFill>
                <a:latin typeface="Georgia"/>
              </a:rPr>
              <a:t>2</a:t>
            </a:r>
          </a:p>
        </p:txBody>
      </p:sp>
      <p:sp>
        <p:nvSpPr>
          <p:cNvPr id="242" name="TextBox 243"/>
          <p:cNvSpPr txBox="1"/>
          <p:nvPr/>
        </p:nvSpPr>
        <p:spPr>
          <a:xfrm>
            <a:off x="1143000" y="2148840"/>
            <a:ext cx="29718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Снизить геополитическую надбавку</a:t>
            </a:r>
          </a:p>
        </p:txBody>
      </p:sp>
      <p:sp>
        <p:nvSpPr>
          <p:cNvPr id="244" name="TextBox 245"/>
          <p:cNvSpPr txBox="1"/>
          <p:nvPr/>
        </p:nvSpPr>
        <p:spPr>
          <a:xfrm>
            <a:off x="1143000" y="2423160"/>
            <a:ext cx="29718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C67B5C"/>
                </a:solidFill>
                <a:latin typeface="Calibri"/>
              </a:rPr>
              <a:t>расширяет λ*</a:t>
            </a:r>
          </a:p>
        </p:txBody>
      </p:sp>
      <p:sp>
        <p:nvSpPr>
          <p:cNvPr id="246" name="TextBox 247"/>
          <p:cNvSpPr txBox="1"/>
          <p:nvPr/>
        </p:nvSpPr>
        <p:spPr>
          <a:xfrm>
            <a:off x="4389120" y="2171700"/>
            <a:ext cx="4114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Соглашения об адекватности данных, взаимное признание, признанная сертификация облачной безопасности. Отсутствие санкций уже обеспечено.</a:t>
            </a:r>
          </a:p>
        </p:txBody>
      </p:sp>
      <p:sp>
        <p:nvSpPr>
          <p:cNvPr id="248" name="Rectangle 249"/>
          <p:cNvSpPr/>
          <p:nvPr/>
        </p:nvSpPr>
        <p:spPr>
          <a:xfrm>
            <a:off x="640080" y="2788920"/>
            <a:ext cx="45720" cy="5029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51"/>
          <p:cNvSpPr txBox="1"/>
          <p:nvPr/>
        </p:nvSpPr>
        <p:spPr>
          <a:xfrm>
            <a:off x="777240" y="2834640"/>
            <a:ext cx="320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8C5A"/>
                </a:solidFill>
                <a:latin typeface="Georgia"/>
              </a:rPr>
              <a:t>3</a:t>
            </a:r>
          </a:p>
        </p:txBody>
      </p:sp>
      <p:sp>
        <p:nvSpPr>
          <p:cNvPr id="252" name="TextBox 253"/>
          <p:cNvSpPr txBox="1"/>
          <p:nvPr/>
        </p:nvSpPr>
        <p:spPr>
          <a:xfrm>
            <a:off x="1143000" y="2788920"/>
            <a:ext cx="29718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Обеспечить загрузку мощности</a:t>
            </a:r>
          </a:p>
        </p:txBody>
      </p:sp>
      <p:sp>
        <p:nvSpPr>
          <p:cNvPr id="254" name="TextBox 255"/>
          <p:cNvSpPr txBox="1"/>
          <p:nvPr/>
        </p:nvSpPr>
        <p:spPr>
          <a:xfrm>
            <a:off x="1143000" y="3063240"/>
            <a:ext cx="29718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8C5A"/>
                </a:solidFill>
                <a:latin typeface="Calibri"/>
              </a:rPr>
              <a:t>заполняет Kⱼ</a:t>
            </a:r>
          </a:p>
        </p:txBody>
      </p:sp>
      <p:sp>
        <p:nvSpPr>
          <p:cNvPr id="256" name="TextBox 257"/>
          <p:cNvSpPr txBox="1"/>
          <p:nvPr/>
        </p:nvSpPr>
        <p:spPr>
          <a:xfrm>
            <a:off x="4389120" y="2811780"/>
            <a:ext cx="4114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Сначала внутренние и регулируемые задачи, затем региональный Inference. Мощность приносит ренту только будучи законтрактованной.</a:t>
            </a:r>
          </a:p>
        </p:txBody>
      </p:sp>
      <p:sp>
        <p:nvSpPr>
          <p:cNvPr id="258" name="Rectangle 259"/>
          <p:cNvSpPr/>
          <p:nvPr/>
        </p:nvSpPr>
        <p:spPr>
          <a:xfrm>
            <a:off x="640080" y="3429000"/>
            <a:ext cx="45720" cy="5029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61"/>
          <p:cNvSpPr txBox="1"/>
          <p:nvPr/>
        </p:nvSpPr>
        <p:spPr>
          <a:xfrm>
            <a:off x="777240" y="3474720"/>
            <a:ext cx="320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A7C59"/>
                </a:solidFill>
                <a:latin typeface="Georgia"/>
              </a:rPr>
              <a:t>4</a:t>
            </a:r>
          </a:p>
        </p:txBody>
      </p:sp>
      <p:sp>
        <p:nvSpPr>
          <p:cNvPr id="262" name="TextBox 263"/>
          <p:cNvSpPr txBox="1"/>
          <p:nvPr/>
        </p:nvSpPr>
        <p:spPr>
          <a:xfrm>
            <a:off x="1143000" y="3429000"/>
            <a:ext cx="29718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Заранее определить собственность</a:t>
            </a:r>
          </a:p>
        </p:txBody>
      </p:sp>
      <p:sp>
        <p:nvSpPr>
          <p:cNvPr id="264" name="TextBox 265"/>
          <p:cNvSpPr txBox="1"/>
          <p:nvPr/>
        </p:nvSpPr>
        <p:spPr>
          <a:xfrm>
            <a:off x="1143000" y="3703320"/>
            <a:ext cx="29718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4A7C59"/>
                </a:solidFill>
                <a:latin typeface="Calibri"/>
              </a:rPr>
              <a:t>удерживает излишек</a:t>
            </a:r>
          </a:p>
        </p:txBody>
      </p:sp>
      <p:sp>
        <p:nvSpPr>
          <p:cNvPr id="266" name="TextBox 267"/>
          <p:cNvSpPr txBox="1"/>
          <p:nvPr/>
        </p:nvSpPr>
        <p:spPr>
          <a:xfrm>
            <a:off x="4389120" y="3451860"/>
            <a:ext cx="4114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Налоги и доля в капитале решают, останется ли стране больше, чем платежи за энергию и рабочие места на стройке.</a:t>
            </a:r>
          </a:p>
        </p:txBody>
      </p:sp>
      <p:sp>
        <p:nvSpPr>
          <p:cNvPr id="268" name="Rectangle 269"/>
          <p:cNvSpPr/>
          <p:nvPr/>
        </p:nvSpPr>
        <p:spPr>
          <a:xfrm>
            <a:off x="640080" y="4069080"/>
            <a:ext cx="45720" cy="502920"/>
          </a:xfrm>
          <a:prstGeom prst="rect">
            <a:avLst/>
          </a:prstGeom>
          <a:solidFill>
            <a:srgbClr val="7A8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71"/>
          <p:cNvSpPr txBox="1"/>
          <p:nvPr/>
        </p:nvSpPr>
        <p:spPr>
          <a:xfrm>
            <a:off x="777240" y="4114800"/>
            <a:ext cx="32004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A8574"/>
                </a:solidFill>
                <a:latin typeface="Georgia"/>
              </a:rPr>
              <a:t>5</a:t>
            </a:r>
          </a:p>
        </p:txBody>
      </p:sp>
      <p:sp>
        <p:nvSpPr>
          <p:cNvPr id="272" name="TextBox 273"/>
          <p:cNvSpPr txBox="1"/>
          <p:nvPr/>
        </p:nvSpPr>
        <p:spPr>
          <a:xfrm>
            <a:off x="1143000" y="4069080"/>
            <a:ext cx="29718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Довести тариф до полного возмещения</a:t>
            </a:r>
          </a:p>
        </p:txBody>
      </p:sp>
      <p:sp>
        <p:nvSpPr>
          <p:cNvPr id="274" name="TextBox 275"/>
          <p:cNvSpPr txBox="1"/>
          <p:nvPr/>
        </p:nvSpPr>
        <p:spPr>
          <a:xfrm>
            <a:off x="1143000" y="4343400"/>
            <a:ext cx="29718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8574"/>
                </a:solidFill>
                <a:latin typeface="Calibri"/>
              </a:rPr>
              <a:t>стоит всего 1.1%</a:t>
            </a:r>
          </a:p>
        </p:txBody>
      </p:sp>
      <p:sp>
        <p:nvSpPr>
          <p:cNvPr id="276" name="TextBox 277"/>
          <p:cNvSpPr txBox="1"/>
          <p:nvPr/>
        </p:nvSpPr>
        <p:spPr>
          <a:xfrm>
            <a:off x="4389120" y="4091940"/>
            <a:ext cx="41148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Электроэнергия — 5% себестоимости, поэтому реформа посильна: она поднимает cⱼ на $0.017 и убирает неявный трансферт в $22 млн в год.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85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3333"/>
                </a:solidFill>
                <a:latin typeface="Georgia"/>
              </a:rPr>
              <a:t>Условие 3: масштаб и спрос</a:t>
            </a:r>
          </a:p>
        </p:txBody>
      </p:sp>
      <p:sp>
        <p:nvSpPr>
          <p:cNvPr id="186" name="TextBox 187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Объём экспорта ограничен мощностью Kⱼ — сегодня это 25 МВт</a:t>
            </a:r>
          </a:p>
        </p:txBody>
      </p:sp>
      <p:sp>
        <p:nvSpPr>
          <p:cNvPr id="188" name="TextBox 189"/>
          <p:cNvSpPr txBox="1"/>
          <p:nvPr/>
        </p:nvSpPr>
        <p:spPr>
          <a:xfrm>
            <a:off x="640080" y="1508760"/>
            <a:ext cx="82296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Сколько стоит каждая ступень установленной ИТ-мощности при pᵀ</a:t>
            </a:r>
          </a:p>
        </p:txBody>
      </p:sp>
      <p:sp>
        <p:nvSpPr>
          <p:cNvPr id="190" name="TextBox 191"/>
          <p:cNvSpPr txBox="1"/>
          <p:nvPr/>
        </p:nvSpPr>
        <p:spPr>
          <a:xfrm>
            <a:off x="640080" y="187452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25 МВт — сегодня</a:t>
            </a:r>
          </a:p>
        </p:txBody>
      </p:sp>
      <p:sp>
        <p:nvSpPr>
          <p:cNvPr id="192" name="Rectangle 193"/>
          <p:cNvSpPr/>
          <p:nvPr/>
        </p:nvSpPr>
        <p:spPr>
          <a:xfrm>
            <a:off x="3200400" y="1851660"/>
            <a:ext cx="211015" cy="274320"/>
          </a:xfrm>
          <a:prstGeom prst="rect">
            <a:avLst/>
          </a:prstGeom>
          <a:solidFill>
            <a:srgbClr val="7A8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5"/>
          <p:cNvSpPr txBox="1"/>
          <p:nvPr/>
        </p:nvSpPr>
        <p:spPr>
          <a:xfrm>
            <a:off x="3548575" y="187452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A8574"/>
                </a:solidFill>
                <a:latin typeface="Calibri"/>
              </a:rPr>
              <a:t>0.2 млрд GPU-часов  ·  $0.4 млрд</a:t>
            </a:r>
          </a:p>
        </p:txBody>
      </p:sp>
      <p:sp>
        <p:nvSpPr>
          <p:cNvPr id="196" name="TextBox 197"/>
          <p:cNvSpPr txBox="1"/>
          <p:nvPr/>
        </p:nvSpPr>
        <p:spPr>
          <a:xfrm>
            <a:off x="640080" y="237744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100 МВт</a:t>
            </a:r>
          </a:p>
        </p:txBody>
      </p:sp>
      <p:sp>
        <p:nvSpPr>
          <p:cNvPr id="198" name="Rectangle 199"/>
          <p:cNvSpPr/>
          <p:nvPr/>
        </p:nvSpPr>
        <p:spPr>
          <a:xfrm>
            <a:off x="3200400" y="2354580"/>
            <a:ext cx="949569" cy="2743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201"/>
          <p:cNvSpPr txBox="1"/>
          <p:nvPr/>
        </p:nvSpPr>
        <p:spPr>
          <a:xfrm>
            <a:off x="4287129" y="237744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8C5A"/>
                </a:solidFill>
                <a:latin typeface="Calibri"/>
              </a:rPr>
              <a:t>0.9 млрд GPU-часов  ·  $1.4 млрд</a:t>
            </a:r>
          </a:p>
        </p:txBody>
      </p:sp>
      <p:sp>
        <p:nvSpPr>
          <p:cNvPr id="202" name="TextBox 203"/>
          <p:cNvSpPr txBox="1"/>
          <p:nvPr/>
        </p:nvSpPr>
        <p:spPr>
          <a:xfrm>
            <a:off x="640080" y="288036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300 МВт</a:t>
            </a:r>
          </a:p>
        </p:txBody>
      </p:sp>
      <p:sp>
        <p:nvSpPr>
          <p:cNvPr id="204" name="Rectangle 205"/>
          <p:cNvSpPr/>
          <p:nvPr/>
        </p:nvSpPr>
        <p:spPr>
          <a:xfrm>
            <a:off x="3200400" y="2857500"/>
            <a:ext cx="2743200" cy="2743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7"/>
          <p:cNvSpPr txBox="1"/>
          <p:nvPr/>
        </p:nvSpPr>
        <p:spPr>
          <a:xfrm>
            <a:off x="6080760" y="2880360"/>
            <a:ext cx="237744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7C59"/>
                </a:solidFill>
                <a:latin typeface="Calibri"/>
              </a:rPr>
              <a:t>2.6 млрд GPU-часов  ·  $4.3 млрд</a:t>
            </a:r>
          </a:p>
        </p:txBody>
      </p:sp>
      <p:sp>
        <p:nvSpPr>
          <p:cNvPr id="208" name="Rectangle 209"/>
          <p:cNvSpPr/>
          <p:nvPr/>
        </p:nvSpPr>
        <p:spPr>
          <a:xfrm>
            <a:off x="640080" y="3474720"/>
            <a:ext cx="4023360" cy="10972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11"/>
          <p:cNvSpPr/>
          <p:nvPr/>
        </p:nvSpPr>
        <p:spPr>
          <a:xfrm>
            <a:off x="640080" y="3474720"/>
            <a:ext cx="64008" cy="109728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3"/>
          <p:cNvSpPr txBox="1"/>
          <p:nvPr/>
        </p:nvSpPr>
        <p:spPr>
          <a:xfrm>
            <a:off x="868680" y="368046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8C5A"/>
                </a:solidFill>
                <a:latin typeface="Georgia"/>
              </a:rPr>
              <a:t>Достижимый рынок — региональный</a:t>
            </a:r>
          </a:p>
        </p:txBody>
      </p:sp>
      <p:sp>
        <p:nvSpPr>
          <p:cNvPr id="214" name="TextBox 215"/>
          <p:cNvSpPr txBox="1"/>
          <p:nvPr/>
        </p:nvSpPr>
        <p:spPr>
          <a:xfrm>
            <a:off x="868680" y="41148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Training выигрывается только по издержкам против всех 85 стран. Inference ограничен временем отклика — а Центральная Азия это около 80 млн человек, где Узбекистан крупнейший рынок.</a:t>
            </a:r>
          </a:p>
        </p:txBody>
      </p:sp>
      <p:sp>
        <p:nvSpPr>
          <p:cNvPr id="216" name="Rectangle 217"/>
          <p:cNvSpPr/>
          <p:nvPr/>
        </p:nvSpPr>
        <p:spPr>
          <a:xfrm>
            <a:off x="4937760" y="3474720"/>
            <a:ext cx="4023360" cy="10972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9"/>
          <p:cNvSpPr/>
          <p:nvPr/>
        </p:nvSpPr>
        <p:spPr>
          <a:xfrm>
            <a:off x="4937760" y="3474720"/>
            <a:ext cx="64008" cy="109728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21"/>
          <p:cNvSpPr txBox="1"/>
          <p:nvPr/>
        </p:nvSpPr>
        <p:spPr>
          <a:xfrm>
            <a:off x="5166360" y="368046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45B4A"/>
                </a:solidFill>
                <a:latin typeface="Georgia"/>
              </a:rPr>
              <a:t>Внутренний спрос идёт первым</a:t>
            </a:r>
          </a:p>
        </p:txBody>
      </p:sp>
      <p:sp>
        <p:nvSpPr>
          <p:cNvPr id="222" name="TextBox 223"/>
          <p:cNvSpPr txBox="1"/>
          <p:nvPr/>
        </p:nvSpPr>
        <p:spPr>
          <a:xfrm>
            <a:off x="5166360" y="41148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В уровневой спецификации государственные и регулируемые задачи — 30% спроса — обслуживаются внутри страны. Это гарантированный рынок, заполняющий мощность до экспорта.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9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Georgia"/>
              </a:rPr>
              <a:t>Условие 2: порог геополитической надбавки</a:t>
            </a:r>
          </a:p>
        </p:txBody>
      </p:sp>
      <p:sp>
        <p:nvSpPr>
          <p:cNvPr id="140" name="TextBox 141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Утверждение 3 задаёт условие переключения точно: λ* = cⱼ / pᵀ − 1</a:t>
            </a:r>
          </a:p>
        </p:txBody>
      </p:sp>
      <p:sp>
        <p:nvSpPr>
          <p:cNvPr id="142" name="Rectangle 143"/>
          <p:cNvSpPr/>
          <p:nvPr/>
        </p:nvSpPr>
        <p:spPr>
          <a:xfrm>
            <a:off x="640080" y="1554480"/>
            <a:ext cx="4663440" cy="11887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5"/>
          <p:cNvSpPr/>
          <p:nvPr/>
        </p:nvSpPr>
        <p:spPr>
          <a:xfrm>
            <a:off x="640080" y="1554480"/>
            <a:ext cx="64008" cy="118872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7"/>
          <p:cNvSpPr txBox="1"/>
          <p:nvPr/>
        </p:nvSpPr>
        <p:spPr>
          <a:xfrm>
            <a:off x="868680" y="1691640"/>
            <a:ext cx="42519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45B4A"/>
                </a:solidFill>
                <a:latin typeface="Georgia"/>
              </a:rPr>
              <a:t>Порог Узбекистана сегодня</a:t>
            </a:r>
          </a:p>
        </p:txBody>
      </p:sp>
      <p:sp>
        <p:nvSpPr>
          <p:cNvPr id="148" name="TextBox 149"/>
          <p:cNvSpPr txBox="1"/>
          <p:nvPr/>
        </p:nvSpPr>
        <p:spPr>
          <a:xfrm>
            <a:off x="868680" y="2011680"/>
            <a:ext cx="173736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45B4A"/>
                </a:solidFill>
                <a:latin typeface="Georgia"/>
              </a:rPr>
              <a:t>λ* ≈ 1.5%</a:t>
            </a:r>
          </a:p>
        </p:txBody>
      </p:sp>
      <p:sp>
        <p:nvSpPr>
          <p:cNvPr id="150" name="TextBox 151"/>
          <p:cNvSpPr txBox="1"/>
          <p:nvPr/>
        </p:nvSpPr>
        <p:spPr>
          <a:xfrm>
            <a:off x="2743200" y="2011680"/>
            <a:ext cx="237744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574"/>
                </a:solidFill>
                <a:latin typeface="Calibri"/>
              </a:rPr>
              <a:t>геополитическая надбавка, при которой импорт и собственное производство стоят одинаково</a:t>
            </a:r>
          </a:p>
        </p:txBody>
      </p:sp>
      <p:sp>
        <p:nvSpPr>
          <p:cNvPr id="152" name="Rectangle 153"/>
          <p:cNvSpPr/>
          <p:nvPr/>
        </p:nvSpPr>
        <p:spPr>
          <a:xfrm>
            <a:off x="5486400" y="1554480"/>
            <a:ext cx="3383280" cy="118872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5"/>
          <p:cNvSpPr/>
          <p:nvPr/>
        </p:nvSpPr>
        <p:spPr>
          <a:xfrm>
            <a:off x="5486400" y="1554480"/>
            <a:ext cx="64008" cy="1188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7"/>
          <p:cNvSpPr txBox="1"/>
          <p:nvPr/>
        </p:nvSpPr>
        <p:spPr>
          <a:xfrm>
            <a:off x="5669280" y="169164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7C59"/>
                </a:solidFill>
                <a:latin typeface="Georgia"/>
              </a:rPr>
              <a:t>Почему режим внутренний</a:t>
            </a:r>
          </a:p>
        </p:txBody>
      </p:sp>
      <p:sp>
        <p:nvSpPr>
          <p:cNvPr id="158" name="TextBox 159"/>
          <p:cNvSpPr txBox="1"/>
          <p:nvPr/>
        </p:nvSpPr>
        <p:spPr>
          <a:xfrm>
            <a:off x="5669280" y="2011680"/>
            <a:ext cx="30175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Двусторонние геополитические надбавки для Узбекистана превышают 1.5%, поэтому импорт дороже самообеспечения. Именно это относит страну к внутреннему режиму.</a:t>
            </a:r>
          </a:p>
        </p:txBody>
      </p:sp>
      <p:sp>
        <p:nvSpPr>
          <p:cNvPr id="160" name="TextBox 161"/>
          <p:cNvSpPr txBox="1"/>
          <p:nvPr/>
        </p:nvSpPr>
        <p:spPr>
          <a:xfrm>
            <a:off x="640080" y="2926080"/>
            <a:ext cx="82296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Три режима, одна лестница — Узбекистан на второй ступени</a:t>
            </a:r>
          </a:p>
        </p:txBody>
      </p:sp>
      <p:sp>
        <p:nvSpPr>
          <p:cNvPr id="162" name="Rectangle 163"/>
          <p:cNvSpPr/>
          <p:nvPr/>
        </p:nvSpPr>
        <p:spPr>
          <a:xfrm>
            <a:off x="640080" y="3291840"/>
            <a:ext cx="2606040" cy="12801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5"/>
          <p:cNvSpPr/>
          <p:nvPr/>
        </p:nvSpPr>
        <p:spPr>
          <a:xfrm>
            <a:off x="640080" y="3291840"/>
            <a:ext cx="64008" cy="1280160"/>
          </a:xfrm>
          <a:prstGeom prst="rect">
            <a:avLst/>
          </a:prstGeom>
          <a:solidFill>
            <a:srgbClr val="7A8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7"/>
          <p:cNvSpPr txBox="1"/>
          <p:nvPr/>
        </p:nvSpPr>
        <p:spPr>
          <a:xfrm>
            <a:off x="868680" y="3429000"/>
            <a:ext cx="219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A8574"/>
                </a:solidFill>
                <a:latin typeface="Calibri"/>
              </a:rPr>
              <a:t>cⱼ &gt; pᵀ,  λ &lt; λ*</a:t>
            </a:r>
          </a:p>
        </p:txBody>
      </p:sp>
      <p:sp>
        <p:nvSpPr>
          <p:cNvPr id="168" name="TextBox 169"/>
          <p:cNvSpPr txBox="1"/>
          <p:nvPr/>
        </p:nvSpPr>
        <p:spPr>
          <a:xfrm>
            <a:off x="868680" y="3703320"/>
            <a:ext cx="21945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Georgia"/>
              </a:rPr>
              <a:t>Импортирует оба</a:t>
            </a:r>
          </a:p>
        </p:txBody>
      </p:sp>
      <p:sp>
        <p:nvSpPr>
          <p:cNvPr id="170" name="TextBox 171"/>
          <p:cNvSpPr txBox="1"/>
          <p:nvPr/>
        </p:nvSpPr>
        <p:spPr>
          <a:xfrm>
            <a:off x="868680" y="4023360"/>
            <a:ext cx="219456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Купить за рубежом дешевле, чем построить. Это колонка полного возмещения.</a:t>
            </a:r>
          </a:p>
        </p:txBody>
      </p:sp>
      <p:sp>
        <p:nvSpPr>
          <p:cNvPr id="172" name="Rectangle 173"/>
          <p:cNvSpPr/>
          <p:nvPr/>
        </p:nvSpPr>
        <p:spPr>
          <a:xfrm>
            <a:off x="3474720" y="3291840"/>
            <a:ext cx="2606040" cy="12801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5"/>
          <p:cNvSpPr/>
          <p:nvPr/>
        </p:nvSpPr>
        <p:spPr>
          <a:xfrm>
            <a:off x="3474720" y="3291840"/>
            <a:ext cx="64008" cy="128016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7"/>
          <p:cNvSpPr txBox="1"/>
          <p:nvPr/>
        </p:nvSpPr>
        <p:spPr>
          <a:xfrm>
            <a:off x="3703320" y="3429000"/>
            <a:ext cx="219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45B4A"/>
                </a:solidFill>
                <a:latin typeface="Calibri"/>
              </a:rPr>
              <a:t>cⱼ &gt; pᵀ,  λ ≥ λ*</a:t>
            </a:r>
          </a:p>
        </p:txBody>
      </p:sp>
      <p:sp>
        <p:nvSpPr>
          <p:cNvPr id="178" name="TextBox 179"/>
          <p:cNvSpPr txBox="1"/>
          <p:nvPr/>
        </p:nvSpPr>
        <p:spPr>
          <a:xfrm>
            <a:off x="3703320" y="3703320"/>
            <a:ext cx="21945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Georgia"/>
              </a:rPr>
              <a:t>Производит оба у себя</a:t>
            </a:r>
          </a:p>
        </p:txBody>
      </p:sp>
      <p:sp>
        <p:nvSpPr>
          <p:cNvPr id="180" name="TextBox 181"/>
          <p:cNvSpPr txBox="1"/>
          <p:nvPr/>
        </p:nvSpPr>
        <p:spPr>
          <a:xfrm>
            <a:off x="3703320" y="4023360"/>
            <a:ext cx="219456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Здесь Узбекистан сегодня: всё ещё выше расчищающей цены, но надбавка делает импорт дороже самообеспечения.</a:t>
            </a:r>
          </a:p>
        </p:txBody>
      </p:sp>
      <p:sp>
        <p:nvSpPr>
          <p:cNvPr id="182" name="Rectangle 183"/>
          <p:cNvSpPr/>
          <p:nvPr/>
        </p:nvSpPr>
        <p:spPr>
          <a:xfrm>
            <a:off x="6309360" y="3291840"/>
            <a:ext cx="2606040" cy="128016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5"/>
          <p:cNvSpPr/>
          <p:nvPr/>
        </p:nvSpPr>
        <p:spPr>
          <a:xfrm>
            <a:off x="6309360" y="3291840"/>
            <a:ext cx="64008" cy="12801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7"/>
          <p:cNvSpPr txBox="1"/>
          <p:nvPr/>
        </p:nvSpPr>
        <p:spPr>
          <a:xfrm>
            <a:off x="6537960" y="3429000"/>
            <a:ext cx="219456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A7C59"/>
                </a:solidFill>
                <a:latin typeface="Calibri"/>
              </a:rPr>
              <a:t>cⱼ &lt; pᵀ</a:t>
            </a:r>
          </a:p>
        </p:txBody>
      </p:sp>
      <p:sp>
        <p:nvSpPr>
          <p:cNvPr id="188" name="TextBox 189"/>
          <p:cNvSpPr txBox="1"/>
          <p:nvPr/>
        </p:nvSpPr>
        <p:spPr>
          <a:xfrm>
            <a:off x="6537960" y="3703320"/>
            <a:ext cx="21945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Georgia"/>
              </a:rPr>
              <a:t>Экспортирует</a:t>
            </a:r>
          </a:p>
        </p:txBody>
      </p:sp>
      <p:sp>
        <p:nvSpPr>
          <p:cNvPr id="190" name="TextBox 191"/>
          <p:cNvSpPr txBox="1"/>
          <p:nvPr/>
        </p:nvSpPr>
        <p:spPr>
          <a:xfrm>
            <a:off x="6537960" y="4023360"/>
            <a:ext cx="2194560" cy="4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До границы $0.025 за GPU-час — 1.5% себестоимости.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05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3333"/>
                </a:solidFill>
                <a:latin typeface="Georgia"/>
              </a:rPr>
              <a:t>Условие 1: стоимость капитала</a:t>
            </a:r>
          </a:p>
        </p:txBody>
      </p:sp>
      <p:sp>
        <p:nvSpPr>
          <p:cNvPr id="106" name="TextBox 107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Разрыв отделяет Узбекистан от производителей ОЭСР, а не от соседей</a:t>
            </a:r>
          </a:p>
        </p:txBody>
      </p:sp>
      <p:sp>
        <p:nvSpPr>
          <p:cNvPr id="108" name="TextBox 109"/>
          <p:cNvSpPr txBox="1"/>
          <p:nvPr/>
        </p:nvSpPr>
        <p:spPr>
          <a:xfrm>
            <a:off x="640080" y="1508760"/>
            <a:ext cx="82296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7A8574"/>
                </a:solidFill>
                <a:latin typeface="Calibri"/>
              </a:rPr>
              <a:t>Отставание по издержкам от Канады при двух предположениях о финансировании</a:t>
            </a:r>
          </a:p>
        </p:txBody>
      </p:sp>
      <p:sp>
        <p:nvSpPr>
          <p:cNvPr id="110" name="TextBox 111"/>
          <p:cNvSpPr txBox="1"/>
          <p:nvPr/>
        </p:nvSpPr>
        <p:spPr>
          <a:xfrm>
            <a:off x="640080" y="1828800"/>
            <a:ext cx="3383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Единая амортизация (базовая калибровка)</a:t>
            </a:r>
          </a:p>
        </p:txBody>
      </p:sp>
      <p:sp>
        <p:nvSpPr>
          <p:cNvPr id="112" name="Rectangle 113"/>
          <p:cNvSpPr/>
          <p:nvPr/>
        </p:nvSpPr>
        <p:spPr>
          <a:xfrm>
            <a:off x="4114800" y="1801368"/>
            <a:ext cx="542925" cy="292608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5"/>
          <p:cNvSpPr txBox="1"/>
          <p:nvPr/>
        </p:nvSpPr>
        <p:spPr>
          <a:xfrm>
            <a:off x="4794885" y="182880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B8C5A"/>
                </a:solidFill>
                <a:latin typeface="Calibri"/>
              </a:rPr>
              <a:t>1.9%</a:t>
            </a:r>
          </a:p>
        </p:txBody>
      </p:sp>
      <p:sp>
        <p:nvSpPr>
          <p:cNvPr id="116" name="TextBox 117"/>
          <p:cNvSpPr txBox="1"/>
          <p:nvPr/>
        </p:nvSpPr>
        <p:spPr>
          <a:xfrm>
            <a:off x="640080" y="2377440"/>
            <a:ext cx="338328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Каждая страна по ставке своей группы дохода</a:t>
            </a:r>
          </a:p>
        </p:txBody>
      </p:sp>
      <p:sp>
        <p:nvSpPr>
          <p:cNvPr id="118" name="Rectangle 119"/>
          <p:cNvSpPr/>
          <p:nvPr/>
        </p:nvSpPr>
        <p:spPr>
          <a:xfrm>
            <a:off x="4114800" y="2350008"/>
            <a:ext cx="3657600" cy="292608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21"/>
          <p:cNvSpPr txBox="1"/>
          <p:nvPr/>
        </p:nvSpPr>
        <p:spPr>
          <a:xfrm>
            <a:off x="7909560" y="2377440"/>
            <a:ext cx="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5B4A"/>
                </a:solidFill>
                <a:latin typeface="Calibri"/>
              </a:rPr>
              <a:t>12.8%</a:t>
            </a:r>
          </a:p>
        </p:txBody>
      </p:sp>
      <p:sp>
        <p:nvSpPr>
          <p:cNvPr id="122" name="Rectangle 123"/>
          <p:cNvSpPr/>
          <p:nvPr/>
        </p:nvSpPr>
        <p:spPr>
          <a:xfrm>
            <a:off x="640080" y="2971800"/>
            <a:ext cx="466344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5"/>
          <p:cNvSpPr/>
          <p:nvPr/>
        </p:nvSpPr>
        <p:spPr>
          <a:xfrm>
            <a:off x="640080" y="2971800"/>
            <a:ext cx="64008" cy="13258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7"/>
          <p:cNvSpPr txBox="1"/>
          <p:nvPr/>
        </p:nvSpPr>
        <p:spPr>
          <a:xfrm>
            <a:off x="868680" y="3108960"/>
            <a:ext cx="42519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7C59"/>
                </a:solidFill>
                <a:latin typeface="Georgia"/>
              </a:rPr>
              <a:t>Разрыв стоит $0.20 за GPU-час</a:t>
            </a:r>
          </a:p>
        </p:txBody>
      </p:sp>
      <p:sp>
        <p:nvSpPr>
          <p:cNvPr id="128" name="TextBox 129"/>
          <p:cNvSpPr txBox="1"/>
          <p:nvPr/>
        </p:nvSpPr>
        <p:spPr>
          <a:xfrm>
            <a:off x="868680" y="3429000"/>
            <a:ext cx="425196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Это в 1.6 раза больше всего, что Узбекистан контролирует внутри страны, — электроэнергии и строительства вместе. Бесплатная энергия и бесплатная стройка дали бы меньше, чем заимствование по мировым ставкам.</a:t>
            </a:r>
          </a:p>
        </p:txBody>
      </p:sp>
      <p:sp>
        <p:nvSpPr>
          <p:cNvPr id="130" name="Rectangle 131"/>
          <p:cNvSpPr/>
          <p:nvPr/>
        </p:nvSpPr>
        <p:spPr>
          <a:xfrm>
            <a:off x="5486400" y="2971800"/>
            <a:ext cx="338328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3"/>
          <p:cNvSpPr/>
          <p:nvPr/>
        </p:nvSpPr>
        <p:spPr>
          <a:xfrm>
            <a:off x="5486400" y="2971800"/>
            <a:ext cx="64008" cy="132588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5"/>
          <p:cNvSpPr txBox="1"/>
          <p:nvPr/>
        </p:nvSpPr>
        <p:spPr>
          <a:xfrm>
            <a:off x="5669280" y="310896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45B4A"/>
                </a:solidFill>
                <a:latin typeface="Georgia"/>
              </a:rPr>
              <a:t>Инструменты</a:t>
            </a:r>
          </a:p>
        </p:txBody>
      </p:sp>
      <p:sp>
        <p:nvSpPr>
          <p:cNvPr id="136" name="TextBox 137"/>
          <p:cNvSpPr txBox="1"/>
          <p:nvPr/>
        </p:nvSpPr>
        <p:spPr>
          <a:xfrm>
            <a:off x="5669280" y="3429000"/>
            <a:ext cx="301752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Суверенные гарантии, многостороннее страхование рисков, смешанное финансирование МФО и соинвестиции гиперскейлеров, которые приносят стоимость капитала партнёра.</a:t>
            </a:r>
          </a:p>
        </p:txBody>
      </p:sp>
      <p:sp>
        <p:nvSpPr>
          <p:cNvPr id="138" name="TextBox 139"/>
          <p:cNvSpPr txBox="1"/>
          <p:nvPr/>
        </p:nvSpPr>
        <p:spPr>
          <a:xfrm>
            <a:off x="640080" y="4434840"/>
            <a:ext cx="8229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574"/>
                </a:solidFill>
                <a:latin typeface="Calibri"/>
              </a:rPr>
              <a:t>Кыргызстан занимает по той же ставке для стран с доходом ниже среднего, поэтому разрыв в 3.5% — это электроэнергия и охлаждение; финансирование его не меняет. По ставкам групп дохода Канада к тому же обходит Кыргызстан как самый дешёвый производитель.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9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3333"/>
                </a:solidFill>
                <a:latin typeface="Georgia"/>
              </a:rPr>
              <a:t>Что у Узбекистана уже есть</a:t>
            </a:r>
          </a:p>
        </p:txBody>
      </p:sp>
      <p:sp>
        <p:nvSpPr>
          <p:cNvPr id="70" name="TextBox 71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Четыре условия, которые модель считает обязательными, — и положение страны по каждому</a:t>
            </a:r>
          </a:p>
        </p:txBody>
      </p:sp>
      <p:sp>
        <p:nvSpPr>
          <p:cNvPr id="72" name="Rectangle 73"/>
          <p:cNvSpPr/>
          <p:nvPr/>
        </p:nvSpPr>
        <p:spPr>
          <a:xfrm>
            <a:off x="640080" y="1554480"/>
            <a:ext cx="402336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5"/>
          <p:cNvSpPr/>
          <p:nvPr/>
        </p:nvSpPr>
        <p:spPr>
          <a:xfrm>
            <a:off x="640080" y="1554480"/>
            <a:ext cx="64008" cy="132588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7"/>
          <p:cNvSpPr txBox="1"/>
          <p:nvPr/>
        </p:nvSpPr>
        <p:spPr>
          <a:xfrm>
            <a:off x="868680" y="17602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45B4A"/>
                </a:solidFill>
                <a:latin typeface="Georgia"/>
              </a:rPr>
              <a:t>Доступ к оборудованию</a:t>
            </a:r>
          </a:p>
        </p:txBody>
      </p:sp>
      <p:sp>
        <p:nvSpPr>
          <p:cNvPr id="78" name="TextBox 79"/>
          <p:cNvSpPr txBox="1"/>
          <p:nvPr/>
        </p:nvSpPr>
        <p:spPr>
          <a:xfrm>
            <a:off x="868680" y="219456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Страна не под санкциями, ограничений на передовые GPU нет. Россия, Иран и Беларусь это условие не проходят; из соседей по региону его проходят также Казахстан, Кыргызстан и Таджикистан.</a:t>
            </a:r>
          </a:p>
        </p:txBody>
      </p:sp>
      <p:sp>
        <p:nvSpPr>
          <p:cNvPr id="80" name="Rectangle 81"/>
          <p:cNvSpPr/>
          <p:nvPr/>
        </p:nvSpPr>
        <p:spPr>
          <a:xfrm>
            <a:off x="4937760" y="1554480"/>
            <a:ext cx="402336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3"/>
          <p:cNvSpPr/>
          <p:nvPr/>
        </p:nvSpPr>
        <p:spPr>
          <a:xfrm>
            <a:off x="4937760" y="1554480"/>
            <a:ext cx="64008" cy="132588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5"/>
          <p:cNvSpPr txBox="1"/>
          <p:nvPr/>
        </p:nvSpPr>
        <p:spPr>
          <a:xfrm>
            <a:off x="5166360" y="17602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8C5A"/>
                </a:solidFill>
                <a:latin typeface="Georgia"/>
              </a:rPr>
              <a:t>Дешёвое строительство</a:t>
            </a:r>
          </a:p>
        </p:txBody>
      </p:sp>
      <p:sp>
        <p:nvSpPr>
          <p:cNvPr id="86" name="TextBox 87"/>
          <p:cNvSpPr txBox="1"/>
          <p:nvPr/>
        </p:nvSpPr>
        <p:spPr>
          <a:xfrm>
            <a:off x="5166360" y="219456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При $8.37 за ватт Узбекистан строит дешевле любого западноевропейского рынка выборки — реальное, пусть и небольшое, преимущество.</a:t>
            </a:r>
          </a:p>
        </p:txBody>
      </p:sp>
      <p:sp>
        <p:nvSpPr>
          <p:cNvPr id="88" name="Rectangle 89"/>
          <p:cNvSpPr/>
          <p:nvPr/>
        </p:nvSpPr>
        <p:spPr>
          <a:xfrm>
            <a:off x="640080" y="3063240"/>
            <a:ext cx="402336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91"/>
          <p:cNvSpPr/>
          <p:nvPr/>
        </p:nvSpPr>
        <p:spPr>
          <a:xfrm>
            <a:off x="640080" y="3063240"/>
            <a:ext cx="64008" cy="13258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3"/>
          <p:cNvSpPr txBox="1"/>
          <p:nvPr/>
        </p:nvSpPr>
        <p:spPr>
          <a:xfrm>
            <a:off x="868680" y="326898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7C59"/>
                </a:solidFill>
                <a:latin typeface="Georgia"/>
              </a:rPr>
              <a:t>Гарантированный спрос</a:t>
            </a:r>
          </a:p>
        </p:txBody>
      </p:sp>
      <p:sp>
        <p:nvSpPr>
          <p:cNvPr id="94" name="TextBox 95"/>
          <p:cNvSpPr txBox="1"/>
          <p:nvPr/>
        </p:nvSpPr>
        <p:spPr>
          <a:xfrm>
            <a:off x="868680" y="3703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Крупнейший внутренний рынок Центральной Азии. Мощности нужен подтверждённый заказчик прежде, чем работать на экспорт; Узбекистан способен обеспечить его сам.</a:t>
            </a:r>
          </a:p>
        </p:txBody>
      </p:sp>
      <p:sp>
        <p:nvSpPr>
          <p:cNvPr id="96" name="Rectangle 97"/>
          <p:cNvSpPr/>
          <p:nvPr/>
        </p:nvSpPr>
        <p:spPr>
          <a:xfrm>
            <a:off x="4937760" y="3063240"/>
            <a:ext cx="4023360" cy="132588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9"/>
          <p:cNvSpPr/>
          <p:nvPr/>
        </p:nvSpPr>
        <p:spPr>
          <a:xfrm>
            <a:off x="4937760" y="3063240"/>
            <a:ext cx="64008" cy="1325880"/>
          </a:xfrm>
          <a:prstGeom prst="rect">
            <a:avLst/>
          </a:prstGeom>
          <a:solidFill>
            <a:srgbClr val="C67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101"/>
          <p:cNvSpPr txBox="1"/>
          <p:nvPr/>
        </p:nvSpPr>
        <p:spPr>
          <a:xfrm>
            <a:off x="5166360" y="326898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7B5C"/>
                </a:solidFill>
                <a:latin typeface="Georgia"/>
              </a:rPr>
              <a:t>Энергосистема растёт</a:t>
            </a:r>
          </a:p>
        </p:txBody>
      </p:sp>
      <p:sp>
        <p:nvSpPr>
          <p:cNvPr id="102" name="TextBox 103"/>
          <p:cNvSpPr txBox="1"/>
          <p:nvPr/>
        </p:nvSpPr>
        <p:spPr>
          <a:xfrm>
            <a:off x="5166360" y="370332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Около 8 ГВт установленной мощности ВИЭ и порядка $35 млрд привлечённых инвестиций в энергетику при цели 50% ВИЭ к 2030 году.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3"/>
          <p:cNvSpPr txBox="1"/>
          <p:nvPr/>
        </p:nvSpPr>
        <p:spPr>
          <a:xfrm>
            <a:off x="640080" y="3840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33333"/>
                </a:solidFill>
                <a:latin typeface="Georgia"/>
              </a:rPr>
              <a:t>Насколько далеко фронтир?</a:t>
            </a:r>
          </a:p>
        </p:txBody>
      </p:sp>
      <p:sp>
        <p:nvSpPr>
          <p:cNvPr id="34" name="TextBox 35"/>
          <p:cNvSpPr txBox="1"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A8574"/>
                </a:solidFill>
                <a:latin typeface="Calibri"/>
              </a:rPr>
              <a:t>Узбекистан лишь немного выше цены, расчищающей рынок, — на два с половиной цента</a:t>
            </a:r>
          </a:p>
        </p:txBody>
      </p:sp>
      <p:sp>
        <p:nvSpPr>
          <p:cNvPr id="36" name="TextBox 37"/>
          <p:cNvSpPr txBox="1"/>
          <p:nvPr/>
        </p:nvSpPr>
        <p:spPr>
          <a:xfrm>
            <a:off x="640080" y="1554480"/>
            <a:ext cx="26517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Кыргызстан — самый дешёвый</a:t>
            </a:r>
          </a:p>
        </p:txBody>
      </p:sp>
      <p:sp>
        <p:nvSpPr>
          <p:cNvPr id="38" name="Rectangle 39"/>
          <p:cNvSpPr/>
          <p:nvPr/>
        </p:nvSpPr>
        <p:spPr>
          <a:xfrm>
            <a:off x="3383280" y="1531620"/>
            <a:ext cx="1047403" cy="2743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41"/>
          <p:cNvSpPr txBox="1"/>
          <p:nvPr/>
        </p:nvSpPr>
        <p:spPr>
          <a:xfrm>
            <a:off x="4567843" y="155448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8C5A"/>
                </a:solidFill>
                <a:latin typeface="Calibri"/>
              </a:rPr>
              <a:t>$1.578</a:t>
            </a:r>
          </a:p>
        </p:txBody>
      </p:sp>
      <p:sp>
        <p:nvSpPr>
          <p:cNvPr id="42" name="TextBox 43"/>
          <p:cNvSpPr txBox="1"/>
          <p:nvPr/>
        </p:nvSpPr>
        <p:spPr>
          <a:xfrm>
            <a:off x="640080" y="2057400"/>
            <a:ext cx="26517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Казахстан</a:t>
            </a:r>
          </a:p>
        </p:txBody>
      </p:sp>
      <p:sp>
        <p:nvSpPr>
          <p:cNvPr id="44" name="Rectangle 45"/>
          <p:cNvSpPr/>
          <p:nvPr/>
        </p:nvSpPr>
        <p:spPr>
          <a:xfrm>
            <a:off x="3383280" y="2034540"/>
            <a:ext cx="1907770" cy="2743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7"/>
          <p:cNvSpPr txBox="1"/>
          <p:nvPr/>
        </p:nvSpPr>
        <p:spPr>
          <a:xfrm>
            <a:off x="5428210" y="205740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8C5A"/>
                </a:solidFill>
                <a:latin typeface="Calibri"/>
              </a:rPr>
              <a:t>$1.601</a:t>
            </a:r>
          </a:p>
        </p:txBody>
      </p:sp>
      <p:sp>
        <p:nvSpPr>
          <p:cNvPr id="48" name="TextBox 49"/>
          <p:cNvSpPr txBox="1"/>
          <p:nvPr/>
        </p:nvSpPr>
        <p:spPr>
          <a:xfrm>
            <a:off x="640080" y="2560320"/>
            <a:ext cx="26517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Канада</a:t>
            </a:r>
          </a:p>
        </p:txBody>
      </p:sp>
      <p:sp>
        <p:nvSpPr>
          <p:cNvPr id="50" name="Rectangle 51"/>
          <p:cNvSpPr/>
          <p:nvPr/>
        </p:nvSpPr>
        <p:spPr>
          <a:xfrm>
            <a:off x="3383280" y="2537460"/>
            <a:ext cx="2019992" cy="2743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3"/>
          <p:cNvSpPr txBox="1"/>
          <p:nvPr/>
        </p:nvSpPr>
        <p:spPr>
          <a:xfrm>
            <a:off x="5540432" y="256032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8C5A"/>
                </a:solidFill>
                <a:latin typeface="Calibri"/>
              </a:rPr>
              <a:t>$1.604</a:t>
            </a:r>
          </a:p>
        </p:txBody>
      </p:sp>
      <p:sp>
        <p:nvSpPr>
          <p:cNvPr id="54" name="TextBox 55"/>
          <p:cNvSpPr txBox="1"/>
          <p:nvPr/>
        </p:nvSpPr>
        <p:spPr>
          <a:xfrm>
            <a:off x="640080" y="3063240"/>
            <a:ext cx="26517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33333"/>
                </a:solidFill>
                <a:latin typeface="Calibri"/>
              </a:rPr>
              <a:t>pᵀ — цену задаёт предельный экспортёр</a:t>
            </a:r>
          </a:p>
        </p:txBody>
      </p:sp>
      <p:sp>
        <p:nvSpPr>
          <p:cNvPr id="56" name="Rectangle 57"/>
          <p:cNvSpPr/>
          <p:nvPr/>
        </p:nvSpPr>
        <p:spPr>
          <a:xfrm>
            <a:off x="3383280" y="3040380"/>
            <a:ext cx="2244436" cy="274320"/>
          </a:xfrm>
          <a:prstGeom prst="rect">
            <a:avLst/>
          </a:prstGeom>
          <a:solidFill>
            <a:srgbClr val="3D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9"/>
          <p:cNvSpPr txBox="1"/>
          <p:nvPr/>
        </p:nvSpPr>
        <p:spPr>
          <a:xfrm>
            <a:off x="5764876" y="306324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Calibri"/>
              </a:rPr>
              <a:t>$1.610</a:t>
            </a:r>
          </a:p>
        </p:txBody>
      </p:sp>
      <p:sp>
        <p:nvSpPr>
          <p:cNvPr id="60" name="TextBox 61"/>
          <p:cNvSpPr txBox="1"/>
          <p:nvPr/>
        </p:nvSpPr>
        <p:spPr>
          <a:xfrm>
            <a:off x="640080" y="3566160"/>
            <a:ext cx="265176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45B4A"/>
                </a:solidFill>
                <a:latin typeface="Calibri"/>
              </a:rPr>
              <a:t>Узбекистан</a:t>
            </a:r>
          </a:p>
        </p:txBody>
      </p:sp>
      <p:sp>
        <p:nvSpPr>
          <p:cNvPr id="62" name="Rectangle 63"/>
          <p:cNvSpPr/>
          <p:nvPr/>
        </p:nvSpPr>
        <p:spPr>
          <a:xfrm>
            <a:off x="3383280" y="3543300"/>
            <a:ext cx="3179618" cy="27432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5"/>
          <p:cNvSpPr txBox="1"/>
          <p:nvPr/>
        </p:nvSpPr>
        <p:spPr>
          <a:xfrm>
            <a:off x="6700058" y="3566160"/>
            <a:ext cx="8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5B4A"/>
                </a:solidFill>
                <a:latin typeface="Calibri"/>
              </a:rPr>
              <a:t>$1.635</a:t>
            </a:r>
          </a:p>
        </p:txBody>
      </p:sp>
      <p:sp>
        <p:nvSpPr>
          <p:cNvPr id="66" name="TextBox 67"/>
          <p:cNvSpPr txBox="1"/>
          <p:nvPr/>
        </p:nvSpPr>
        <p:spPr>
          <a:xfrm>
            <a:off x="640080" y="4160520"/>
            <a:ext cx="8229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A8574"/>
                </a:solidFill>
                <a:latin typeface="Calibri"/>
              </a:rPr>
              <a:t>Страна экспортирует Training, когда cⱼ &lt; pᵀ (Утверждение 1). Узбекистан на $0.025 выше этой линии — 1.5% себестоимости и 3.5% выше самого дешёвого производителя, потому что 92% издержек это оборудование по мировым ценам.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5"/>
          <p:cNvSpPr txBox="1"/>
          <p:nvPr/>
        </p:nvSpPr>
        <p:spPr>
          <a:xfrm>
            <a:off x="1280160" y="45720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AF8F5"/>
                </a:solidFill>
                <a:latin typeface="Georgia"/>
              </a:rPr>
              <a:t>Узбекистан: условия входа</a:t>
            </a:r>
          </a:p>
        </p:txBody>
      </p:sp>
      <p:sp>
        <p:nvSpPr>
          <p:cNvPr id="6" name="TextBox 7"/>
          <p:cNvSpPr txBox="1"/>
          <p:nvPr/>
        </p:nvSpPr>
        <p:spPr>
          <a:xfrm>
            <a:off x="731520" y="123444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4A7C59"/>
                </a:solidFill>
                <a:latin typeface="Georgia"/>
              </a:rPr>
              <a:t>По издержкам Узбекистан в 1.5% от границы экспорта. Крупнейший рычаг — цена капитала, а не цена энергии.</a:t>
            </a:r>
          </a:p>
        </p:txBody>
      </p:sp>
      <p:sp>
        <p:nvSpPr>
          <p:cNvPr id="8" name="Rectangle 9"/>
          <p:cNvSpPr/>
          <p:nvPr/>
        </p:nvSpPr>
        <p:spPr>
          <a:xfrm>
            <a:off x="64008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11"/>
          <p:cNvSpPr/>
          <p:nvPr/>
        </p:nvSpPr>
        <p:spPr>
          <a:xfrm>
            <a:off x="640080" y="2743200"/>
            <a:ext cx="2606040" cy="4572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3"/>
          <p:cNvSpPr txBox="1"/>
          <p:nvPr/>
        </p:nvSpPr>
        <p:spPr>
          <a:xfrm>
            <a:off x="822959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8C5A"/>
                </a:solidFill>
                <a:latin typeface="Calibri"/>
              </a:rPr>
              <a:t>3.6% до фронтира</a:t>
            </a:r>
          </a:p>
        </p:txBody>
      </p:sp>
      <p:sp>
        <p:nvSpPr>
          <p:cNvPr id="14" name="TextBox 15"/>
          <p:cNvSpPr txBox="1"/>
          <p:nvPr/>
        </p:nvSpPr>
        <p:spPr>
          <a:xfrm>
            <a:off x="822959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DB6"/>
                </a:solidFill>
                <a:latin typeface="Calibri"/>
              </a:rPr>
              <a:t>$1.635 за GPU-час против $1.578 у самого дешёвого производителя мира. Мало в каком торгуемом секторе фронтир так близок.</a:t>
            </a:r>
          </a:p>
        </p:txBody>
      </p:sp>
      <p:sp>
        <p:nvSpPr>
          <p:cNvPr id="16" name="Rectangle 17"/>
          <p:cNvSpPr/>
          <p:nvPr/>
        </p:nvSpPr>
        <p:spPr>
          <a:xfrm>
            <a:off x="347472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9"/>
          <p:cNvSpPr/>
          <p:nvPr/>
        </p:nvSpPr>
        <p:spPr>
          <a:xfrm>
            <a:off x="3474720" y="2743200"/>
            <a:ext cx="2606040" cy="457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1"/>
          <p:cNvSpPr txBox="1"/>
          <p:nvPr/>
        </p:nvSpPr>
        <p:spPr>
          <a:xfrm>
            <a:off x="3657599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7C59"/>
                </a:solidFill>
                <a:latin typeface="Calibri"/>
              </a:rPr>
              <a:t>$0.025 до границы</a:t>
            </a:r>
          </a:p>
        </p:txBody>
      </p:sp>
      <p:sp>
        <p:nvSpPr>
          <p:cNvPr id="22" name="TextBox 23"/>
          <p:cNvSpPr txBox="1"/>
          <p:nvPr/>
        </p:nvSpPr>
        <p:spPr>
          <a:xfrm>
            <a:off x="3657599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DB6"/>
                </a:solidFill>
                <a:latin typeface="Calibri"/>
              </a:rPr>
              <a:t>Предельный экспортёр задаёт pᵀ ≈ $1.61. Узбекистан производит по $1.635 — на два с половиной цента выше линии.</a:t>
            </a:r>
          </a:p>
        </p:txBody>
      </p:sp>
      <p:sp>
        <p:nvSpPr>
          <p:cNvPr id="24" name="Rectangle 25"/>
          <p:cNvSpPr/>
          <p:nvPr/>
        </p:nvSpPr>
        <p:spPr>
          <a:xfrm>
            <a:off x="6309360" y="2743200"/>
            <a:ext cx="2606040" cy="1920240"/>
          </a:xfrm>
          <a:prstGeom prst="rect">
            <a:avLst/>
          </a:prstGeom>
          <a:solidFill>
            <a:srgbClr val="3D3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7"/>
          <p:cNvSpPr/>
          <p:nvPr/>
        </p:nvSpPr>
        <p:spPr>
          <a:xfrm>
            <a:off x="6309360" y="2743200"/>
            <a:ext cx="2606040" cy="45720"/>
          </a:xfrm>
          <a:prstGeom prst="rect">
            <a:avLst/>
          </a:prstGeom>
          <a:solidFill>
            <a:srgbClr val="C45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9"/>
          <p:cNvSpPr txBox="1"/>
          <p:nvPr/>
        </p:nvSpPr>
        <p:spPr>
          <a:xfrm>
            <a:off x="6492239" y="292608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5B4A"/>
                </a:solidFill>
                <a:latin typeface="Calibri"/>
              </a:rPr>
              <a:t>Доступ к GPU уже есть</a:t>
            </a:r>
          </a:p>
        </p:txBody>
      </p:sp>
      <p:sp>
        <p:nvSpPr>
          <p:cNvPr id="30" name="TextBox 31"/>
          <p:cNvSpPr txBox="1"/>
          <p:nvPr/>
        </p:nvSpPr>
        <p:spPr>
          <a:xfrm>
            <a:off x="6492239" y="333756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4BDB6"/>
                </a:solidFill>
                <a:latin typeface="Calibri"/>
              </a:rPr>
              <a:t>Страна не под санкциями — в отличие от трёх соседей. Модель считает доступ к оборудованию обязательным условием входа.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2706</Words>
  <Application>Microsoft Office PowerPoint</Application>
  <PresentationFormat>On-screen Show (16:9)</PresentationFormat>
  <Paragraphs>453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Fel'dsher Gun'kin</cp:lastModifiedBy>
  <cp:revision>1</cp:revision>
  <dcterms:created xsi:type="dcterms:W3CDTF">2013-01-27T09:14:16Z</dcterms:created>
  <dcterms:modified xsi:type="dcterms:W3CDTF">2026-04-16T08:16:49Z</dcterms:modified>
  <cp:category/>
</cp:coreProperties>
</file>