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7" r:id="rId13"/>
    <p:sldId id="262" r:id="rId8"/>
    <p:sldId id="263" r:id="rId9"/>
    <p:sldId id="264" r:id="rId10"/>
    <p:sldId id="265" r:id="rId11"/>
    <p:sldId id="266" r:id="rId12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7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93B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E293B"/>
                </a:solidFill>
                <a:latin typeface="Calibri"/>
              </a:rPr>
              <a:t>Cost per GPU-hour ($/hr)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Hardware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Cheapest</c:v>
                  </c:pt>
                  <c:pt idx="1">
                    <c:v>Median</c:v>
                  </c:pt>
                  <c:pt idx="2">
                    <c:v>Costliest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1.36</c:v>
                </c:pt>
                <c:pt idx="1">
                  <c:v>1.36</c:v>
                </c:pt>
                <c:pt idx="2">
                  <c:v>1.36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Electricity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Cheapest</c:v>
                  </c:pt>
                  <c:pt idx="1">
                    <c:v>Median</c:v>
                  </c:pt>
                  <c:pt idx="2">
                    <c:v>Costliest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0.06</c:v>
                </c:pt>
                <c:pt idx="1">
                  <c:v>0.12</c:v>
                </c:pt>
                <c:pt idx="2">
                  <c:v>0.22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Construction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Cheapest</c:v>
                  </c:pt>
                  <c:pt idx="1">
                    <c:v>Median</c:v>
                  </c:pt>
                  <c:pt idx="2">
                    <c:v>Costliest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0.04</c:v>
                </c:pt>
                <c:pt idx="1">
                  <c:v>0.06</c:v>
                </c:pt>
                <c:pt idx="2">
                  <c:v>0.1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548640"/>
            <a:ext cx="457200" cy="4572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822960"/>
            <a:ext cx="365760" cy="3657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31520" y="109728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Cheap Energy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Might Not Be Enough</a:t>
            </a:r>
            <a:endParaRPr lang="en-US" sz="4000" dirty="0"/>
          </a:p>
        </p:txBody>
      </p:sp>
      <p:sp>
        <p:nvSpPr>
          <p:cNvPr id="6" name="Text 2"/>
          <p:cNvSpPr/>
          <p:nvPr/>
        </p:nvSpPr>
        <p:spPr>
          <a:xfrm>
            <a:off x="731520" y="2834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Trade Model of AI Compute Services</a:t>
            </a:r>
            <a:endParaRPr lang="en-US" sz="2000" dirty="0"/>
          </a:p>
        </p:txBody>
      </p:sp>
      <p:sp>
        <p:nvSpPr>
          <p:cNvPr id="7" name="Shape 3"/>
          <p:cNvSpPr/>
          <p:nvPr/>
        </p:nvSpPr>
        <p:spPr>
          <a:xfrm>
            <a:off x="731520" y="3566160"/>
            <a:ext cx="22860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4"/>
          <p:cNvSpPr/>
          <p:nvPr/>
        </p:nvSpPr>
        <p:spPr>
          <a:xfrm>
            <a:off x="731520" y="37947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Michael Lokshin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731520" y="4160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c_phot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28803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0000">
              <a:alpha val="6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2286000"/>
            <a:ext cx="9144000" cy="594360"/>
          </a:xfrm>
          <a:prstGeom prst="rect">
            <a:avLst/>
          </a:prstGeom>
          <a:solidFill>
            <a:srgbClr val="0B1D2E">
              <a:alpha val="75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FLOPs Are Produced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457200" y="5943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center converts electricity into floating-point operations — the raw commodity of AI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274320" y="2971800"/>
            <a:ext cx="2011680" cy="123444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74320" y="2971800"/>
            <a:ext cx="2011680" cy="45720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136392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31520" y="308152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11480" y="34290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power (pⱼᴱ)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price — only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country-varying input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2240280" y="3154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2514600" y="2971800"/>
            <a:ext cx="2011680" cy="123444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2514600" y="2971800"/>
            <a:ext cx="2011680" cy="45720"/>
          </a:xfrm>
          <a:prstGeom prst="rect">
            <a:avLst/>
          </a:prstGeom>
          <a:solidFill>
            <a:srgbClr val="0097A7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6040" y="3136392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971800" y="308152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Cooling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2651760" y="34290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 overhead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Climate-dependent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(θⱼ → cooling cost)</a:t>
            </a:r>
            <a:endParaRPr lang="en-US" sz="950" dirty="0"/>
          </a:p>
        </p:txBody>
      </p:sp>
      <p:sp>
        <p:nvSpPr>
          <p:cNvPr id="18" name="Text 13"/>
          <p:cNvSpPr/>
          <p:nvPr/>
        </p:nvSpPr>
        <p:spPr>
          <a:xfrm>
            <a:off x="4480560" y="3154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4"/>
          <p:cNvSpPr/>
          <p:nvPr/>
        </p:nvSpPr>
        <p:spPr>
          <a:xfrm>
            <a:off x="4754880" y="2971800"/>
            <a:ext cx="2011680" cy="123444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754880" y="2971800"/>
            <a:ext cx="2011680" cy="45720"/>
          </a:xfrm>
          <a:prstGeom prst="rect">
            <a:avLst/>
          </a:prstGeom>
          <a:solidFill>
            <a:srgbClr val="00ACC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136392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212080" y="308152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Hardware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4892040" y="34290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H100/B200 racks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Globally priced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(~90% of unit cost)</a:t>
            </a:r>
            <a:endParaRPr lang="en-US" sz="950" dirty="0"/>
          </a:p>
        </p:txBody>
      </p:sp>
      <p:sp>
        <p:nvSpPr>
          <p:cNvPr id="24" name="Text 18"/>
          <p:cNvSpPr/>
          <p:nvPr/>
        </p:nvSpPr>
        <p:spPr>
          <a:xfrm>
            <a:off x="6720840" y="3154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19"/>
          <p:cNvSpPr/>
          <p:nvPr/>
        </p:nvSpPr>
        <p:spPr>
          <a:xfrm>
            <a:off x="6995160" y="2971800"/>
            <a:ext cx="2011680" cy="123444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6995160" y="2971800"/>
            <a:ext cx="2011680" cy="4572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0" y="3136392"/>
            <a:ext cx="320040" cy="32004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452360" y="308152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FLOPs Output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7132320" y="34290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services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(batch)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(real-time)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0" y="4297680"/>
            <a:ext cx="9144000" cy="502920"/>
          </a:xfrm>
          <a:prstGeom prst="rect">
            <a:avLst/>
          </a:prstGeom>
          <a:solidFill>
            <a:srgbClr val="111B27"/>
          </a:solidFill>
          <a:ln/>
        </p:spPr>
      </p:sp>
      <p:sp>
        <p:nvSpPr>
          <p:cNvPr id="31" name="Text 24"/>
          <p:cNvSpPr/>
          <p:nvPr/>
        </p:nvSpPr>
        <p:spPr>
          <a:xfrm>
            <a:off x="457200" y="43159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cost: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cⱼ = </a:t>
            </a:r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 (~8%)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 </a:t>
            </a:r>
            <a:pPr indent="0" marL="0">
              <a:buNone/>
            </a:pPr>
            <a:r>
              <a:rPr lang="en-US" sz="12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(~90%)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 </a:t>
            </a:r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 + construction (~2%)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Developing Countries Are Joining the Race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Billion-dollar data center commitments are no longer confined to the US, Europe, and China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2743200" cy="141732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54864" cy="1417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9875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ARMENIA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2070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Firebird / NVIDIA AI Factory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1536192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$4B total (Phase 1: $500M) · 100 MW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 NVIDIA GPUs · US-approved chip transfer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Pashinyan lobbied Trump directly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0" y="914400"/>
            <a:ext cx="2743200" cy="141732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914400"/>
            <a:ext cx="54864" cy="141732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9875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ARABIA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383280" y="12070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HUMAIN / NEOM / DataVolt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383280" y="1536192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$23B+ in AI partnerships · 11 data centers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MW each · NEOM pivoting to DC hub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PIF goal: 3rd-largest AI provider globally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80760" y="914400"/>
            <a:ext cx="2743200" cy="141732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0760" y="914400"/>
            <a:ext cx="54864" cy="14173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9875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263640" y="12070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OpenAI–G42 Abu Dhabi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263640" y="1536192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GW campus · largest single AI site globally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Stargate international expansion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Khazna 100 MW AI facility in Ajman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2514600"/>
            <a:ext cx="2743200" cy="141732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514600"/>
            <a:ext cx="54864" cy="14173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25877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INDONESIA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2920" y="28072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Jakarta / Batam DC corridor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02920" y="3136392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Princeton Digital: $1B Jakarta campus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&amp; Google cloud regions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SE Asian market by demand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0" y="2514600"/>
            <a:ext cx="2743200" cy="141732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0" y="2514600"/>
            <a:ext cx="54864" cy="1417320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26" name="Text 24"/>
          <p:cNvSpPr/>
          <p:nvPr/>
        </p:nvSpPr>
        <p:spPr>
          <a:xfrm>
            <a:off x="3383280" y="25877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91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KENYA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383280" y="28072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Data Centres / IXAfrica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383280" y="3136392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Africa's DC hub · 1 GW pipeline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geothermal power (~$0.07/kWh)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&amp; Google African cloud regions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080760" y="2514600"/>
            <a:ext cx="2743200" cy="141732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80760" y="2514600"/>
            <a:ext cx="54864" cy="1417320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31" name="Text 29"/>
          <p:cNvSpPr/>
          <p:nvPr/>
        </p:nvSpPr>
        <p:spPr>
          <a:xfrm>
            <a:off x="6263640" y="25877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MALAYSIA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63640" y="28072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Johor corridor (Microsoft / NTT)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263640" y="3136392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$34B investment boom · $6B market by 2031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2nd cloud region (SE Asia 3)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Cyberjaya: 22 existing + 9 upcoming DCs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0" y="4251960"/>
            <a:ext cx="9144000" cy="548640"/>
          </a:xfrm>
          <a:prstGeom prst="rect">
            <a:avLst/>
          </a:prstGeom>
          <a:solidFill>
            <a:srgbClr val="111B27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4251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question: 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countries have cheap energy and political will. Can they overcome sovereignty frictions and institutional gaps to capture AI compute demand?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Opportunity: FLOP Exporting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48463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280160"/>
            <a:ext cx="64008" cy="32918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463040"/>
            <a:ext cx="42062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compute demand is doubling every six months. Data centers already consume 1.5% of global electricity — projected to more than double by 2030.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can convert cheap electricity into high-value AI compute exports — moving up the value chain from raw resources to digital services.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Energy-rich developing countries — with cheap electricity, growing grid capacity, and political will — have a rare opportunity to leapfrog into high-value digital exports without the traditional industrialization path.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852160" y="1280160"/>
            <a:ext cx="27432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0" y="1481328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629400" y="13258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2×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6629400" y="1783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demand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doubling rate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852160" y="2423160"/>
            <a:ext cx="27432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2624328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629400" y="24688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85</a:t>
            </a:r>
            <a:endParaRPr lang="en-US" sz="2800" dirty="0"/>
          </a:p>
        </p:txBody>
      </p:sp>
      <p:sp>
        <p:nvSpPr>
          <p:cNvPr id="13" name="Text 9"/>
          <p:cNvSpPr/>
          <p:nvPr/>
        </p:nvSpPr>
        <p:spPr>
          <a:xfrm>
            <a:off x="6629400" y="2926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852160" y="3566160"/>
            <a:ext cx="27432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3767328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629400" y="36118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$9B+</a:t>
            </a:r>
            <a:endParaRPr lang="en-US" sz="2800" dirty="0"/>
          </a:p>
        </p:txBody>
      </p:sp>
      <p:sp>
        <p:nvSpPr>
          <p:cNvPr id="17" name="Text 12"/>
          <p:cNvSpPr/>
          <p:nvPr/>
        </p:nvSpPr>
        <p:spPr>
          <a:xfrm>
            <a:off x="6629400" y="4069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exports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annually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Paper's Contributions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97280" y="960120"/>
            <a:ext cx="71323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97280" y="960120"/>
            <a:ext cx="64008" cy="10058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143000"/>
            <a:ext cx="594360" cy="5943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143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0972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74520" y="1051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874520" y="137160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Capacity-constrained Ricardian model of compute trade with iceberg latency costs and bilateral sovereignty premia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874520" y="1618488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Distinguishes training (latency-insensitive) from inference (latency-sensitive) — five equilibrium regimes emerge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1097280" y="2148840"/>
            <a:ext cx="71323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1097280" y="2148840"/>
            <a:ext cx="64008" cy="10058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3" name="Shape 10"/>
          <p:cNvSpPr/>
          <p:nvPr/>
        </p:nvSpPr>
        <p:spPr>
          <a:xfrm>
            <a:off x="320040" y="2331720"/>
            <a:ext cx="594360" cy="5943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4" name="Text 11"/>
          <p:cNvSpPr/>
          <p:nvPr/>
        </p:nvSpPr>
        <p:spPr>
          <a:xfrm>
            <a:off x="320040" y="2331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286000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874520" y="2240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1874520" y="256032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85-country calibration correcting for energy subsidies that distort headline cost rankings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1874520" y="2807208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Cost-recovery pricing replaces subsidized tariffs with LRMC for 13 countries; bilateral sovereignty premium from UNGA voting, data adequacy, and sanctions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1097280" y="3337560"/>
            <a:ext cx="71323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1097280" y="3337560"/>
            <a:ext cx="64008" cy="10058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1" name="Shape 17"/>
          <p:cNvSpPr/>
          <p:nvPr/>
        </p:nvSpPr>
        <p:spPr>
          <a:xfrm>
            <a:off x="320040" y="3520440"/>
            <a:ext cx="594360" cy="5943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2" name="Text 18"/>
          <p:cNvSpPr/>
          <p:nvPr/>
        </p:nvSpPr>
        <p:spPr>
          <a:xfrm>
            <a:off x="320040" y="3520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3474720"/>
            <a:ext cx="365760" cy="36576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874520" y="3429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Welfare &amp; Policy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874520" y="374904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Characterize trade regimes and quantify the welfare cost of sovereignty premia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1874520" y="3995928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Welfare cost is 1.5% of compute spending (~$1.3B/yr) — small enough that domestic production can be rational for sovereign workloads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Related Literature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work examines AI governance, digital trade, and data center geography — but no formal trade model of compute exists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4023360" cy="54864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28016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2344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Comparative Advantage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05840" y="153619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Goldfarb &amp; Trefler (2018)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Korinek &amp; Stiglitz (2021)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40080" y="20116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shifts advantage to data &amp; human capital; developing countries risk being left behind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63440" y="1097280"/>
            <a:ext cx="40233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1097280"/>
            <a:ext cx="4023360" cy="54864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28016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12080" y="12344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Services Offshoring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212080" y="153619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Blinder (2006)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Brainard (1997), Helpman et al. (2004)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4846320" y="20116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Labor-intensive and skill-biased — a different set of exporters than compute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57200" y="2743200"/>
            <a:ext cx="40233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57200" y="2743200"/>
            <a:ext cx="4023360" cy="54864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92608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05840" y="28803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Center Geography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1005840" y="318211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Flucker et al. (2013), Liu et al. (2023)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Lehdonvirta et al. (2024), Pilz et al. (2025)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640080" y="3657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affects cooling costs; 'Compute North' holds 77% of capacity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663440" y="2743200"/>
            <a:ext cx="40233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663440" y="2743200"/>
            <a:ext cx="4023360" cy="54864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2926080"/>
            <a:ext cx="320040" cy="32004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212080" y="28803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Governance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5212080" y="318211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Sastry et al. (2024)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Bank (2025), Biglaiser et al. (2024)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4846320" y="3657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is well-suited for regulation but lacks a cost-to-trade framework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solidFill>
            <a:srgbClr val="0B1D2E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407408"/>
            <a:ext cx="292608" cy="29260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051560" y="43434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No formal model linking production costs → trade patterns → welfare costs for compute services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Markets, Two Geographies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37947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280160"/>
            <a:ext cx="379476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554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Latency-Insensitive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training, fine-tuning, batch processing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distance penalty — freely offshorable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market: cheapest producer wins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to months of compute time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concentrated: 1–2 exporters serve most demand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280160"/>
            <a:ext cx="37947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280160"/>
            <a:ext cx="37947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1554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83480" y="1920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Latency-Sensitive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983480" y="237744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Chatbots, autonomous systems, real-time agents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degrades with distance (latency)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market: proximity matters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Millisecond response required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dispersed: regional hubs serve nearby demand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capacity-constrained Ricardian model with three innovations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256032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54480"/>
            <a:ext cx="2560320" cy="54864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8288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377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Structure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283464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Country-specific production costs from electricity, hardware (globally priced), and construction. PUE varies with climate.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474720" y="1554480"/>
            <a:ext cx="256032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74720" y="1554480"/>
            <a:ext cx="2560320" cy="54864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182880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49040" y="2377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Trade Costs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749040" y="283464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is latency-insensitive (freely offshorable). Inference degrades with distance — localized markets.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309360" y="1554480"/>
            <a:ext cx="256032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09360" y="1554480"/>
            <a:ext cx="2560320" cy="54864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82880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83680" y="2377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Sovereignty Premium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583680" y="283464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Bilateral friction from geopolitical distance, regulatory gaps, and sanctions. Trust deficits as trade barriers.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Model: Cost Structure &amp; Trade Costs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731520"/>
            <a:ext cx="64008" cy="14173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777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 Production Cost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43600" y="749808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γ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64748B"/>
                </a:solidFill>
              </a:rPr>
              <a:t> = GPU power draw (kW)</a:t>
            </a:r>
            <a:endParaRPr lang="en-US" sz="1050" dirty="0"/>
          </a:p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pⱼᴱ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64748B"/>
                </a:solidFill>
              </a:rPr>
              <a:t> = electricity price ($/kWh)</a:t>
            </a:r>
            <a:endParaRPr lang="en-US" sz="1050" dirty="0"/>
          </a:p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PUE(θⱼ)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64748B"/>
                </a:solidFill>
              </a:rPr>
              <a:t> = cooling overhead (θ = temp.)</a:t>
            </a:r>
            <a:endParaRPr lang="en-US" sz="1050" dirty="0"/>
          </a:p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ρ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64748B"/>
                </a:solidFill>
              </a:rPr>
              <a:t> = hardware amortization (global, ~90%)</a:t>
            </a:r>
            <a:endParaRPr lang="en-US" sz="1050" dirty="0"/>
          </a:p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η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64748B"/>
                </a:solidFill>
              </a:rPr>
              <a:t> = networking (global)</a:t>
            </a:r>
            <a:endParaRPr lang="en-US" sz="1050" dirty="0"/>
          </a:p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κⱼ/(Lf·H)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 = construction / (lifetime × hrs/yr)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57200" y="2286000"/>
            <a:ext cx="82296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2286000"/>
            <a:ext cx="64008" cy="1234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2331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(2)  Bilateral Sovereignty Premium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943600" y="233172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dⱼₖ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64748B"/>
                </a:solidFill>
              </a:rPr>
              <a:t> = geopolitical distance (UNGA voting)</a:t>
            </a:r>
            <a:endParaRPr lang="en-US" sz="10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Rⱼₖ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64748B"/>
                </a:solidFill>
              </a:rPr>
              <a:t> = data-adequacy agreement (0/1)</a:t>
            </a:r>
            <a:endParaRPr lang="en-US" sz="10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Sⱼₖ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 = sanctions indicator → λ = ∞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57200" y="365760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57200" y="3657600"/>
            <a:ext cx="64008" cy="1188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5" name="Text 11"/>
          <p:cNvSpPr/>
          <p:nvPr/>
        </p:nvSpPr>
        <p:spPr>
          <a:xfrm>
            <a:off x="731520" y="3703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(3)  Delivered Cost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400800" y="3639312"/>
            <a:ext cx="2560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τ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64748B"/>
                </a:solidFill>
              </a:rPr>
              <a:t> = latency degradation rate</a:t>
            </a:r>
            <a:endParaRPr lang="en-US" sz="1050" dirty="0"/>
          </a:p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ℓⱼₖ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4748B"/>
                </a:solidFill>
              </a:rPr>
              <a:t> = round-trip latency (ms)</a:t>
            </a:r>
            <a:endParaRPr lang="en-US" sz="1050" dirty="0"/>
          </a:p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Training (s=T):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64748B"/>
                </a:solidFill>
              </a:rPr>
              <a:t>  τ = 0 → no latency cost</a:t>
            </a:r>
            <a:endParaRPr lang="en-US" sz="1050" dirty="0"/>
          </a:p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Inference (s=I):</a:t>
            </a:r>
            <a:endParaRPr lang="en-US" sz="105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  τ &gt; 0 → cost rises with distance</a:t>
            </a:r>
            <a:endParaRPr lang="en-US" sz="1050" dirty="0"/>
          </a:p>
        </p:txBody>
      </p:sp>
      <p:sp>
        <p:nvSpPr>
          <p:cNvPr id="18" name="TextBox 17"/>
          <p:cNvSpPr txBox="1"/>
          <p:nvPr/>
        </p:nvSpPr>
        <p:spPr>
          <a:xfrm>
            <a:off x="731520" y="1143000"/>
            <a:ext cx="4572000" cy="6400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14:m xmlns:a14="http://schemas.microsoft.com/office/drawing/2010/main">
              <m:oMathPara xmlns:m="http://schemas.openxmlformats.org/officeDocument/2006/math">
                <m:oMathParaPr>
                  <m:jc m:val="left"/>
                </m:oMathParaPr>
                <m:oMath>
                  <m:sSub>
                    <m:e>
                      <m:r>
                        <m:rPr>
                          <m:sty m:val="p"/>
                        </m:rPr>
                        <m:t xml:space="preserve">c</m:t>
                      </m:r>
                    </m:e>
                    <m:sub>
                      <m:r>
                        <m:rPr>
                          <m:sty m:val="p"/>
                        </m:rPr>
                        <m:t xml:space="preserve">j</m:t>
                      </m:r>
                    </m:sub>
                  </m:sSub>
                  <m:r>
                    <m:rPr>
                      <m:sty m:val="p"/>
                    </m:rPr>
                    <m:t xml:space="preserve"> = </m:t>
                  </m:r>
                  <m:r>
                    <m:rPr>
                      <m:sty m:val="p"/>
                    </m:rPr>
                    <m:t xml:space="preserve">γ</m:t>
                  </m:r>
                  <m:r>
                    <m:rPr>
                      <m:sty m:val="p"/>
                    </m:rPr>
                    <m:t xml:space="preserve"> · </m:t>
                  </m:r>
                  <m:r>
                    <m:rPr>
                      <m:sty m:val="p"/>
                    </m:rPr>
                    <m:t xml:space="preserve">PUE</m:t>
                  </m:r>
                  <m:d>
                    <m:dPr>
                      <m:begChr m:val="("/>
                      <m:endChr m:val=")"/>
                    </m:dPr>
                    <m:e>
                      <m:sSub>
                        <m:e>
                          <m:r>
                            <m:rPr>
                              <m:sty m:val="p"/>
                            </m:rPr>
                            <m:t xml:space="preserve">θ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m:t xml:space="preserve">j</m:t>
                          </m:r>
                        </m:sub>
                      </m:sSub>
                    </m:e>
                  </m:d>
                  <m:r>
                    <m:rPr>
                      <m:sty m:val="p"/>
                    </m:rPr>
                    <m:t xml:space="preserve"> · </m:t>
                  </m:r>
                  <m:sSubSup>
                    <m:e>
                      <m:r>
                        <m:rPr>
                          <m:sty m:val="p"/>
                        </m:rPr>
                        <m:t xml:space="preserve">p</m:t>
                      </m:r>
                    </m:e>
                    <m:sub>
                      <m:r>
                        <m:rPr>
                          <m:sty m:val="p"/>
                        </m:rPr>
                        <m:t xml:space="preserve">j</m:t>
                      </m:r>
                    </m:sub>
                    <m:sup>
                      <m:r>
                        <m:rPr>
                          <m:sty m:val="p"/>
                        </m:rPr>
                        <m:t xml:space="preserve">E</m:t>
                      </m:r>
                    </m:sup>
                  </m:sSubSup>
                  <m:r>
                    <m:rPr>
                      <m:sty m:val="p"/>
                    </m:rPr>
                    <m:t xml:space="preserve"> + </m:t>
                  </m:r>
                  <m:r>
                    <m:rPr>
                      <m:sty m:val="p"/>
                    </m:rPr>
                    <m:t xml:space="preserve">ρ</m:t>
                  </m:r>
                  <m:r>
                    <m:rPr>
                      <m:sty m:val="p"/>
                    </m:rPr>
                    <m:t xml:space="preserve"> + </m:t>
                  </m:r>
                  <m:r>
                    <m:rPr>
                      <m:sty m:val="p"/>
                    </m:rPr>
                    <m:t xml:space="preserve">η</m:t>
                  </m:r>
                  <m:r>
                    <m:rPr>
                      <m:sty m:val="p"/>
                    </m:rPr>
                    <m:t xml:space="preserve"> + </m:t>
                  </m:r>
                  <m:f>
                    <m:num>
                      <m:sSub>
                        <m:e>
                          <m:r>
                            <m:rPr>
                              <m:sty m:val="p"/>
                            </m:rPr>
                            <m:t xml:space="preserve">κ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m:t xml:space="preserve">j</m:t>
                          </m:r>
                        </m:sub>
                      </m:sSub>
                    </m:num>
                    <m:den>
                      <m:sSub>
                        <m:e>
                          <m:r>
                            <m:rPr>
                              <m:sty m:val="p"/>
                            </m:rPr>
                            <m:t xml:space="preserve">L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m:t xml:space="preserve">f</m:t>
                          </m:r>
                        </m:sub>
                      </m:sSub>
                      <m:r>
                        <m:rPr>
                          <m:sty m:val="p"/>
                        </m:rPr>
                        <m:t xml:space="preserve"> · </m:t>
                      </m:r>
                      <m:r>
                        <m:rPr>
                          <m:sty m:val="p"/>
                        </m:rPr>
                        <m:t xml:space="preserve">H</m:t>
                      </m:r>
                    </m:den>
                  </m:f>
                </m:oMath>
              </m:oMathPara>
            </a14:m>
          </a:p>
        </p:txBody>
      </p:sp>
      <p:sp>
        <p:nvSpPr>
          <p:cNvPr id="19" name="TextBox 18"/>
          <p:cNvSpPr txBox="1"/>
          <p:nvPr/>
        </p:nvSpPr>
        <p:spPr>
          <a:xfrm>
            <a:off x="731520" y="2697480"/>
            <a:ext cx="45720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14:m xmlns:a14="http://schemas.microsoft.com/office/drawing/2010/main">
              <m:oMathPara xmlns:m="http://schemas.openxmlformats.org/officeDocument/2006/math">
                <m:oMathParaPr>
                  <m:jc m:val="left"/>
                </m:oMathParaPr>
                <m:oMath>
                  <m:sSub>
                    <m:e>
                      <m:r>
                        <m:rPr>
                          <m:sty m:val="p"/>
                        </m:rPr>
                        <m:t xml:space="preserve">λ</m:t>
                      </m:r>
                    </m:e>
                    <m:sub>
                      <m:r>
                        <m:rPr>
                          <m:sty m:val="p"/>
                        </m:rPr>
                        <m:t xml:space="preserve">jk</m:t>
                      </m:r>
                    </m:sub>
                  </m:sSub>
                  <m:r>
                    <m:rPr>
                      <m:sty m:val="p"/>
                    </m:rPr>
                    <m:t xml:space="preserve"> = </m:t>
                  </m:r>
                  <m:sSub>
                    <m:e>
                      <m:r>
                        <m:rPr>
                          <m:sty m:val="p"/>
                        </m:rPr>
                        <m:t xml:space="preserve">α</m:t>
                      </m:r>
                    </m:e>
                    <m:sub>
                      <m:r>
                        <m:rPr>
                          <m:sty m:val="p"/>
                        </m:rPr>
                        <m:t xml:space="preserve">1</m:t>
                      </m:r>
                    </m:sub>
                  </m:sSub>
                  <m:r>
                    <m:rPr>
                      <m:sty m:val="p"/>
                    </m:rPr>
                    <m:t xml:space="preserve"> · </m:t>
                  </m:r>
                  <m:sSub>
                    <m:e>
                      <m:r>
                        <m:rPr>
                          <m:sty m:val="p"/>
                        </m:rPr>
                        <m:t xml:space="preserve">d</m:t>
                      </m:r>
                    </m:e>
                    <m:sub>
                      <m:r>
                        <m:rPr>
                          <m:sty m:val="p"/>
                        </m:rPr>
                        <m:t xml:space="preserve">jk</m:t>
                      </m:r>
                    </m:sub>
                  </m:sSub>
                  <m:r>
                    <m:rPr>
                      <m:sty m:val="p"/>
                    </m:rPr>
                    <m:t xml:space="preserve"> + </m:t>
                  </m:r>
                  <m:sSub>
                    <m:e>
                      <m:r>
                        <m:rPr>
                          <m:sty m:val="p"/>
                        </m:rPr>
                        <m:t xml:space="preserve">α</m:t>
                      </m:r>
                    </m:e>
                    <m:sub>
                      <m:r>
                        <m:rPr>
                          <m:sty m:val="p"/>
                        </m:rPr>
                        <m:t xml:space="preserve">2</m:t>
                      </m:r>
                    </m:sub>
                  </m:sSub>
                  <m:r>
                    <m:rPr>
                      <m:sty m:val="p"/>
                    </m:rPr>
                    <m:t xml:space="preserve"> · </m:t>
                  </m:r>
                  <m:d>
                    <m:dPr>
                      <m:begChr m:val="("/>
                      <m:endChr m:val=")"/>
                    </m:dPr>
                    <m:e>
                      <m:r>
                        <m:rPr>
                          <m:sty m:val="p"/>
                        </m:rPr>
                        <m:t xml:space="preserve">1 − </m:t>
                      </m:r>
                      <m:sSub>
                        <m:e>
                          <m:r>
                            <m:rPr>
                              <m:sty m:val="p"/>
                            </m:rPr>
                            <m:t xml:space="preserve"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m:t xml:space="preserve">jk</m:t>
                          </m:r>
                        </m:sub>
                      </m:sSub>
                    </m:e>
                  </m:d>
                  <m:r>
                    <m:rPr>
                      <m:sty m:val="p"/>
                    </m:rPr>
                    <m:t xml:space="preserve"> + </m:t>
                  </m:r>
                  <m:sSub>
                    <m:e>
                      <m:r>
                        <m:rPr>
                          <m:sty m:val="p"/>
                        </m:rPr>
                        <m:t xml:space="preserve">α</m:t>
                      </m:r>
                    </m:e>
                    <m:sub>
                      <m:r>
                        <m:rPr>
                          <m:sty m:val="p"/>
                        </m:rPr>
                        <m:t xml:space="preserve">3</m:t>
                      </m:r>
                    </m:sub>
                  </m:sSub>
                  <m:r>
                    <m:rPr>
                      <m:sty m:val="p"/>
                    </m:rPr>
                    <m:t xml:space="preserve"> · </m:t>
                  </m:r>
                  <m:sSub>
                    <m:e>
                      <m:r>
                        <m:rPr>
                          <m:sty m:val="p"/>
                        </m:rPr>
                        <m:t xml:space="preserve">S</m:t>
                      </m:r>
                    </m:e>
                    <m:sub>
                      <m:r>
                        <m:rPr>
                          <m:sty m:val="p"/>
                        </m:rPr>
                        <m:t xml:space="preserve">jk</m:t>
                      </m:r>
                    </m:sub>
                  </m:sSub>
                </m:oMath>
              </m:oMathPara>
            </a14:m>
          </a:p>
        </p:txBody>
      </p:sp>
      <p:sp>
        <p:nvSpPr>
          <p:cNvPr id="20" name="TextBox 19"/>
          <p:cNvSpPr txBox="1"/>
          <p:nvPr/>
        </p:nvSpPr>
        <p:spPr>
          <a:xfrm>
            <a:off x="731520" y="4114800"/>
            <a:ext cx="50292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14:m xmlns:a14="http://schemas.microsoft.com/office/drawing/2010/main">
              <m:oMathPara xmlns:m="http://schemas.openxmlformats.org/officeDocument/2006/math">
                <m:oMathParaPr>
                  <m:jc m:val="left"/>
                </m:oMathParaPr>
                <m:oMath>
                  <m:sSubSup>
                    <m:e>
                      <m:r>
                        <m:rPr>
                          <m:sty m:val="p"/>
                        </m:rPr>
                        <m:t xml:space="preserve">P</m:t>
                      </m:r>
                    </m:e>
                    <m:sub>
                      <m:r>
                        <m:rPr>
                          <m:sty m:val="p"/>
                        </m:rPr>
                        <m:t xml:space="preserve">jk</m:t>
                      </m:r>
                    </m:sub>
                    <m:sup>
                      <m:r>
                        <m:rPr>
                          <m:sty m:val="p"/>
                        </m:rPr>
                        <m:t xml:space="preserve">s</m:t>
                      </m:r>
                    </m:sup>
                  </m:sSubSup>
                  <m:r>
                    <m:rPr>
                      <m:sty m:val="p"/>
                    </m:rPr>
                    <m:t xml:space="preserve"> = </m:t>
                  </m:r>
                  <m:sSub>
                    <m:e>
                      <m:r>
                        <m:rPr>
                          <m:sty m:val="p"/>
                        </m:rPr>
                        <m:t xml:space="preserve">c</m:t>
                      </m:r>
                    </m:e>
                    <m:sub>
                      <m:r>
                        <m:rPr>
                          <m:sty m:val="p"/>
                        </m:rPr>
                        <m:t xml:space="preserve">j</m:t>
                      </m:r>
                    </m:sub>
                  </m:sSub>
                  <m:r>
                    <m:rPr>
                      <m:sty m:val="p"/>
                    </m:rPr>
                    <m:t xml:space="preserve"> · </m:t>
                  </m:r>
                  <m:d>
                    <m:dPr>
                      <m:begChr m:val="("/>
                      <m:endChr m:val=")"/>
                    </m:dPr>
                    <m:e>
                      <m:r>
                        <m:rPr>
                          <m:sty m:val="p"/>
                        </m:rPr>
                        <m:t xml:space="preserve">1 + </m:t>
                      </m:r>
                      <m:sSub>
                        <m:e>
                          <m:r>
                            <m:rPr>
                              <m:sty m:val="p"/>
                            </m:rPr>
                            <m:t xml:space="preserve">λ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m:t xml:space="preserve">jk</m:t>
                          </m:r>
                        </m:sub>
                      </m:sSub>
                    </m:e>
                  </m:d>
                  <m:r>
                    <m:rPr>
                      <m:sty m:val="p"/>
                    </m:rPr>
                    <m:t xml:space="preserve"> · </m:t>
                  </m:r>
                  <m:d>
                    <m:dPr>
                      <m:begChr m:val="("/>
                      <m:endChr m:val=")"/>
                    </m:dPr>
                    <m:e>
                      <m:r>
                        <m:rPr>
                          <m:sty m:val="p"/>
                        </m:rPr>
                        <m:t xml:space="preserve">1 + </m:t>
                      </m:r>
                      <m:r>
                        <m:rPr>
                          <m:sty m:val="p"/>
                        </m:rPr>
                        <m:t xml:space="preserve">τ</m:t>
                      </m:r>
                      <m:r>
                        <m:rPr>
                          <m:sty m:val="p"/>
                        </m:rPr>
                        <m:t xml:space="preserve"> · </m:t>
                      </m:r>
                      <m:sSub>
                        <m:e>
                          <m:r>
                            <m:rPr>
                              <m:sty m:val="p"/>
                            </m:rPr>
                            <m:t xml:space="preserve">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m:t xml:space="preserve">jk</m:t>
                          </m:r>
                        </m:sub>
                      </m:sSub>
                      <m:r>
                        <m:rPr>
                          <m:sty m:val="p"/>
                        </m:rPr>
                        <m:t xml:space="preserve"> · </m:t>
                      </m:r>
                      <m:sSub>
                        <m:e>
                          <m:r>
                            <m:rPr>
                              <m:sty m:val="p"/>
                            </m:rPr>
                            <m:t xml:space="preserve">𝟏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m:t xml:space="preserve">s=I</m:t>
                          </m:r>
                        </m:sub>
                      </m:sSub>
                    </m:e>
                  </m:d>
                </m:oMath>
              </m:oMathPara>
            </a14:m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Model: Equilibrium &amp; Welfare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57200" y="731520"/>
            <a:ext cx="64008" cy="10058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777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(4)  Demand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43600" y="7772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ωₖ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64748B"/>
                </a:solidFill>
              </a:rPr>
              <a:t> = share of installed DC capacity (MW)</a:t>
            </a:r>
            <a:endParaRPr lang="en-US" sz="105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Splits: Dᵀ = αΩωₖ  (training)
Dᴵ = (1−α)Ωωₖ  (inference)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57200" y="1874520"/>
            <a:ext cx="82296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457200" y="1874520"/>
            <a:ext cx="64008" cy="1234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31520" y="1920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(5)  Sourcing &amp; Capacity Constraint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943600" y="19202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64748B"/>
                </a:solidFill>
              </a:rPr>
              <a:t>Each buyer picks cheapest delivered source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64748B"/>
                </a:solidFill>
              </a:rPr>
              <a:t>GPU-hours allocated to highest-margin use</a:t>
            </a:r>
            <a:endParaRPr lang="en-US" sz="105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Subject to grid capacity ceiling k̄ⱼ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57200" y="324612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457200" y="3246120"/>
            <a:ext cx="64008" cy="9144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731520" y="32735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(6)  Training Market Clearing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400800" y="32918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64748B"/>
                </a:solidFill>
              </a:rPr>
              <a:t>Price = marginal exporter's cost</a:t>
            </a:r>
            <a:endParaRPr lang="en-US" sz="105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Infra-marginal exporters earn rents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457200" y="4343400"/>
            <a:ext cx="8229600" cy="685800"/>
          </a:xfrm>
          <a:prstGeom prst="rect">
            <a:avLst/>
          </a:prstGeom>
          <a:solidFill>
            <a:srgbClr val="0B1D2E"/>
          </a:solidFill>
          <a:ln/>
        </p:spPr>
        <p:txBody>
          <a:bodyPr/>
          <a:p/>
        </p:txBody>
      </p:sp>
      <p:sp>
        <p:nvSpPr>
          <p:cNvPr id="19" name="Text 14"/>
          <p:cNvSpPr/>
          <p:nvPr/>
        </p:nvSpPr>
        <p:spPr>
          <a:xfrm>
            <a:off x="640080" y="4343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Welfare: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6492240" y="434340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markup + allocative inefficiency</a:t>
            </a:r>
            <a:endParaRPr lang="en-US" sz="105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domestic production</a:t>
            </a:r>
            <a:endParaRPr lang="en-US" sz="1050" dirty="0"/>
          </a:p>
        </p:txBody>
      </p:sp>
      <p:sp>
        <p:nvSpPr>
          <p:cNvPr id="22" name="TextBox 21"/>
          <p:cNvSpPr txBox="1"/>
          <p:nvPr/>
        </p:nvSpPr>
        <p:spPr>
          <a:xfrm>
            <a:off x="731520" y="960120"/>
            <a:ext cx="4572000" cy="6400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14:m xmlns:a14="http://schemas.microsoft.com/office/drawing/2010/main">
              <m:oMathPara xmlns:m="http://schemas.openxmlformats.org/officeDocument/2006/math">
                <m:oMathParaPr>
                  <m:jc m:val="left"/>
                </m:oMathParaPr>
                <m:oMath>
                  <m:sSub>
                    <m:e>
                      <m:r>
                        <m:rPr>
                          <m:sty m:val="p"/>
                        </m:rPr>
                        <m:t xml:space="preserve">D</m:t>
                      </m:r>
                    </m:e>
                    <m:sub>
                      <m:r>
                        <m:rPr>
                          <m:sty m:val="p"/>
                        </m:rPr>
                        <m:t xml:space="preserve">k</m:t>
                      </m:r>
                    </m:sub>
                  </m:sSub>
                  <m:r>
                    <m:rPr>
                      <m:sty m:val="p"/>
                    </m:rPr>
                    <m:t xml:space="preserve"> = </m:t>
                  </m:r>
                  <m:r>
                    <m:rPr>
                      <m:sty m:val="p"/>
                    </m:rPr>
                    <m:t xml:space="preserve">Ω</m:t>
                  </m:r>
                  <m:r>
                    <m:rPr>
                      <m:sty m:val="p"/>
                    </m:rPr>
                    <m:t xml:space="preserve"> · </m:t>
                  </m:r>
                  <m:sSub>
                    <m:e>
                      <m:r>
                        <m:rPr>
                          <m:sty m:val="p"/>
                        </m:rPr>
                        <m:t xml:space="preserve">ω</m:t>
                      </m:r>
                    </m:e>
                    <m:sub>
                      <m:r>
                        <m:rPr>
                          <m:sty m:val="p"/>
                        </m:rPr>
                        <m:t xml:space="preserve">k</m:t>
                      </m:r>
                    </m:sub>
                  </m:sSub>
                  <m:r>
                    <m:rPr>
                      <m:sty m:val="p"/>
                    </m:rPr>
                    <m:t xml:space="preserve">,     </m:t>
                  </m:r>
                  <m:sSub>
                    <m:e>
                      <m:r>
                        <m:rPr>
                          <m:sty m:val="p"/>
                        </m:rPr>
                        <m:t xml:space="preserve">ω</m:t>
                      </m:r>
                    </m:e>
                    <m:sub>
                      <m:r>
                        <m:rPr>
                          <m:sty m:val="p"/>
                        </m:rPr>
                        <m:t xml:space="preserve">k</m:t>
                      </m:r>
                    </m:sub>
                  </m:sSub>
                  <m:r>
                    <m:rPr>
                      <m:sty m:val="p"/>
                    </m:rPr>
                    <m:t xml:space="preserve"> = </m:t>
                  </m:r>
                  <m:f>
                    <m:num>
                      <m:sSub>
                        <m:e>
                          <m:acc>
                            <m:accPr>
                              <m:chr m:val="̄"/>
                            </m:accPr>
                            <m:e>
                              <m:r>
                                <m:rPr>
                                  <m:sty m:val="p"/>
                                </m:rPr>
                                <m:t xml:space="preserve">k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m:t xml:space="preserve">k</m:t>
                          </m:r>
                        </m:sub>
                      </m:sSub>
                    </m:num>
                    <m:den>
                      <m:sSub>
                        <m:e>
                          <m:r>
                            <m:rPr>
                              <m:sty m:val="p"/>
                            </m:rPr>
                            <m:t xml:space="preserve">∑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m:t xml:space="preserve">k′</m:t>
                          </m:r>
                        </m:sub>
                      </m:sSub>
                      <m:sSub>
                        <m:e>
                          <m:acc>
                            <m:accPr>
                              <m:chr m:val="̄"/>
                            </m:accPr>
                            <m:e>
                              <m:r>
                                <m:rPr>
                                  <m:sty m:val="p"/>
                                </m:rPr>
                                <m:t xml:space="preserve">k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m:t xml:space="preserve">k′</m:t>
                          </m:r>
                        </m:sub>
                      </m:sSub>
                    </m:den>
                  </m:f>
                </m:oMath>
              </m:oMathPara>
            </a14:m>
          </a:p>
        </p:txBody>
      </p:sp>
      <p:sp>
        <p:nvSpPr>
          <p:cNvPr id="23" name="TextBox 22"/>
          <p:cNvSpPr txBox="1"/>
          <p:nvPr/>
        </p:nvSpPr>
        <p:spPr>
          <a:xfrm>
            <a:off x="731520" y="2331720"/>
            <a:ext cx="5486400" cy="6400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14:m xmlns:a14="http://schemas.microsoft.com/office/drawing/2010/main">
              <m:oMathPara xmlns:m="http://schemas.openxmlformats.org/officeDocument/2006/math">
                <m:oMathParaPr>
                  <m:jc m:val="left"/>
                </m:oMathParaPr>
                <m:oMath>
                  <m:sSubSup>
                    <m:e>
                      <m:r>
                        <m:rPr>
                          <m:sty m:val="p"/>
                        </m:rPr>
                        <m:t xml:space="preserve">j</m:t>
                      </m:r>
                    </m:e>
                    <m:sub>
                      <m:r>
                        <m:rPr>
                          <m:sty m:val="p"/>
                        </m:rPr>
                        <m:t xml:space="preserve">k</m:t>
                      </m:r>
                    </m:sub>
                    <m:sup>
                      <m:r>
                        <m:rPr>
                          <m:sty m:val="p"/>
                        </m:rPr>
                        <m:t xml:space="preserve">s∗</m:t>
                      </m:r>
                    </m:sup>
                  </m:sSubSup>
                  <m:r>
                    <m:rPr>
                      <m:sty m:val="p"/>
                    </m:rPr>
                    <m:t xml:space="preserve"> = </m:t>
                  </m:r>
                  <m:limLow>
                    <m:e>
                      <m:r>
                        <m:rPr>
                          <m:sty m:val="p"/>
                        </m:rPr>
                        <m:t xml:space="preserve">arg min</m:t>
                      </m:r>
                    </m:e>
                    <m:lim>
                      <m:r>
                        <m:rPr>
                          <m:sty m:val="p"/>
                        </m:rPr>
                        <m:t xml:space="preserve">j</m:t>
                      </m:r>
                    </m:lim>
                  </m:limLow>
                  <m:r>
                    <m:rPr>
                      <m:sty m:val="p"/>
                    </m:rPr>
                    <m:t xml:space="preserve"> </m:t>
                  </m:r>
                  <m:sSubSup>
                    <m:e>
                      <m:r>
                        <m:rPr>
                          <m:sty m:val="p"/>
                        </m:rPr>
                        <m:t xml:space="preserve">P</m:t>
                      </m:r>
                    </m:e>
                    <m:sub>
                      <m:r>
                        <m:rPr>
                          <m:sty m:val="p"/>
                        </m:rPr>
                        <m:t xml:space="preserve">jk</m:t>
                      </m:r>
                    </m:sub>
                    <m:sup>
                      <m:r>
                        <m:rPr>
                          <m:sty m:val="p"/>
                        </m:rPr>
                        <m:t xml:space="preserve">s</m:t>
                      </m:r>
                    </m:sup>
                  </m:sSubSup>
                  <m:r>
                    <m:rPr>
                      <m:sty m:val="p"/>
                    </m:rPr>
                    <m:t xml:space="preserve">    s.t.  </m:t>
                  </m:r>
                  <m:sSub>
                    <m:e>
                      <m:r>
                        <m:rPr>
                          <m:sty m:val="p"/>
                        </m:rPr>
                        <m:t xml:space="preserve">∑</m:t>
                      </m:r>
                    </m:e>
                    <m:sub>
                      <m:r>
                        <m:rPr>
                          <m:sty m:val="p"/>
                        </m:rPr>
                        <m:t xml:space="preserve">s</m:t>
                      </m:r>
                    </m:sub>
                  </m:sSub>
                  <m:sSubSup>
                    <m:e>
                      <m:r>
                        <m:rPr>
                          <m:sty m:val="p"/>
                        </m:rPr>
                        <m:t xml:space="preserve">Q</m:t>
                      </m:r>
                    </m:e>
                    <m:sub>
                      <m:r>
                        <m:rPr>
                          <m:sty m:val="p"/>
                        </m:rPr>
                        <m:t xml:space="preserve">j</m:t>
                      </m:r>
                    </m:sub>
                    <m:sup>
                      <m:r>
                        <m:rPr>
                          <m:sty m:val="p"/>
                        </m:rPr>
                        <m:t xml:space="preserve">s</m:t>
                      </m:r>
                    </m:sup>
                  </m:sSubSup>
                  <m:r>
                    <m:rPr>
                      <m:sty m:val="p"/>
                    </m:rPr>
                    <m:t xml:space="preserve"> ≤ </m:t>
                  </m:r>
                  <m:sSub>
                    <m:e>
                      <m:acc>
                        <m:accPr>
                          <m:chr m:val="̄"/>
                        </m:accPr>
                        <m:e>
                          <m:r>
                            <m:rPr>
                              <m:sty m:val="p"/>
                            </m:rPr>
                            <m:t xml:space="preserve">k</m:t>
                          </m:r>
                        </m:e>
                      </m:acc>
                    </m:e>
                    <m:sub>
                      <m:r>
                        <m:rPr>
                          <m:sty m:val="p"/>
                        </m:rPr>
                        <m:t xml:space="preserve">j</m:t>
                      </m:r>
                    </m:sub>
                  </m:sSub>
                </m:oMath>
              </m:oMathPara>
            </a14:m>
          </a:p>
        </p:txBody>
      </p:sp>
      <p:sp>
        <p:nvSpPr>
          <p:cNvPr id="24" name="TextBox 23"/>
          <p:cNvSpPr txBox="1"/>
          <p:nvPr/>
        </p:nvSpPr>
        <p:spPr>
          <a:xfrm>
            <a:off x="731520" y="3291840"/>
            <a:ext cx="5486400" cy="6400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14:m xmlns:a14="http://schemas.microsoft.com/office/drawing/2010/main">
              <m:oMathPara xmlns:m="http://schemas.openxmlformats.org/officeDocument/2006/math">
                <m:oMathParaPr>
                  <m:jc m:val="left"/>
                </m:oMathParaPr>
                <m:oMath>
                  <m:sSup>
                    <m:e>
                      <m:r>
                        <m:rPr>
                          <m:sty m:val="p"/>
                        </m:rPr>
                        <m:t xml:space="preserve">p</m:t>
                      </m:r>
                    </m:e>
                    <m:sup>
                      <m:r>
                        <m:rPr>
                          <m:sty m:val="p"/>
                        </m:rPr>
                        <m:t xml:space="preserve">T</m:t>
                      </m:r>
                    </m:sup>
                  </m:sSup>
                  <m:r>
                    <m:rPr>
                      <m:sty m:val="p"/>
                    </m:rPr>
                    <m:t xml:space="preserve"> = </m:t>
                  </m:r>
                  <m:sSub>
                    <m:e>
                      <m:r>
                        <m:rPr>
                          <m:sty m:val="p"/>
                        </m:rPr>
                        <m:t xml:space="preserve">c</m:t>
                      </m:r>
                    </m:e>
                    <m:sub>
                      <m:r>
                        <m:rPr>
                          <m:sty m:val="p"/>
                        </m:rPr>
                        <m:t xml:space="preserve">mᵀ</m:t>
                      </m:r>
                    </m:sub>
                  </m:sSub>
                  <m:r>
                    <m:rPr>
                      <m:sty m:val="p"/>
                    </m:rPr>
                    <m:t xml:space="preserve">,    where  </m:t>
                  </m:r>
                  <m:nary>
                    <m:naryPr>
                      <m:chr m:val="∑"/>
                    </m:naryPr>
                    <m:sub>
                      <m:r>
                        <m:rPr>
                          <m:sty m:val="p"/>
                        </m:rPr>
                        <m:t xml:space="preserve">j = 1</m:t>
                      </m:r>
                    </m:sub>
                    <m:sup>
                      <m:sSup>
                        <m:e>
                          <m:r>
                            <m:rPr>
                              <m:sty m:val="p"/>
                            </m:rPr>
                            <m:t xml:space="preserve">m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m:t xml:space="preserve">T</m:t>
                          </m:r>
                        </m:sup>
                      </m:sSup>
                    </m:sup>
                    <m:e>
                      <m:sSub>
                        <m:e>
                          <m:acc>
                            <m:accPr>
                              <m:chr m:val="̄"/>
                            </m:accPr>
                            <m:e>
                              <m:r>
                                <m:rPr>
                                  <m:sty m:val="p"/>
                                </m:rPr>
                                <m:t xml:space="preserve">k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m:t xml:space="preserve">j</m:t>
                          </m:r>
                        </m:sub>
                      </m:sSub>
                    </m:e>
                  </m:nary>
                  <m:r>
                    <m:rPr>
                      <m:sty m:val="p"/>
                    </m:rPr>
                    <m:t xml:space="preserve"> ≥ </m:t>
                  </m:r>
                  <m:sSubSup>
                    <m:e>
                      <m:r>
                        <m:rPr>
                          <m:sty m:val="p"/>
                        </m:rPr>
                        <m:t xml:space="preserve">D</m:t>
                      </m:r>
                    </m:e>
                    <m:sub>
                      <m:r>
                        <m:rPr>
                          <m:sty m:val="p"/>
                        </m:rPr>
                        <m:t xml:space="preserve">export</m:t>
                      </m:r>
                    </m:sub>
                    <m:sup>
                      <m:r>
                        <m:rPr>
                          <m:sty m:val="p"/>
                        </m:rPr>
                        <m:t xml:space="preserve">T</m:t>
                      </m:r>
                    </m:sup>
                  </m:sSubSup>
                </m:oMath>
              </m:oMathPara>
            </a14:m>
          </a:p>
        </p:txBody>
      </p:sp>
      <p:sp>
        <p:nvSpPr>
          <p:cNvPr id="25" name="TextBox 24"/>
          <p:cNvSpPr txBox="1"/>
          <p:nvPr/>
        </p:nvSpPr>
        <p:spPr>
          <a:xfrm>
            <a:off x="1554480" y="4572000"/>
            <a:ext cx="45720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14:m xmlns:a14="http://schemas.microsoft.com/office/drawing/2010/main">
              <m:oMathPara xmlns:m="http://schemas.openxmlformats.org/officeDocument/2006/math">
                <m:oMathParaPr>
                  <m:jc m:val="left"/>
                </m:oMathParaPr>
                <m:oMath>
                  <m:r>
                    <m:rPr>
                      <m:sty m:val="p"/>
                    </m:rPr>
                    <m:t xml:space="preserve">Δ</m:t>
                  </m:r>
                  <m:sSub>
                    <m:e>
                      <m:r>
                        <m:rPr>
                          <m:sty m:val="p"/>
                        </m:rPr>
                        <m:t xml:space="preserve">W</m:t>
                      </m:r>
                    </m:e>
                    <m:sub>
                      <m:r>
                        <m:rPr>
                          <m:sty m:val="p"/>
                        </m:rPr>
                        <m:t xml:space="preserve">k</m:t>
                      </m:r>
                    </m:sub>
                  </m:sSub>
                  <m:r>
                    <m:rPr>
                      <m:sty m:val="p"/>
                    </m:rPr>
                    <m:t xml:space="preserve"> = </m:t>
                  </m:r>
                  <m:sSub>
                    <m:e>
                      <m:r>
                        <m:rPr>
                          <m:sty m:val="p"/>
                        </m:rPr>
                        <m:t xml:space="preserve">∑</m:t>
                      </m:r>
                    </m:e>
                    <m:sub>
                      <m:r>
                        <m:rPr>
                          <m:sty m:val="p"/>
                        </m:rPr>
                        <m:t xml:space="preserve">s</m:t>
                      </m:r>
                    </m:sub>
                  </m:sSub>
                  <m:sSubSup>
                    <m:e>
                      <m:r>
                        <m:rPr>
                          <m:sty m:val="p"/>
                        </m:rPr>
                        <m:t xml:space="preserve">D</m:t>
                      </m:r>
                    </m:e>
                    <m:sub>
                      <m:r>
                        <m:rPr>
                          <m:sty m:val="p"/>
                        </m:rPr>
                        <m:t xml:space="preserve">k</m:t>
                      </m:r>
                    </m:sub>
                    <m:sup>
                      <m:r>
                        <m:rPr>
                          <m:sty m:val="p"/>
                        </m:rPr>
                        <m:t xml:space="preserve">s</m:t>
                      </m:r>
                    </m:sup>
                  </m:sSubSup>
                  <m:r>
                    <m:rPr>
                      <m:sty m:val="p"/>
                    </m:rPr>
                    <m:t xml:space="preserve"> </m:t>
                  </m:r>
                  <m:d>
                    <m:dPr>
                      <m:begChr m:val="["/>
                      <m:endChr m:val="]"/>
                    </m:dPr>
                    <m:e>
                      <m:sSubSup>
                        <m:e>
                          <m:r>
                            <m:rPr>
                              <m:sty m:val="p"/>
                            </m:rPr>
                            <m:t xml:space="preserve"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m:t xml:space="preserve">actual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m:t xml:space="preserve">s</m:t>
                          </m:r>
                        </m:sup>
                      </m:sSubSup>
                      <m:d>
                        <m:dPr>
                          <m:begChr m:val="("/>
                          <m:endChr m:val=")"/>
                        </m:dPr>
                        <m:e>
                          <m:r>
                            <m:rPr>
                              <m:sty m:val="p"/>
                            </m:rPr>
                            <m:t xml:space="preserve">k</m:t>
                          </m:r>
                        </m:e>
                      </m:d>
                      <m:r>
                        <m:rPr>
                          <m:sty m:val="p"/>
                        </m:rPr>
                        <m:t xml:space="preserve"> − </m:t>
                      </m:r>
                      <m:sSubSup>
                        <m:e>
                          <m:r>
                            <m:rPr>
                              <m:sty m:val="p"/>
                            </m:rPr>
                            <m:t xml:space="preserve"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m:t xml:space="preserve">free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m:t xml:space="preserve">s</m:t>
                          </m:r>
                        </m:sup>
                      </m:sSubSup>
                      <m:d>
                        <m:dPr>
                          <m:begChr m:val="("/>
                          <m:endChr m:val=")"/>
                        </m:dPr>
                        <m:e>
                          <m:r>
                            <m:rPr>
                              <m:sty m:val="p"/>
                            </m:rPr>
                            <m:t xml:space="preserve">k</m:t>
                          </m:r>
                        </m:e>
                      </m:d>
                    </m:e>
                  </m:d>
                </m:oMath>
              </m:oMathPara>
            </a14:m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Demand &amp; Capacity Constraints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3931920" cy="3794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57200" y="731520"/>
            <a:ext cx="393192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85800" y="822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demand is defined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1280160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85800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2344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spending Ω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cloud compute market (~$90B/yr)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1874520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8580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18288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shares  ωₖ = k̄ₖ / Σk̄ₖ'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Proxied by installed DC capacity (MW)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~43%, China ~26%, EU ~15%, RoW ~36%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2606040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85800" y="2606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25603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/ inference split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Dᵀ = α · Ω · ωₖ     (latency-insensitive)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Dᴵ  = (1−α) · Ω · ωₖ  (latency-sensitive)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α = 50% training, 50% inference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" y="352044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shares are fixed — the model determines who supplies each country's demand, not how much each country demands.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731520"/>
            <a:ext cx="4023360" cy="3794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4663440" y="731520"/>
            <a:ext cx="402336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892040" y="822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capacity constraints work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937760" y="3246120"/>
            <a:ext cx="548640" cy="777240"/>
          </a:xfrm>
          <a:prstGeom prst="rect">
            <a:avLst/>
          </a:prstGeom>
          <a:solidFill>
            <a:srgbClr val="4DD0E1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937760" y="379476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KGZ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937760" y="308152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$1.58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5541264" y="3108960"/>
            <a:ext cx="1005840" cy="914400"/>
          </a:xfrm>
          <a:prstGeom prst="rect">
            <a:avLst/>
          </a:prstGeom>
          <a:solidFill>
            <a:srgbClr val="26C6DA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541264" y="37947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541264" y="294436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$1.59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6601968" y="3017520"/>
            <a:ext cx="411480" cy="100584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601968" y="379476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6601968" y="28529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$1.60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7068312" y="2926080"/>
            <a:ext cx="640080" cy="1097280"/>
          </a:xfrm>
          <a:prstGeom prst="rect">
            <a:avLst/>
          </a:prstGeom>
          <a:solidFill>
            <a:srgbClr val="00ACC1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7068312" y="379476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7068312" y="276148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$1.61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7763256" y="2743200"/>
            <a:ext cx="502920" cy="1280160"/>
          </a:xfrm>
          <a:prstGeom prst="rect">
            <a:avLst/>
          </a:prstGeom>
          <a:solidFill>
            <a:srgbClr val="0097A7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7763256" y="379476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7763256" y="257860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$1.65+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937760" y="406908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cumulative capacity (GPU-hours) →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846320" y="2926080"/>
            <a:ext cx="3657600" cy="0"/>
          </a:xfrm>
          <a:prstGeom prst="line">
            <a:avLst/>
          </a:prstGeom>
          <a:noFill/>
          <a:ln w="19050">
            <a:solidFill>
              <a:srgbClr val="E53935"/>
            </a:solidFill>
            <a:prstDash val="dash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7132320" y="269748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pᵀ = marginal entrant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983480" y="3227832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 rents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892040" y="1188720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country has a capacity ceiling k̄ⱼ 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(grid power + permitting + connectivity)</a:t>
            </a:r>
            <a:endParaRPr lang="en-US" sz="110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constraints: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cheapest country serves all demand, pᵀ = c₁, zero rents</a:t>
            </a:r>
            <a:endParaRPr lang="en-US" sz="110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constraints: 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cheapest fills up → price rises to marginal entrant's cost → infra-marginal exporters earn rents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the Cost Spread Is Narrow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88720"/>
          <a:ext cx="50292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852160" y="1188720"/>
            <a:ext cx="2926080" cy="1828800"/>
          </a:xfrm>
          <a:prstGeom prst="rect">
            <a:avLst/>
          </a:prstGeom>
          <a:solidFill>
            <a:srgbClr val="0B1D2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5852160" y="13716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~90%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6035040" y="21031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unit cost is hardware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identical across countries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852160" y="3291840"/>
            <a:ext cx="29260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852160" y="3291840"/>
            <a:ext cx="64008" cy="1371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6"/>
          <p:cNvSpPr/>
          <p:nvPr/>
        </p:nvSpPr>
        <p:spPr>
          <a:xfrm>
            <a:off x="6126480" y="33832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12–20%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6126480" y="388620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cross-country cost spread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narrower than virtually any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tradable sector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Equilibrium Regimes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nine possible combinations, only five arise in equilibrium (Proposition 1)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78638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097280"/>
                <a:gridCol w="1097280"/>
                <a:gridCol w="475488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Inference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Cheapest producers — global training + regional inference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Regional inference hubs — not cheap enough for global training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Domestic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 training, produce inference domestically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Domestic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Domestic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sovereignty premium — produce both domestically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High-cost countries — import both services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44805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remaining four combinations (e.g., training exporter + inference importer) are ruled out by cost ordering.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 Exporters ⊂ Inference Exporters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Proposition 4: every training exporter also exports inference — but not vice versa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4572000" cy="3017520"/>
          </a:xfrm>
          <a:prstGeom prst="ellipse">
            <a:avLst/>
          </a:prstGeom>
          <a:solidFill>
            <a:srgbClr val="E0F7FA">
              <a:alpha val="60000"/>
            </a:srgbClr>
          </a:solidFill>
          <a:ln w="3175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143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Exporters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371600" y="1600200"/>
            <a:ext cx="2926080" cy="2011680"/>
          </a:xfrm>
          <a:prstGeom prst="ellipse">
            <a:avLst/>
          </a:prstGeom>
          <a:solidFill>
            <a:srgbClr val="B2EBF2">
              <a:alpha val="80000"/>
            </a:srgbClr>
          </a:solidFill>
          <a:ln w="31750">
            <a:solidFill>
              <a:srgbClr val="0288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20240" y="18745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103120" y="24231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03120" y="26791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Kyrgyzstan†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8803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Kosovo†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31089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Finland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749040" y="28803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Norway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749040" y="31089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468880" y="2971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463040" y="35204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0" y="1051560"/>
            <a:ext cx="338328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0" y="1051560"/>
            <a:ext cx="64008" cy="1508760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18" name="Text 16"/>
          <p:cNvSpPr/>
          <p:nvPr/>
        </p:nvSpPr>
        <p:spPr>
          <a:xfrm>
            <a:off x="5715000" y="10972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nesting holds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715000" y="1389888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has no distance penalty (τ = 0), so a training exporter wins the </a:t>
            </a:r>
            <a:pPr indent="0" marL="0">
              <a:buNone/>
            </a:pPr>
            <a:r>
              <a:rPr lang="en-US" sz="11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</a:t>
            </a:r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cost competition.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same cost advantage dominates the latency markup for nearby buyers → it also wins inference locally.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0" y="2743200"/>
            <a:ext cx="338328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0" y="2743200"/>
            <a:ext cx="64008" cy="1417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5715000" y="27889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not vice versa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715000" y="3081528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inference exporter only needs to beat neighbors within the latency threshold.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may not be cheap enough to win the global training market, where every country competes head-to-head on cost alone.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solidFill>
            <a:srgbClr val="0B1D2E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3434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Implication: regimes EI, ED, and DE cannot arise — the five equilibrium regimes in Proposition 1 are the only ones possible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Raw Tariffs vs Cost-Recovery (Table 3)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Subsidized tariffs replaced with long-run marginal cost — 13 countries adjusted, 40 change trade regimes</a:t>
            </a:r>
            <a:endParaRPr lang="en-US" sz="1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1005840"/>
          <a:ext cx="68580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371600"/>
                <a:gridCol w="731520"/>
                <a:gridCol w="640080"/>
                <a:gridCol w="411480"/>
                <a:gridCol w="1371600"/>
                <a:gridCol w="731520"/>
                <a:gridCol w="64008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(1) Raw Tariffs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$/hr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(2) Cost-Recovery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$/hr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2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$1.56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DD*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Kyrgyzstan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$1.58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Turkmenistan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$1.57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DD*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Canada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$1.59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Ethiopia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$1.58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Ethiopia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$1.59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Kyrgyzstan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$1.58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Kosovo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Egypt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$1.58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Tajikistan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Algeria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$1.59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Montenegro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Canada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$1.59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$1.61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Russia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$1.59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DD*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Ukraine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$1.61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 Africa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Argentina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$1.61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Kosovo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Colombia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$1.61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 = training + inference exporter    IE = inference exporter    DD = domestic    II = full importer    * = sanctioned    † = developing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Sovereignty Reshapes Everything (Table 3)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Bilateral sovereignty premia shift most developing countries from exporters to domestic producers</a:t>
            </a:r>
            <a:endParaRPr lang="en-US" sz="1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463040" y="960120"/>
          <a:ext cx="68580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685800"/>
                <a:gridCol w="594360"/>
                <a:gridCol w="365760"/>
                <a:gridCol w="777240"/>
                <a:gridCol w="594360"/>
                <a:gridCol w="365760"/>
                <a:gridCol w="777240"/>
                <a:gridCol w="59436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(1) Raw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(2) Cost-Rec.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(3) Bilateral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2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Canada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Kyrgyzstan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▼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DD*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▼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DD*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DD*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Ethiopia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▼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Kosovo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▼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Finland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Turkmenistan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DD*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▼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DD*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DD*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Norway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160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= not in top 25 (USA high-cost importer) or no bilateral rank (Iran, Turkmenistan sanctioned → forced domestic)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4343400"/>
            <a:ext cx="3840480" cy="457200"/>
          </a:xfrm>
          <a:prstGeom prst="rect">
            <a:avLst/>
          </a:prstGeom>
          <a:solidFill>
            <a:srgbClr val="0B1D2E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43434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Canada + Kyrgyzstan remain exporters under bilateral spec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480560" y="4343400"/>
            <a:ext cx="4206240" cy="457200"/>
          </a:xfrm>
          <a:prstGeom prst="rect">
            <a:avLst/>
          </a:prstGeom>
          <a:solidFill>
            <a:srgbClr val="0B1D2E"/>
          </a:solidFill>
          <a:ln/>
        </p:spPr>
      </p:sp>
      <p:sp>
        <p:nvSpPr>
          <p:cNvPr id="9" name="Text 6"/>
          <p:cNvSpPr/>
          <p:nvPr/>
        </p:nvSpPr>
        <p:spPr>
          <a:xfrm>
            <a:off x="4663440" y="43434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advanced economies rise as developing exporters fall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57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Central Finding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Countries best positioned to export compute on cost grounds are precisely those excluded by bilateral trust deficits.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640080" y="2743200"/>
            <a:ext cx="2606040" cy="1920240"/>
          </a:xfrm>
          <a:prstGeom prst="rect">
            <a:avLst/>
          </a:prstGeom>
          <a:solidFill>
            <a:srgbClr val="132F46"/>
          </a:solidFill>
          <a:ln/>
        </p:spPr>
      </p:sp>
      <p:sp>
        <p:nvSpPr>
          <p:cNvPr id="7" name="Shape 4"/>
          <p:cNvSpPr/>
          <p:nvPr/>
        </p:nvSpPr>
        <p:spPr>
          <a:xfrm>
            <a:off x="640080" y="2743200"/>
            <a:ext cx="260604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29260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advantage exists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333756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Developing countries with cheap energy rank among the lowest-cost producers under cost-recovery pricing.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474720" y="2743200"/>
            <a:ext cx="2606040" cy="1920240"/>
          </a:xfrm>
          <a:prstGeom prst="rect">
            <a:avLst/>
          </a:prstGeom>
          <a:solidFill>
            <a:srgbClr val="132F46"/>
          </a:solidFill>
          <a:ln/>
        </p:spPr>
      </p:sp>
      <p:sp>
        <p:nvSpPr>
          <p:cNvPr id="11" name="Shape 8"/>
          <p:cNvSpPr/>
          <p:nvPr/>
        </p:nvSpPr>
        <p:spPr>
          <a:xfrm>
            <a:off x="3474720" y="2743200"/>
            <a:ext cx="2606040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2" name="Text 9"/>
          <p:cNvSpPr/>
          <p:nvPr/>
        </p:nvSpPr>
        <p:spPr>
          <a:xfrm>
            <a:off x="3657600" y="29260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deficits eliminate it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657600" y="333756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Bilateral sovereignty premia shift nearly all developing countries to domestic production or importing.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309360" y="2743200"/>
            <a:ext cx="2606040" cy="1920240"/>
          </a:xfrm>
          <a:prstGeom prst="rect">
            <a:avLst/>
          </a:prstGeom>
          <a:solidFill>
            <a:srgbClr val="132F46"/>
          </a:solidFill>
          <a:ln/>
        </p:spPr>
      </p:sp>
      <p:sp>
        <p:nvSpPr>
          <p:cNvPr id="15" name="Shape 12"/>
          <p:cNvSpPr/>
          <p:nvPr/>
        </p:nvSpPr>
        <p:spPr>
          <a:xfrm>
            <a:off x="6309360" y="2743200"/>
            <a:ext cx="260604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3"/>
          <p:cNvSpPr/>
          <p:nvPr/>
        </p:nvSpPr>
        <p:spPr>
          <a:xfrm>
            <a:off x="6492240" y="29260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Welfare cost: ~1.5%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492240" y="333756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Demand-weighted welfare loss from sovereignty premia is 1.5% of compute spending — modest but nontrivial.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Dual Implication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narrow cost spread cuts both ways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79476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54480"/>
            <a:ext cx="64008" cy="30175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737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Easiest Sector to Enter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28600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hardware is globally priced and dominates costs, the absolute barrier to cost-competitiveness is low. Countries with cheap electricity and favorable cooling face a small gap to close.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09160" y="1554480"/>
            <a:ext cx="379476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554480"/>
            <a:ext cx="64008" cy="30175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737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Vulnerable to Frictions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29200" y="228600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narrowness means even modest frictions — a sovereignty premium, a governance penalty, or a higher cost of capital — are sufficient to alter a country's trade regime entirely.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Robustness: Sensitivity Analysis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rankings are stable across plausible parameter variation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60120"/>
            <a:ext cx="64008" cy="10058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332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cost share (ρ ± 4%)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30759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ρ compresses the locally-penalized share → governance penalties muted → developing countries gain competitiveness.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6002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ρ widens the electricity and construction share → cold-climate, low-cost countries strengthen their advantage.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103120"/>
            <a:ext cx="64008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1762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sovereignty premium (λ = 10%)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245059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countries produce domestically under either bilateral or uniform specification — regime assignments are similar.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27432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 countries (Canada, Kyrgyzstan) remain exporters under both. The narrow cost spread means 10% is enough to flip regimes.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24612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246120"/>
            <a:ext cx="64008" cy="10058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3192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Sovereignty tiers (3 workload segments)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359359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workloads (10% of demand): domestic only. Regulated (20%): higher compatibility weight. Commercial (70%): standard.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38862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approach more realistic than uniform — governments rarely apply the same standard to classified vs. commercial AI.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solidFill>
            <a:srgbClr val="0B1D2E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3434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result stable: the binding constraint is institutional credibility, not energy cost, across all specifications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Caveats &amp; Extensions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Factors outside the current model that would further narrow the set of viable exporters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40233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60120"/>
            <a:ext cx="4023360" cy="54864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4300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0972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Export Controls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14630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restrictions bar Iran, Russia, Belarus, and (partially) China from acquiring frontier GPUs. Model's cost advantage for sanctioned countries is moot without hardware access.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63440" y="960120"/>
            <a:ext cx="40233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3440" y="960120"/>
            <a:ext cx="4023360" cy="54864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14300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12080" y="10972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Endogenous Electricity Prices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846320" y="14630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100 MW data center in Kyrgyzstan would consume ~10% of national generation. At scale, marginal cost pricing would push electricity above the current average tariff.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7200" y="2514600"/>
            <a:ext cx="40233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57200" y="2514600"/>
            <a:ext cx="4023360" cy="54864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69748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05840" y="2651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Capital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40080" y="301752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assumes uniform WACC. In practice, an OECD hyperscaler at 8% faces $1.58/hr; a developing-country entrant at 15% faces $1.62/hr — erasing cost advantage from cheap energy.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663440" y="2514600"/>
            <a:ext cx="40233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663440" y="2514600"/>
            <a:ext cx="4023360" cy="54864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269748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212080" y="2651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Next-Gen GPUs (B200+)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4846320" y="301752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Successor GPUs deliver ~4× training throughput at ~1 kW. Higher power draw widens the absolute electricity gap, modestly strengthening developing-country advantage on energy costs.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57200" y="4160520"/>
            <a:ext cx="8229600" cy="640080"/>
          </a:xfrm>
          <a:prstGeom prst="rect">
            <a:avLst/>
          </a:prstGeom>
          <a:solidFill>
            <a:srgbClr val="0B1D2E"/>
          </a:solidFill>
          <a:ln/>
        </p:spPr>
      </p:sp>
      <p:sp>
        <p:nvSpPr>
          <p:cNvPr id="25" name="Text 19"/>
          <p:cNvSpPr/>
          <p:nvPr/>
        </p:nvSpPr>
        <p:spPr>
          <a:xfrm>
            <a:off x="640080" y="41605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of bias: </a:t>
            </a:r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factors narrow the set of viable exporters beyond the baseline calibration. GPU controls and capital costs work against developing countries; endogenous prices work against small countries; GPU upgrades slightly favor energy-rich ones.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Policy Implications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37947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37160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13258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 vs Inference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371600" y="173736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Restricting training imports raises costs without offsetting proximity gains. Inference has a genuine latency-based case for domestic production.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709160" y="1188720"/>
            <a:ext cx="37947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37160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40680" y="13258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Institutional Credibility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5440680" y="173736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binding constraint is not energy cost but institutional trust: non-sanctioned status, credible contracts, network connectivity, regulatory stability.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40080" y="2834640"/>
            <a:ext cx="37947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01752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71600" y="29718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Localization Risk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1371600" y="33832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data localization requirements risk foreclosing both import savings and regional export opportunities — the very gains the model predicts.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4709160" y="2834640"/>
            <a:ext cx="37947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017520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440680" y="29718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Resource Curse Parallels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5440680" y="33832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Concentrated compute export revenues could trigger Dutch disease dynamics. Revenue-sharing models (sovereign wealth fund vs elite capture) determine outcomes.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Compute is the easiest sector for developing countries to enter on cost grounds — and the most vulnerable to the small frictions that keep them out.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788920"/>
            <a:ext cx="228600" cy="228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27432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dominance compresses cross-country cost spread to 12–20%</a:t>
            </a:r>
            <a:endParaRPr lang="en-US" sz="15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291840"/>
            <a:ext cx="228600" cy="228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97280" y="32461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Cost-recovery pricing reveals genuine comparative advantage in energy-rich countries</a:t>
            </a:r>
            <a:endParaRPr lang="en-US" sz="15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794760"/>
            <a:ext cx="228600" cy="2286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97280" y="3749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Bilateral sovereignty premia eliminate developing-country exports</a:t>
            </a:r>
            <a:endParaRPr lang="en-US" sz="15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297680"/>
            <a:ext cx="228600" cy="2286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97280" y="42519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credibility, not energy cost, is the binding constraint</a:t>
            </a:r>
            <a:endParaRPr lang="en-US" sz="1500" dirty="0"/>
          </a:p>
        </p:txBody>
      </p:sp>
      <p:sp>
        <p:nvSpPr>
          <p:cNvPr id="13" name="Shape 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32F46"/>
          </a:solidFill>
          <a:ln/>
        </p:spPr>
      </p:sp>
      <p:sp>
        <p:nvSpPr>
          <p:cNvPr id="14" name="Text 8"/>
          <p:cNvSpPr/>
          <p:nvPr/>
        </p:nvSpPr>
        <p:spPr>
          <a:xfrm>
            <a:off x="731520" y="4800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Michael Lokshin  •  March 2026  •  michael.lokshin@gmail.com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Cheap Energy Might Not Be Enough: A Trade Model of AI Compute Services</dc:title>
  <dc:subject>PptxGenJS Presentation</dc:subject>
  <dc:creator>Michael Lokshin</dc:creator>
  <cp:lastModifiedBy>Michael Lokshin</cp:lastModifiedBy>
  <cp:revision>1</cp:revision>
  <dcterms:created xsi:type="dcterms:W3CDTF">2026-03-01T17:26:00Z</dcterms:created>
  <dcterms:modified xsi:type="dcterms:W3CDTF">2026-03-01T17:26:00Z</dcterms:modified>
</cp:coreProperties>
</file>