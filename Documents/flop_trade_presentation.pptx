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902" y="26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'dsher Gun'kin" userId="78e5edb383196875" providerId="LiveId" clId="{345933C3-A71C-4F7F-9FF7-0217B45264EF}"/>
    <pc:docChg chg="modSld">
      <pc:chgData name="Fel'dsher Gun'kin" userId="78e5edb383196875" providerId="LiveId" clId="{345933C3-A71C-4F7F-9FF7-0217B45264EF}" dt="2026-04-16T08:16:44.755" v="60" actId="20577"/>
      <pc:docMkLst>
        <pc:docMk/>
      </pc:docMkLst>
      <pc:sldChg chg="modSp mod">
        <pc:chgData name="Fel'dsher Gun'kin" userId="78e5edb383196875" providerId="LiveId" clId="{345933C3-A71C-4F7F-9FF7-0217B45264EF}" dt="2026-04-16T08:16:44.755" v="60" actId="20577"/>
        <pc:sldMkLst>
          <pc:docMk/>
          <pc:sldMk cId="0" sldId="256"/>
        </pc:sldMkLst>
        <pc:spChg chg="mod">
          <ac:chgData name="Fel'dsher Gun'kin" userId="78e5edb383196875" providerId="LiveId" clId="{345933C3-A71C-4F7F-9FF7-0217B45264EF}" dt="2026-04-16T08:16:44.755" v="60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el'dsher Gun'kin" userId="78e5edb383196875" providerId="LiveId" clId="{345933C3-A71C-4F7F-9FF7-0217B45264EF}" dt="2026-04-16T08:16:27.441" v="48" actId="20577"/>
        <pc:sldMkLst>
          <pc:docMk/>
          <pc:sldMk cId="0" sldId="277"/>
        </pc:sldMkLst>
        <pc:spChg chg="mod">
          <ac:chgData name="Fel'dsher Gun'kin" userId="78e5edb383196875" providerId="LiveId" clId="{345933C3-A71C-4F7F-9FF7-0217B45264EF}" dt="2026-04-16T08:16:27.441" v="48" actId="20577"/>
          <ac:spMkLst>
            <pc:docMk/>
            <pc:sldMk cId="0" sldId="277"/>
            <ac:spMk id="14" creationId="{00000000-0000-0000-0000-000000000000}"/>
          </ac:spMkLst>
        </pc:spChg>
      </pc:sldChg>
    </pc:docChg>
  </pc:docChgLst>
  <pc:docChgLst>
    <pc:chgData name="Fel'dsher Gun'kin" userId="78e5edb383196875" providerId="LiveId" clId="{E9B172E7-6F22-4E28-8D41-6239B8ED2377}"/>
    <pc:docChg chg="modSld">
      <pc:chgData name="Fel'dsher Gun'kin" userId="78e5edb383196875" providerId="LiveId" clId="{E9B172E7-6F22-4E28-8D41-6239B8ED2377}" dt="2026-03-18T13:39:36.419" v="24" actId="1036"/>
      <pc:docMkLst>
        <pc:docMk/>
      </pc:docMkLst>
      <pc:sldChg chg="modSp mod">
        <pc:chgData name="Fel'dsher Gun'kin" userId="78e5edb383196875" providerId="LiveId" clId="{E9B172E7-6F22-4E28-8D41-6239B8ED2377}" dt="2026-03-18T13:38:35.788" v="10" actId="1035"/>
        <pc:sldMkLst>
          <pc:docMk/>
          <pc:sldMk cId="0" sldId="260"/>
        </pc:sldMkLst>
        <pc:spChg chg="mod">
          <ac:chgData name="Fel'dsher Gun'kin" userId="78e5edb383196875" providerId="LiveId" clId="{E9B172E7-6F22-4E28-8D41-6239B8ED2377}" dt="2026-03-18T13:38:35.788" v="10" actId="1035"/>
          <ac:spMkLst>
            <pc:docMk/>
            <pc:sldMk cId="0" sldId="260"/>
            <ac:spMk id="8" creationId="{00000000-0000-0000-0000-000000000000}"/>
          </ac:spMkLst>
        </pc:spChg>
      </pc:sldChg>
      <pc:sldChg chg="modSp mod">
        <pc:chgData name="Fel'dsher Gun'kin" userId="78e5edb383196875" providerId="LiveId" clId="{E9B172E7-6F22-4E28-8D41-6239B8ED2377}" dt="2026-03-18T13:39:36.419" v="24" actId="1036"/>
        <pc:sldMkLst>
          <pc:docMk/>
          <pc:sldMk cId="0" sldId="262"/>
        </pc:sldMkLst>
        <pc:spChg chg="mod">
          <ac:chgData name="Fel'dsher Gun'kin" userId="78e5edb383196875" providerId="LiveId" clId="{E9B172E7-6F22-4E28-8D41-6239B8ED2377}" dt="2026-03-18T13:39:36.419" v="24" actId="1036"/>
          <ac:spMkLst>
            <pc:docMk/>
            <pc:sldMk cId="0" sldId="262"/>
            <ac:spMk id="15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Hardware</c:v>
                </c:pt>
              </c:strCache>
            </c:strRef>
          </c:tx>
          <c:spPr>
            <a:solidFill>
              <a:srgbClr val="C67B5C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Cheapest</c:v>
                </c:pt>
                <c:pt idx="1">
                  <c:v>Median</c:v>
                </c:pt>
                <c:pt idx="2">
                  <c:v>Costliest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1.36</c:v>
                </c:pt>
                <c:pt idx="1">
                  <c:v>1.36</c:v>
                </c:pt>
                <c:pt idx="2">
                  <c:v>1.36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63E-4B09-BE83-565BAA88EF0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Electricity</c:v>
                </c:pt>
              </c:strCache>
            </c:strRef>
          </c:tx>
          <c:spPr>
            <a:solidFill>
              <a:srgbClr val="4A7C59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Cheapest</c:v>
                </c:pt>
                <c:pt idx="1">
                  <c:v>Median</c:v>
                </c:pt>
                <c:pt idx="2">
                  <c:v>Costliest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0.06</c:v>
                </c:pt>
                <c:pt idx="1">
                  <c:v>0.12</c:v>
                </c:pt>
                <c:pt idx="2">
                  <c:v>0.22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63E-4B09-BE83-565BAA88EF0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</c:v>
                </c:pt>
              </c:strCache>
            </c:strRef>
          </c:tx>
          <c:spPr>
            <a:solidFill>
              <a:srgbClr val="7A857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Cheapest</c:v>
                </c:pt>
                <c:pt idx="1">
                  <c:v>Median</c:v>
                </c:pt>
                <c:pt idx="2">
                  <c:v>Costliest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0.04</c:v>
                </c:pt>
                <c:pt idx="1">
                  <c:v>0.06</c:v>
                </c:pt>
                <c:pt idx="2">
                  <c:v>0.1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63E-4B09-BE83-565BAA88EF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315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AF8F5"/>
                </a:solidFill>
                <a:latin typeface="Georgia"/>
              </a:rPr>
              <a:t>Cheap Energy
Might Not Be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67B5C"/>
                </a:solidFill>
                <a:latin typeface="Calibri"/>
              </a:rPr>
              <a:t>A Trade Model of AI Compute Services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2286000" cy="36576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C4BDB6"/>
                </a:solidFill>
                <a:latin typeface="Calibri"/>
              </a:rPr>
              <a:t>Michael Lokshin</a:t>
            </a:r>
            <a:r>
              <a:rPr lang="en-US" sz="1600" b="0" i="0" dirty="0">
                <a:solidFill>
                  <a:srgbClr val="C4BDB6"/>
                </a:solidFill>
                <a:latin typeface="Calibri"/>
              </a:rPr>
              <a:t>, World Bank</a:t>
            </a:r>
            <a:endParaRPr sz="1600" b="0" i="0" dirty="0">
              <a:solidFill>
                <a:srgbClr val="C4BDB6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41605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A8574"/>
                </a:solidFill>
                <a:latin typeface="Calibri"/>
              </a:rP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c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880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000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9144000" cy="594360"/>
          </a:xfrm>
          <a:prstGeom prst="rect">
            <a:avLst/>
          </a:prstGeom>
          <a:solidFill>
            <a:srgbClr val="2C2C2C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AF8F5"/>
                </a:solidFill>
                <a:latin typeface="Georgia"/>
              </a:rPr>
              <a:t>How FLOPs Are Produced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D4CFC8"/>
                </a:solidFill>
                <a:latin typeface="Calibri"/>
              </a:rPr>
              <a:t>A data center converts electricity into floating-point operations — the raw commodity of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971800"/>
            <a:ext cx="2011680" cy="123444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2971800"/>
            <a:ext cx="2011680" cy="4572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3108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67B5C"/>
                </a:solidFill>
                <a:latin typeface="Calibri"/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AF8F5"/>
                </a:solidFill>
                <a:latin typeface="Calibri"/>
              </a:rPr>
              <a:t>Electricity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4290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Grid power (pⱼᴱ)
Local price — only
country-varying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31546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67B5C"/>
                </a:solidFill>
                <a:latin typeface="Georgia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971800"/>
            <a:ext cx="2011680" cy="123444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14600" y="2971800"/>
            <a:ext cx="2011680" cy="45720"/>
          </a:xfrm>
          <a:prstGeom prst="rect">
            <a:avLst/>
          </a:prstGeom>
          <a:solidFill>
            <a:srgbClr val="A8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06040" y="3108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8624A"/>
                </a:solidFill>
                <a:latin typeface="Calibri"/>
              </a:rPr>
              <a:t>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0815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AF8F5"/>
                </a:solidFill>
                <a:latin typeface="Calibri"/>
              </a:rPr>
              <a:t>Cooling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4290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PUE overhead
Climate-dependent
(θⱼ → cooling cost)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1546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67B5C"/>
                </a:solidFill>
                <a:latin typeface="Georgia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2971800"/>
            <a:ext cx="2011680" cy="123444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754880" y="2971800"/>
            <a:ext cx="2011680" cy="45720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46320" y="3108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8B7355"/>
                </a:solidFill>
                <a:latin typeface="Calibri"/>
              </a:rPr>
              <a:t>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0815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AF8F5"/>
                </a:solidFill>
                <a:latin typeface="Calibri"/>
              </a:rPr>
              <a:t>GPU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4290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H100/B200 racks
Globally priced
(~90% of unit cost)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1546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67B5C"/>
                </a:solidFill>
                <a:latin typeface="Georgia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60" y="2971800"/>
            <a:ext cx="2011680" cy="123444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995160" y="2971800"/>
            <a:ext cx="2011680" cy="4572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3108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A7C59"/>
                </a:solidFill>
                <a:latin typeface="Calibri"/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0815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AF8F5"/>
                </a:solidFill>
                <a:latin typeface="Calibri"/>
              </a:rPr>
              <a:t>FLOPs 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4290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Compute services
Training (batch)
Inference (real-time)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297680"/>
            <a:ext cx="9144000" cy="502920"/>
          </a:xfrm>
          <a:prstGeom prst="rect">
            <a:avLst/>
          </a:prstGeom>
          <a:solidFill>
            <a:srgbClr val="2A2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A7C59"/>
                </a:solidFill>
                <a:latin typeface="Calibri"/>
              </a:rPr>
              <a:t>Unit cost:  </a:t>
            </a:r>
            <a:r>
              <a:rPr sz="1200" b="0" i="0">
                <a:solidFill>
                  <a:srgbClr val="FAF8F5"/>
                </a:solidFill>
                <a:latin typeface="Calibri"/>
              </a:rPr>
              <a:t>cⱼ = </a:t>
            </a:r>
            <a:r>
              <a:rPr sz="1200" b="1" i="0">
                <a:solidFill>
                  <a:srgbClr val="C67B5C"/>
                </a:solidFill>
                <a:latin typeface="Calibri"/>
              </a:rPr>
              <a:t>electricity (~8%)</a:t>
            </a:r>
            <a:r>
              <a:rPr sz="1200" b="0" i="0">
                <a:solidFill>
                  <a:srgbClr val="FAF8F5"/>
                </a:solidFill>
                <a:latin typeface="Calibri"/>
              </a:rPr>
              <a:t>  +  </a:t>
            </a:r>
            <a:r>
              <a:rPr sz="1200" b="1" i="0">
                <a:solidFill>
                  <a:srgbClr val="8B7355"/>
                </a:solidFill>
                <a:latin typeface="Calibri"/>
              </a:rPr>
              <a:t>hardware (~90%)</a:t>
            </a:r>
            <a:r>
              <a:rPr sz="1200" b="0" i="0">
                <a:solidFill>
                  <a:srgbClr val="FAF8F5"/>
                </a:solidFill>
                <a:latin typeface="Calibri"/>
              </a:rPr>
              <a:t>  +  </a:t>
            </a:r>
            <a:r>
              <a:rPr sz="1200" b="1" i="0">
                <a:solidFill>
                  <a:srgbClr val="7A8574"/>
                </a:solidFill>
                <a:latin typeface="Calibri"/>
              </a:rPr>
              <a:t>networking + construction (~2%)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AF8F5"/>
                </a:solidFill>
                <a:latin typeface="Georgia"/>
              </a:rPr>
              <a:t>Developing Countries Are Joining the 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574"/>
                </a:solidFill>
                <a:latin typeface="Calibri"/>
              </a:rPr>
              <a:t>Billion-dollar data center commitments are no longer confined to the US, Europe, and China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2743200" cy="141732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864" cy="141732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67B5C"/>
                </a:solidFill>
                <a:latin typeface="Calibri"/>
              </a:rPr>
              <a:t>ARMENIA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AF8F5"/>
                </a:solidFill>
                <a:latin typeface="Calibri"/>
              </a:rPr>
              <a:t>Firebird / NVIDIA AI 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$4B total (Phase 1: $500M) · 100 MW
50,000 NVIDIA GPUs · US-approved chip transfer
PM Pashinyan lobbied Trump directly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914400"/>
            <a:ext cx="2743200" cy="141732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0" y="914400"/>
            <a:ext cx="54864" cy="141732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9875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7C59"/>
                </a:solidFill>
                <a:latin typeface="Calibri"/>
              </a:rPr>
              <a:t>SAUDI ARABIA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2070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AF8F5"/>
                </a:solidFill>
                <a:latin typeface="Calibri"/>
              </a:rPr>
              <a:t>HUMAIN / NEOM / DataVolt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36192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$23B+ in AI partnerships · 11 data centers
200 MW each · NEOM pivoting to DC hub
PIF goal: 3rd-largest AI provider globally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59" y="914400"/>
            <a:ext cx="2743200" cy="141732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59" y="914400"/>
            <a:ext cx="54864" cy="1417320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9875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7355"/>
                </a:solidFill>
                <a:latin typeface="Calibri"/>
              </a:rPr>
              <a:t>UAE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2070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AF8F5"/>
                </a:solidFill>
                <a:latin typeface="Calibri"/>
              </a:rPr>
              <a:t>OpenAI–G42 Abu Dhabi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5 GW campus · largest single AI site globally
Stargate international expansion
Khazna 100 MW AI facility in Ajman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514600"/>
            <a:ext cx="2743200" cy="141732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514600"/>
            <a:ext cx="54864" cy="14173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25877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B8C5A"/>
                </a:solidFill>
                <a:latin typeface="Calibri"/>
              </a:rPr>
              <a:t>INDONESIA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072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AF8F5"/>
                </a:solidFill>
                <a:latin typeface="Calibri"/>
              </a:rPr>
              <a:t>Jakarta / Batam DC corridor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36392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Princeton Digital: $1B Jakarta campus
Microsoft &amp; Google cloud regions
Largest SE Asian market by demand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2514600"/>
            <a:ext cx="2743200" cy="141732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514600"/>
            <a:ext cx="54864" cy="1417320"/>
          </a:xfrm>
          <a:prstGeom prst="rect">
            <a:avLst/>
          </a:prstGeom>
          <a:solidFill>
            <a:srgbClr val="A8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83280" y="25877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624A"/>
                </a:solidFill>
                <a:latin typeface="Calibri"/>
              </a:rPr>
              <a:t>KENYA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28072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AF8F5"/>
                </a:solidFill>
                <a:latin typeface="Calibri"/>
              </a:rPr>
              <a:t>Africa Data Centres / IXAfrica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3136392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East Africa's DC hub · 1 GW pipeline
Cheap geothermal power (~$0.07/kWh)
Microsoft &amp; Google African cloud regions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59" y="2514600"/>
            <a:ext cx="2743200" cy="1417320"/>
          </a:xfrm>
          <a:prstGeom prst="rect">
            <a:avLst/>
          </a:prstGeom>
          <a:solidFill>
            <a:srgbClr val="352F2B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080759" y="2514600"/>
            <a:ext cx="54864" cy="1417320"/>
          </a:xfrm>
          <a:prstGeom prst="rect">
            <a:avLst/>
          </a:prstGeom>
          <a:solidFill>
            <a:srgbClr val="6B7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25877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F5E"/>
                </a:solidFill>
                <a:latin typeface="Calibri"/>
              </a:rPr>
              <a:t>MALAYSIA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8072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AF8F5"/>
                </a:solidFill>
                <a:latin typeface="Calibri"/>
              </a:rPr>
              <a:t>Johor corridor (Microsoft / NTT)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136392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$34B investment boom · $6B market by 2031
Microsoft 2nd cloud region (SE Asia 3)
Cyberjaya: 22 existing + 9 upcoming DCs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4251960"/>
            <a:ext cx="9144000" cy="548640"/>
          </a:xfrm>
          <a:prstGeom prst="rect">
            <a:avLst/>
          </a:prstGeom>
          <a:solidFill>
            <a:srgbClr val="2A2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A7C59"/>
                </a:solidFill>
                <a:latin typeface="Calibri"/>
              </a:rPr>
              <a:t>Key question: </a:t>
            </a:r>
            <a:r>
              <a:rPr sz="1200" b="0" i="0">
                <a:solidFill>
                  <a:srgbClr val="C4BDB6"/>
                </a:solidFill>
                <a:latin typeface="Calibri"/>
              </a:rPr>
              <a:t>These countries have cheap energy and political will. Can they overcome sovereignty frictions and institutional gaps to capture AI compute demand?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333333"/>
                </a:solidFill>
                <a:latin typeface="Georgia"/>
              </a:rPr>
              <a:t>The Opportunity: FLOP Exporting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4846320" cy="3291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64008" cy="32918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AI compute demand is doubling every six months. Data centers already consume 1.5% of global electricity — projected to more than double by 2030.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Countries can convert cheap electricity into high-value AI compute exports — moving up the value chain from raw resources to digital services.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Energy-rich developing countries — with cheap electricity, growing grid capacity, and political will — have a rare opportunity to leapfrog into high-value digital exports without the traditional industrialization path.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1280160"/>
            <a:ext cx="2743200" cy="9601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481328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67B5C"/>
                </a:solidFill>
                <a:latin typeface="Calibri"/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3258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67B5C"/>
                </a:solidFill>
                <a:latin typeface="Georgia"/>
              </a:rPr>
              <a:t>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compute demand
doubling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2423160"/>
            <a:ext cx="2743200" cy="9601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2624328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67B5C"/>
                </a:solidFill>
                <a:latin typeface="Calibri"/>
              </a:rPr>
              <a:t>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68879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67B5C"/>
                </a:solidFill>
                <a:latin typeface="Georgia"/>
              </a:rPr>
              <a:t>10×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260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electricity price
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566160"/>
            <a:ext cx="2743200" cy="9601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3767328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67B5C"/>
                </a:solidFill>
                <a:latin typeface="Calibri"/>
              </a:rPr>
              <a:t>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611879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67B5C"/>
                </a:solidFill>
                <a:latin typeface="Georgia"/>
              </a:rPr>
              <a:t>$9B+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0690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cloud exports
annually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33333"/>
                </a:solidFill>
                <a:latin typeface="Georgia"/>
              </a:rPr>
              <a:t>This Paper's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960120"/>
            <a:ext cx="7132320" cy="1005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960120"/>
            <a:ext cx="64008" cy="10058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320040" y="1143000"/>
            <a:ext cx="594360" cy="594360"/>
          </a:xfrm>
          <a:prstGeom prst="ellipse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AF8F5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051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272206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333333"/>
                </a:solidFill>
                <a:latin typeface="Calibri"/>
              </a:rPr>
              <a:t>Capacity-constrained Ricardian model of compute trade with iceberg latency costs and bilateral sovereignty premia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618488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Distinguishes training (latency-insensitive) from inference (latency-sensitive) — five equilibrium regimes emerge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48840"/>
            <a:ext cx="7132320" cy="1005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097280" y="2148840"/>
            <a:ext cx="64008" cy="10058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20040" y="2331720"/>
            <a:ext cx="594360" cy="594360"/>
          </a:xfrm>
          <a:prstGeom prst="ellipse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33172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AF8F5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2402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Calibration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560320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85-country calibration correcting for energy subsidies that distort headline cost rankings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807208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Cost-recovery pricing replaces subsidized tariffs with LRMC for 13 countries; bilateral sovereignty premium from UNGA voting, data adequacy, and sanctions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3337560"/>
            <a:ext cx="7132320" cy="1005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97280" y="3337560"/>
            <a:ext cx="64008" cy="10058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20040" y="3520440"/>
            <a:ext cx="594360" cy="594360"/>
          </a:xfrm>
          <a:prstGeom prst="ellipse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AF8F5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4290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Welfare &amp;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749040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Characterize trade regimes and quantify the welfare cost of sovereignty premia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995928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Welfare cost is 1.5% of compute spending (~$1.3B/yr) — small enough that domestic production can be rational for sovereign workloads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33333"/>
                </a:solidFill>
                <a:latin typeface="Georgia"/>
              </a:rPr>
              <a:t>Related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7A8574"/>
                </a:solidFill>
                <a:latin typeface="Calibri"/>
              </a:rPr>
              <a:t>Existing work examines AI governance, digital trade, and data center geography — but no formal trade model of compute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023360" cy="14630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3443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AI &amp; Comparative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Goldfarb &amp; Trefler (2018)
Korinek &amp; Stiglitz (2021)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AI shifts advantage to data &amp; human capital; developing countries risk being left behind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4023360" cy="14630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123443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IT Services Offshoring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536192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Blinder (2006)
Brainard (1997), Helpman et al. (2004)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011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Labor-intensive and skill-biased — a different set of exporters than compute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8803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Data Center Geography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Flucker et al. (2013), Liu et al. (2023)
Lehdonvirta et al. (2024), Pilz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Climate affects cooling costs; 'Compute North' holds 77% of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743200"/>
            <a:ext cx="4023360" cy="14630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663440" y="274320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46320" y="28803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Compute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182112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Sastry et al. (2024)
World Bank (2025), Biglaiser et al.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6576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Compute is well-suited for regulation but lacks a cost-to-trade framework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34340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BDB6"/>
                </a:solidFill>
                <a:latin typeface="Calibri"/>
              </a:rPr>
              <a:t>Gap: No formal model linking production costs → trade patterns → welfare costs for compute services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333333"/>
                </a:solidFill>
                <a:latin typeface="Georgia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574"/>
                </a:solidFill>
                <a:latin typeface="Calibri"/>
              </a:rPr>
              <a:t>A capacity-constrained Ricardian model with three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560320" cy="30175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56032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3333"/>
                </a:solidFill>
                <a:latin typeface="Georgia"/>
              </a:rPr>
              <a:t>Cost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011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574"/>
                </a:solidFill>
                <a:latin typeface="Calibri"/>
              </a:rPr>
              <a:t>Country-specific production costs from electricity, hardware (globally priced), and construction. PUE varies with climate.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554480"/>
            <a:ext cx="2560320" cy="30175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74720" y="1554480"/>
            <a:ext cx="2560320" cy="54864"/>
          </a:xfrm>
          <a:prstGeom prst="rect">
            <a:avLst/>
          </a:prstGeom>
          <a:solidFill>
            <a:srgbClr val="A8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49039" y="2377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3333"/>
                </a:solidFill>
                <a:latin typeface="Georgia"/>
              </a:rPr>
              <a:t>Trade Costs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834640"/>
            <a:ext cx="2011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574"/>
                </a:solidFill>
                <a:latin typeface="Calibri"/>
              </a:rPr>
              <a:t>Training is latency-insensitive (freely offshorable). Inference degrades with distance — localized markets.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2560320" cy="30175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2560320" cy="5486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3333"/>
                </a:solidFill>
                <a:latin typeface="Georgia"/>
              </a:rPr>
              <a:t>Sovereignty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13546"/>
            <a:ext cx="2011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7A8574"/>
                </a:solidFill>
                <a:latin typeface="Calibri"/>
              </a:rPr>
              <a:t>Bilateral friction from geopolitical distance, regulatory gaps, and sanctions. Trust deficits as trade barriers.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412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333333"/>
                </a:solidFill>
                <a:latin typeface="Georgia"/>
              </a:rPr>
              <a:t>Model: Cost Structure &amp; Trade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8229600" cy="14173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731520"/>
            <a:ext cx="64008" cy="141732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67B5C"/>
                </a:solidFill>
                <a:latin typeface="Calibri"/>
              </a:rPr>
              <a:t>(1)  Production Cost</a:t>
            </a:r>
          </a:p>
        </p:txBody>
      </p:sp>
      <p:pic>
        <p:nvPicPr>
          <p:cNvPr id="6" name="Picture 5" descr="eq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41148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0" y="749808"/>
            <a:ext cx="34747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γ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GPU power draw (kW)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pⱼᴱ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electricity price ($/kWh)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PUE(θⱼ)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cooling overhead (θ = temp.)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ρ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hardware amortization (global, ~90%)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η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networking (global)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κⱼ/(Lf·H)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construction / (lifetime × hrs/yr)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8229600" cy="12344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64008" cy="123444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7C59"/>
                </a:solidFill>
                <a:latin typeface="Calibri"/>
              </a:rPr>
              <a:t>(2)  Bilateral Sovereignty Premium</a:t>
            </a:r>
          </a:p>
        </p:txBody>
      </p:sp>
      <p:pic>
        <p:nvPicPr>
          <p:cNvPr id="11" name="Picture 10" descr="e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78608"/>
            <a:ext cx="41148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0" y="2331720"/>
            <a:ext cx="3474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7C59"/>
                </a:solidFill>
                <a:latin typeface="Calibri"/>
              </a:rPr>
              <a:t>dⱼₖ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geopolitical distance (UNGA voting)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4A7C59"/>
                </a:solidFill>
                <a:latin typeface="Calibri"/>
              </a:rPr>
              <a:t>Rⱼₖ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data-adequacy agreement (0/1)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4A7C59"/>
                </a:solidFill>
                <a:latin typeface="Calibri"/>
              </a:rPr>
              <a:t>Sⱼₖ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sanctions indicator → λ = 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64008" cy="118872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703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67B5C"/>
                </a:solidFill>
                <a:latin typeface="Calibri"/>
              </a:rPr>
              <a:t>(3)  Delivered Cost</a:t>
            </a:r>
          </a:p>
        </p:txBody>
      </p:sp>
      <p:pic>
        <p:nvPicPr>
          <p:cNvPr id="16" name="Picture 15" descr="eq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950208"/>
            <a:ext cx="45720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0" y="3639312"/>
            <a:ext cx="301752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τ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latency degradation rate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ℓⱼₖ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round-trip latency (ms)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Training (s=T):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  τ = 0 → no latency cost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Inference (s=I):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  τ &gt; 0 → cost rises with distance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412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333333"/>
                </a:solidFill>
                <a:latin typeface="Georgia"/>
              </a:rPr>
              <a:t>Model: Equilibrium &amp; Welfare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731520"/>
            <a:ext cx="64008" cy="10058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67B5C"/>
                </a:solidFill>
                <a:latin typeface="Calibri"/>
              </a:rPr>
              <a:t>(4)  Demand</a:t>
            </a:r>
          </a:p>
        </p:txBody>
      </p:sp>
      <p:pic>
        <p:nvPicPr>
          <p:cNvPr id="6" name="Picture 5" descr="eq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87552"/>
            <a:ext cx="41148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0" y="7772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ωₖ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 = share of installed DC capacity (MW)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Splits: Dᵀ = αΩωₖ  (training),  Dᴵ = (1−α)Ωωₖ  (inference)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8229600" cy="12344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64008" cy="12344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67B5C"/>
                </a:solidFill>
                <a:latin typeface="Calibri"/>
              </a:rPr>
              <a:t>(5)  Sourcing &amp; Capacity Constraint</a:t>
            </a:r>
          </a:p>
        </p:txBody>
      </p:sp>
      <p:pic>
        <p:nvPicPr>
          <p:cNvPr id="11" name="Picture 10" descr="e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94560"/>
            <a:ext cx="45720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0" y="1920240"/>
            <a:ext cx="3474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Each buyer picks cheapest delivered source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GPU-hours allocated to highest-margin use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Subject to grid capacity ceiling k̄ⱼ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8229600" cy="9144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246120"/>
            <a:ext cx="64008" cy="91440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2735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67B5C"/>
                </a:solidFill>
                <a:latin typeface="Calibri"/>
              </a:rPr>
              <a:t>(6)  Training Market Clearing</a:t>
            </a:r>
          </a:p>
        </p:txBody>
      </p:sp>
      <p:pic>
        <p:nvPicPr>
          <p:cNvPr id="16" name="Picture 15" descr="eq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93008"/>
            <a:ext cx="45720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0" y="329184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Price = marginal exporter's cost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Infra-marginal exporters earn rents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17880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7C59"/>
                </a:solidFill>
                <a:latin typeface="Calibri"/>
              </a:rPr>
              <a:t>Welfare:</a:t>
            </a:r>
          </a:p>
        </p:txBody>
      </p:sp>
      <p:pic>
        <p:nvPicPr>
          <p:cNvPr id="20" name="Picture 19" descr="eq_welfar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4178808"/>
            <a:ext cx="411480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77840" y="4160520"/>
            <a:ext cx="2926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BDB6"/>
                </a:solidFill>
                <a:latin typeface="Calibri"/>
              </a:rPr>
              <a:t>Import markup + allocative inefficiency
from domestic 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412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333333"/>
                </a:solidFill>
                <a:latin typeface="Georgia"/>
              </a:rPr>
              <a:t>Demand &amp; Capacity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3931920" cy="379476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731520"/>
            <a:ext cx="393192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67B5C"/>
                </a:solidFill>
                <a:latin typeface="Calibri"/>
              </a:rPr>
              <a:t>How demand is defined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280160"/>
            <a:ext cx="365760" cy="365760"/>
          </a:xfrm>
          <a:prstGeom prst="ellipse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AF8F5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3443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Global spending 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8132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Total cloud compute market (~$90B/yr)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1874519"/>
            <a:ext cx="365760" cy="365760"/>
          </a:xfrm>
          <a:prstGeom prst="ellipse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87451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AF8F5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8287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Country shares  ωₖ = k̄ₖ / Σk̄ₖ'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7568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Proxied by installed DC capacity (MW)
US ~43%, China ~26%, rest of world ~31%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AF8F5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56032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Training / inference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0720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Dᵀ = α · Ω · ωₖ     (latency-insensitive)
Dᴵ  = (1−α) · Ω · ωₖ  (latency-sensitive)
Baseline: α = 50% training, 50%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20440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7B5C"/>
                </a:solidFill>
                <a:latin typeface="Calibri"/>
              </a:rPr>
              <a:t>Key: </a:t>
            </a:r>
            <a:r>
              <a:rPr sz="1100" b="0" i="0">
                <a:solidFill>
                  <a:srgbClr val="7A8574"/>
                </a:solidFill>
                <a:latin typeface="Calibri"/>
              </a:rPr>
              <a:t>demand shares are fixed — the model determines who supplies each country's demand, not how much each country demands.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731520"/>
            <a:ext cx="4023360" cy="379476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663440" y="731520"/>
            <a:ext cx="4023360" cy="5486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8229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7C59"/>
                </a:solidFill>
                <a:latin typeface="Calibri"/>
              </a:rPr>
              <a:t>How capacity constraints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1188720"/>
            <a:ext cx="36576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333"/>
                </a:solidFill>
                <a:latin typeface="Calibri"/>
              </a:rPr>
              <a:t>Each country has a capacity ceiling k̄ⱼ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(grid power + permitting + connectivity)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Without constraints: 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cheapest country serves all demand, pᵀ = c₁, zero rents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With constraints: </a:t>
            </a:r>
            <a:r>
              <a:rPr sz="1000" b="0" i="0">
                <a:solidFill>
                  <a:srgbClr val="7A8574"/>
                </a:solidFill>
                <a:latin typeface="Calibri"/>
              </a:rPr>
              <a:t>cheapest fills up → price rises to marginal entrant's cost → infra-marginal exporters earn rents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3242462"/>
            <a:ext cx="548640" cy="780897"/>
          </a:xfrm>
          <a:prstGeom prst="rect">
            <a:avLst/>
          </a:prstGeom>
          <a:solidFill>
            <a:srgbClr val="D49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37760" y="37947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AF8F5"/>
                </a:solidFill>
                <a:latin typeface="Calibri"/>
              </a:rPr>
              <a:t>KGZ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07787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33333"/>
                </a:solidFill>
                <a:latin typeface="Calibri"/>
              </a:rPr>
              <a:t>$1.58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41264" y="3114446"/>
            <a:ext cx="1005840" cy="908913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41264" y="3794760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AF8F5"/>
                </a:solidFill>
                <a:latin typeface="Calibri"/>
              </a:rPr>
              <a:t>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1264" y="294985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33333"/>
                </a:solidFill>
                <a:latin typeface="Calibri"/>
              </a:rPr>
              <a:t>$1.59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3012033"/>
            <a:ext cx="411480" cy="1011326"/>
          </a:xfrm>
          <a:prstGeom prst="rect">
            <a:avLst/>
          </a:prstGeom>
          <a:solidFill>
            <a:srgbClr val="B06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1968" y="379476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AF8F5"/>
                </a:solidFill>
                <a:latin typeface="Calibri"/>
              </a:rPr>
              <a:t>KOS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2847441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33333"/>
                </a:solidFill>
                <a:latin typeface="Calibri"/>
              </a:rPr>
              <a:t>$1.60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68312" y="2922422"/>
            <a:ext cx="640080" cy="1100937"/>
          </a:xfrm>
          <a:prstGeom prst="rect">
            <a:avLst/>
          </a:prstGeom>
          <a:solidFill>
            <a:srgbClr val="A8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68312" y="379476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AF8F5"/>
                </a:solidFill>
                <a:latin typeface="Calibri"/>
              </a:rPr>
              <a:t>FIN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68312" y="275783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33333"/>
                </a:solidFill>
                <a:latin typeface="Calibri"/>
              </a:rPr>
              <a:t>$1.61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63256" y="2743200"/>
            <a:ext cx="502920" cy="1280160"/>
          </a:xfrm>
          <a:prstGeom prst="rect">
            <a:avLst/>
          </a:prstGeom>
          <a:solidFill>
            <a:srgbClr val="8B5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63256" y="3794760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AF8F5"/>
                </a:solidFill>
                <a:latin typeface="Calibri"/>
              </a:rPr>
              <a:t>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57860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33333"/>
                </a:solidFill>
                <a:latin typeface="Calibri"/>
              </a:rPr>
              <a:t>$1.65+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406908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A8574"/>
                </a:solidFill>
                <a:latin typeface="Calibri"/>
              </a:rPr>
              <a:t>← cumulative capacity (GPU-hours) 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2734056"/>
            <a:ext cx="3566160" cy="18288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58200" y="26060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A7C59"/>
                </a:solidFill>
                <a:latin typeface="Calibri"/>
              </a:rPr>
              <a:t>pᵀ = marginal entrant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3017520"/>
            <a:ext cx="320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A7C59"/>
                </a:solidFill>
                <a:latin typeface="Calibri"/>
              </a:rPr>
              <a:t>↕
rents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333333"/>
                </a:solidFill>
                <a:latin typeface="Georgia"/>
              </a:rPr>
              <a:t>Why the Cost Spread Is Narrow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50292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5852160" y="1188720"/>
            <a:ext cx="2926080" cy="1828800"/>
          </a:xfrm>
          <a:prstGeom prst="rect">
            <a:avLst/>
          </a:prstGeom>
          <a:solidFill>
            <a:srgbClr val="2C2C2C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52160" y="13716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C67B5C"/>
                </a:solidFill>
                <a:latin typeface="Georgia"/>
              </a:rPr>
              <a:t>~90%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210312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4BDB6"/>
                </a:solidFill>
                <a:latin typeface="Calibri"/>
              </a:rPr>
              <a:t>of unit cost is hardware
— identical across countries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3291840"/>
            <a:ext cx="2926080" cy="13716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52160" y="3291840"/>
            <a:ext cx="64008" cy="137160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338328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A7C59"/>
                </a:solidFill>
                <a:latin typeface="Georgia"/>
              </a:rPr>
              <a:t>12–20%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88620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574"/>
                </a:solidFill>
                <a:latin typeface="Calibri"/>
              </a:rPr>
              <a:t>total cross-country cost spread
— narrower than virtually any
other tradable sector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333333"/>
                </a:solidFill>
                <a:latin typeface="Georgia"/>
              </a:rPr>
              <a:t>Two Markets, Two Geographies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3794760" cy="3291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7947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7B5C"/>
                </a:solidFill>
                <a:latin typeface="Calibri"/>
              </a:rPr>
              <a:t>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33333"/>
                </a:solidFill>
                <a:latin typeface="Georgia"/>
              </a:rPr>
              <a:t>Latency-Insensitive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2918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8574"/>
                </a:solidFill>
                <a:latin typeface="Calibri"/>
              </a:rPr>
              <a:t>• Model training, fine-tuning, batch processing
• No distance penalty — freely offshorable
• Global market: cheapest producer wins
• Weeks to months of compute time
• Highly concentrated: 1–2 exporters serve most demand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280160"/>
            <a:ext cx="3794760" cy="3291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09160" y="1280160"/>
            <a:ext cx="3794760" cy="5486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83480" y="15544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7C59"/>
                </a:solidFill>
                <a:latin typeface="Calibri"/>
              </a:rPr>
              <a:t>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9202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33333"/>
                </a:solidFill>
                <a:latin typeface="Georgia"/>
              </a:rPr>
              <a:t>Latency-Sensitive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377440"/>
            <a:ext cx="32918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8574"/>
                </a:solidFill>
                <a:latin typeface="Calibri"/>
              </a:rPr>
              <a:t>• Chatbots, autonomous systems, real-time agents
• Quality degrades with distance (latency)
• Regional market: proximity matters
• Millisecond response required
• More dispersed: regional hubs serve nearby demand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333333"/>
                </a:solidFill>
                <a:latin typeface="Georgia"/>
              </a:rPr>
              <a:t>Five Equilibrium Regimes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7A8574"/>
                </a:solidFill>
                <a:latin typeface="Calibri"/>
              </a:rPr>
              <a:t>Of nine possible combinations, only five arise in equilibrium (Proposition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7863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AF8F5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AF8F5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AF8F5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AF8F5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B8C5A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7A8574"/>
                          </a:solidFill>
                          <a:latin typeface="Calibri"/>
                        </a:rPr>
                        <a:t>Cheapest producers — global training + regional inference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67B5C"/>
                          </a:solidFill>
                          <a:latin typeface="Calibri"/>
                        </a:rPr>
                        <a:t>IE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Import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7A8574"/>
                          </a:solidFill>
                          <a:latin typeface="Calibri"/>
                        </a:rPr>
                        <a:t>Regional inference hubs — not cheap enough for global training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A862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Import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Domestic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7A8574"/>
                          </a:solidFill>
                          <a:latin typeface="Calibri"/>
                        </a:rPr>
                        <a:t>Import training, produce inference domestically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4A7C59"/>
                          </a:solidFill>
                          <a:latin typeface="Calibri"/>
                        </a:rPr>
                        <a:t>DD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Domestic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Domestic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7A8574"/>
                          </a:solidFill>
                          <a:latin typeface="Calibri"/>
                        </a:rPr>
                        <a:t>High sovereignty premium — produce both domestically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Import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Import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7A8574"/>
                          </a:solidFill>
                          <a:latin typeface="Calibri"/>
                        </a:rPr>
                        <a:t>High-cost countries — import both services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574"/>
                </a:solidFill>
                <a:latin typeface="Calibri"/>
              </a:rPr>
              <a:t>The remaining four combinations (e.g., training exporter + inference importer) are ruled out by cost ordering.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412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33333"/>
                </a:solidFill>
                <a:latin typeface="Georgia"/>
              </a:rPr>
              <a:t>Training Exporters ⊂ Inference Exporters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7A8574"/>
                </a:solidFill>
                <a:latin typeface="Calibri"/>
              </a:rPr>
              <a:t>Proposition 4: every training exporter also exports inference — but not vice versa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051560"/>
            <a:ext cx="4572000" cy="3017520"/>
          </a:xfrm>
          <a:prstGeom prst="ellipse">
            <a:avLst/>
          </a:prstGeom>
          <a:solidFill>
            <a:srgbClr val="E8EDE4"/>
          </a:solidFill>
          <a:ln w="31750">
            <a:solidFill>
              <a:srgbClr val="C67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67B5C"/>
                </a:solidFill>
                <a:latin typeface="Calibri"/>
              </a:rPr>
              <a:t>Inference Exporters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1600200"/>
            <a:ext cx="2926080" cy="2011680"/>
          </a:xfrm>
          <a:prstGeom prst="ellipse">
            <a:avLst/>
          </a:prstGeom>
          <a:solidFill>
            <a:srgbClr val="D4DFD0"/>
          </a:solidFill>
          <a:ln w="31750">
            <a:solidFill>
              <a:srgbClr val="4A7C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20240" y="1874519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7C59"/>
                </a:solidFill>
                <a:latin typeface="Calibri"/>
              </a:rPr>
              <a:t>Training
Exporters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42316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Canada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79192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Kyrgyzstan†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Kosovo†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Finland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8036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Norway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10896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7B5C"/>
                </a:solidFill>
                <a:latin typeface="Calibri"/>
              </a:rPr>
              <a:t>UK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971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7C59"/>
                </a:solidFill>
                <a:latin typeface="Calibri"/>
              </a:rPr>
              <a:t>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52044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67B5C"/>
                </a:solidFill>
                <a:latin typeface="Calibri"/>
              </a:rPr>
              <a:t>IE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1051560"/>
            <a:ext cx="3383280" cy="150876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0" y="1051560"/>
            <a:ext cx="64008" cy="150876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5000" y="10972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7C59"/>
                </a:solidFill>
                <a:latin typeface="Calibri"/>
              </a:rPr>
              <a:t>Why nesting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1389888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Training has no distance penalty (τ = 0), so a training exporter wins the global cost competition.
That same cost advantage dominates the latency markup for nearby buyers → it also wins inference locally.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2743200"/>
            <a:ext cx="3383280" cy="14173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0" y="2743200"/>
            <a:ext cx="64008" cy="141732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5000" y="27889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7C59"/>
                </a:solidFill>
                <a:latin typeface="Calibri"/>
              </a:rPr>
              <a:t>But not vice versa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081528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An inference exporter only needs to beat neighbors within the latency threshold.
It may not be cheap enough to win the global training market, where every country competes head-to-head on cost alone.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BDB6"/>
                </a:solidFill>
                <a:latin typeface="Calibri"/>
              </a:rPr>
              <a:t>Implication: regimes EI, ED, and DE cannot arise — the five equilibrium regimes in Proposition 1 are the only ones possible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33333"/>
                </a:solidFill>
                <a:latin typeface="Georgia"/>
              </a:rPr>
              <a:t>Raw Tariffs vs Cost-Recovery (Table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7A8574"/>
                </a:solidFill>
                <a:latin typeface="Calibri"/>
              </a:rPr>
              <a:t>Subsidized tariffs replaced with long-run marginal cost — 13 countries adjusted, 40 change trade regimes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005840"/>
          <a:ext cx="6355080" cy="3275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AF8F5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AF8F5"/>
                          </a:solidFill>
                          <a:latin typeface="Calibri"/>
                        </a:rPr>
                        <a:t>(1) Raw Tariffs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AF8F5"/>
                          </a:solidFill>
                          <a:latin typeface="Calibri"/>
                        </a:rPr>
                        <a:t>$/hr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AF8F5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AF8F5"/>
                          </a:solidFill>
                          <a:latin typeface="Calibri"/>
                        </a:rPr>
                        <a:t>(2) Cost-Recovery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AF8F5"/>
                          </a:solidFill>
                          <a:latin typeface="Calibri"/>
                        </a:rPr>
                        <a:t>$/hr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AF8F5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Iran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$1.56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Kyrgyzstan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$1.58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Turkmenistan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$1.57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Canada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Ethiopia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$1.58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Ethiopia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Kyrgyzstan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$1.58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Kosovo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$1.60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Egypt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$1.58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Tajikistan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$1.60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Algeria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Montenegro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$1.60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Canada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China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$1.61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Russia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Ukraine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$1.61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South Africa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$1.60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Argentina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$1.61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09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Kosovo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$1.60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Colombia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$1.61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574"/>
                </a:solidFill>
                <a:latin typeface="Calibri"/>
              </a:rPr>
              <a:t>EE = training + inference exporter    IE = inference exporter    DD = domestic    II = full importer    * = sanctioned    † = developing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33333"/>
                </a:solidFill>
                <a:latin typeface="Georgia"/>
              </a:rPr>
              <a:t>Sovereignty Reshapes Everything (Table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7A8574"/>
                </a:solidFill>
                <a:latin typeface="Calibri"/>
              </a:rPr>
              <a:t>Bilateral sovereignty premia shift most developing countries from exporters to domestic producers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960120"/>
          <a:ext cx="6035040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Country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(1) Raw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(2) Cost-Rec.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(3) Bilateral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AF8F5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2C2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Canada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Kyrgyzstan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45B4A"/>
                          </a:solidFill>
                          <a:latin typeface="Calibri"/>
                        </a:rPr>
                        <a:t>▼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Iran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45B4A"/>
                          </a:solidFill>
                          <a:latin typeface="Calibri"/>
                        </a:rPr>
                        <a:t>▼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Ethiopia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8C5A"/>
                          </a:solidFill>
                          <a:latin typeface="Calibri"/>
                        </a:rPr>
                        <a:t>EE†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45B4A"/>
                          </a:solidFill>
                          <a:latin typeface="Calibri"/>
                        </a:rPr>
                        <a:t>▼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Kosovo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IE†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IE†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45B4A"/>
                          </a:solidFill>
                          <a:latin typeface="Calibri"/>
                        </a:rPr>
                        <a:t>▼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Finland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USA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A8574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Turkmenistan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45B4A"/>
                          </a:solidFill>
                          <a:latin typeface="Calibri"/>
                        </a:rPr>
                        <a:t>▼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7A857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DD*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Norway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7B5C"/>
                          </a:solidFill>
                          <a:latin typeface="Calibri"/>
                        </a:rPr>
                        <a:t>IE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5B8C5A"/>
                          </a:solidFill>
                          <a:latin typeface="Calibri"/>
                        </a:rPr>
                        <a:t>▲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A7C59"/>
                          </a:solidFill>
                          <a:latin typeface="Calibri"/>
                        </a:rPr>
                        <a:t>DD</a:t>
                      </a:r>
                    </a:p>
                  </a:txBody>
                  <a:tcPr>
                    <a:solidFill>
                      <a:srgbClr val="F2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7A8574"/>
                </a:solidFill>
                <a:latin typeface="Calibri"/>
              </a:rPr>
              <a:t>— = not in top 25 (USA high-cost importer) or no bilateral rank (Iran, Turkmenistan sanctioned → forced domestic)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343400"/>
            <a:ext cx="3840480" cy="4572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BDB6"/>
                </a:solidFill>
                <a:latin typeface="Calibri"/>
              </a:rPr>
              <a:t>Only Canada + Kyrgyzstan remain exporters under bilateral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4343400"/>
            <a:ext cx="4206240" cy="4572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434340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BDB6"/>
                </a:solidFill>
                <a:latin typeface="Calibri"/>
              </a:rPr>
              <a:t>Trusted advanced economies rise as developing exporters fall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6400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AF8F5"/>
                </a:solidFill>
                <a:latin typeface="Georgia"/>
              </a:rPr>
              <a:t>The Central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4A7C59"/>
                </a:solidFill>
                <a:latin typeface="Georgia"/>
              </a:rPr>
              <a:t>Countries best positioned to export compute on cost grounds are precisely those excluded by bilateral trust deficits.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43200"/>
            <a:ext cx="2606040" cy="1920240"/>
          </a:xfrm>
          <a:prstGeom prst="rect">
            <a:avLst/>
          </a:prstGeom>
          <a:solidFill>
            <a:srgbClr val="3D3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2606040" cy="45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9260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C5A"/>
                </a:solidFill>
                <a:latin typeface="Calibri"/>
              </a:rPr>
              <a:t>Cost advantage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22402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BDB6"/>
                </a:solidFill>
                <a:latin typeface="Calibri"/>
              </a:rPr>
              <a:t>Developing countries with cheap energy rank among the lowest-cost producers under cost-recovery pricing.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743200"/>
            <a:ext cx="2606040" cy="1920240"/>
          </a:xfrm>
          <a:prstGeom prst="rect">
            <a:avLst/>
          </a:prstGeom>
          <a:solidFill>
            <a:srgbClr val="3D3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4720" y="2743200"/>
            <a:ext cx="2606040" cy="45720"/>
          </a:xfrm>
          <a:prstGeom prst="rect">
            <a:avLst/>
          </a:prstGeom>
          <a:solidFill>
            <a:srgbClr val="C45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29260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5B4A"/>
                </a:solidFill>
                <a:latin typeface="Calibri"/>
              </a:rPr>
              <a:t>Trust deficits eliminate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37560"/>
            <a:ext cx="22402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BDB6"/>
                </a:solidFill>
                <a:latin typeface="Calibri"/>
              </a:rPr>
              <a:t>Bilateral sovereignty premia shift nearly all developing countries to domestic production or importing.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743200"/>
            <a:ext cx="2606040" cy="1920240"/>
          </a:xfrm>
          <a:prstGeom prst="rect">
            <a:avLst/>
          </a:prstGeom>
          <a:solidFill>
            <a:srgbClr val="3D3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2743200"/>
            <a:ext cx="2606040" cy="4572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29260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7C59"/>
                </a:solidFill>
                <a:latin typeface="Calibri"/>
              </a:rPr>
              <a:t>Welfare cost: ~1.5%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37560"/>
            <a:ext cx="22402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BDB6"/>
                </a:solidFill>
                <a:latin typeface="Calibri"/>
              </a:rPr>
              <a:t>Demand-weighted welfare loss from sovereignty premia is 1.5% of compute spending — modest but nontrivial.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333333"/>
                </a:solidFill>
                <a:latin typeface="Georgia"/>
              </a:rPr>
              <a:t>A Dual Implication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574"/>
                </a:solidFill>
                <a:latin typeface="Calibri"/>
              </a:rPr>
              <a:t>The narrow cost spread cuts both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3794760" cy="30175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64008" cy="30175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B8C5A"/>
                </a:solidFill>
                <a:latin typeface="Georgia"/>
              </a:rPr>
              <a:t>Easiest Sector to 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32004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Because hardware is globally priced and dominates costs, the absolute barrier to cost-competitiveness is low. Countries with cheap electricity and favorable cooling face a small gap to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554480"/>
            <a:ext cx="3794760" cy="30175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09160" y="1554480"/>
            <a:ext cx="64008" cy="3017520"/>
          </a:xfrm>
          <a:prstGeom prst="rect">
            <a:avLst/>
          </a:prstGeom>
          <a:solidFill>
            <a:srgbClr val="C45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17373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45B4A"/>
                </a:solidFill>
                <a:latin typeface="Georgia"/>
              </a:rPr>
              <a:t>Most Vulnerable to Frictions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286000"/>
            <a:ext cx="32004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The same narrowness means even modest frictions — a sovereignty premium, a governance penalty, or a higher cost of capital — are sufficient to alter a country's trade regime entirely.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412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333333"/>
                </a:solidFill>
                <a:latin typeface="Georgia"/>
              </a:rPr>
              <a:t>Robustness: 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7A8574"/>
                </a:solidFill>
                <a:latin typeface="Calibri"/>
              </a:rPr>
              <a:t>Cost rankings are stable across plausible parameter variation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005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64008" cy="10058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332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7B5C"/>
                </a:solidFill>
                <a:latin typeface="Calibri"/>
              </a:rPr>
              <a:t>Hardware cost share (ρ ± 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Higher ρ compresses the locally-penalized share → governance penalties muted → developing countries gain competitiveness.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Lower ρ widens the electricity and construction share → cold-climate, low-cost countries strengthen their advantage.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8229600" cy="1005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64008" cy="100584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762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7C59"/>
                </a:solidFill>
                <a:latin typeface="Calibri"/>
              </a:rPr>
              <a:t>Uniform sovereignty premium (λ = 10%)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50591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Most countries produce domestically under either bilateral or uniform specification — regime assignments are similar.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Only 2 countries (Canada, Kyrgyzstan) remain exporters under both. The narrow cost spread means 10% is enough to flip regimes.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46120"/>
            <a:ext cx="8229600" cy="100584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246120"/>
            <a:ext cx="64008" cy="1005840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3192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7B5C"/>
                </a:solidFill>
                <a:latin typeface="Calibri"/>
              </a:rPr>
              <a:t>Sovereignty tiers (3 workload segments)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1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Sovereign workloads (10% of demand): domestic only. Regulated (20%): higher compatibility weight. Commercial (70%): standard.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8574"/>
                </a:solidFill>
                <a:latin typeface="Calibri"/>
              </a:rPr>
              <a:t>Tiered approach more realistic than uniform — governments rarely apply the same standard to classified vs. commercial AI.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BDB6"/>
                </a:solidFill>
                <a:latin typeface="Calibri"/>
              </a:rPr>
              <a:t>Core result stable: the binding constraint is institutional credibility, not energy cost, across all specifications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412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333333"/>
                </a:solidFill>
                <a:latin typeface="Georgia"/>
              </a:rPr>
              <a:t>Caveats &amp; Extensions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7A8574"/>
                </a:solidFill>
                <a:latin typeface="Calibri"/>
              </a:rPr>
              <a:t>Factors outside the current model that would further narrow the set of viable exporters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4023360" cy="13716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GPU Export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657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US restrictions bar Iran, Russia, Belarus, and (partially) China from acquiring frontier GPUs. Model's cost advantage for sanctioned countries is moot without hardware access.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960120"/>
            <a:ext cx="4023360" cy="13716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63440" y="96012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Endogenous Electricity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463040"/>
            <a:ext cx="3657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A 100 MW data center in Kyrgyzstan would consume ~10% of national generation. At scale, marginal cost pricing would push electricity above the current average tariff.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4023360" cy="13716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Cost of Capital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17520"/>
            <a:ext cx="3657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Calibration assumes uniform WACC. In practice, an OECD hyperscaler at 8% faces $1.58/hr; a developing-country entrant at 15% faces $1.62/hr — erasing cost advantage from cheap energy.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514600"/>
            <a:ext cx="4023360" cy="13716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26517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Next-Gen GPUs (B200+)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017520"/>
            <a:ext cx="3657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574"/>
                </a:solidFill>
                <a:latin typeface="Calibri"/>
              </a:rPr>
              <a:t>Successor GPUs deliver ~4× training throughput at ~1 kW. Higher power draw widens the absolute electricity gap, modestly strengthening developing-country advantage on energy costs.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A7C59"/>
                </a:solidFill>
                <a:latin typeface="Calibri"/>
              </a:rPr>
              <a:t>Direction of bias: </a:t>
            </a:r>
            <a:r>
              <a:rPr sz="1100" b="0" i="0">
                <a:solidFill>
                  <a:srgbClr val="C4BDB6"/>
                </a:solidFill>
                <a:latin typeface="Calibri"/>
              </a:rPr>
              <a:t>all four factors narrow the set of viable exporters beyond the baseline calibration. GPU controls and capital costs work against developing countries; endogenous prices work against small countries; GPU upgrades slightly favor energy-rich 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333333"/>
                </a:solidFill>
                <a:latin typeface="Georgia"/>
              </a:rPr>
              <a:t>Policy Implications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3794760" cy="14173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33333"/>
                </a:solidFill>
                <a:latin typeface="Georgia"/>
              </a:rPr>
              <a:t>Training vs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3291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574"/>
                </a:solidFill>
                <a:latin typeface="Calibri"/>
              </a:rPr>
              <a:t>Restricting training imports raises costs without offsetting proximity gains. Inference has a genuine latency-based case for domestic production.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09160" y="1188720"/>
            <a:ext cx="3794760" cy="14173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37760" y="132588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33333"/>
                </a:solidFill>
                <a:latin typeface="Georgia"/>
              </a:rPr>
              <a:t>Institutional Credibility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291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574"/>
                </a:solidFill>
                <a:latin typeface="Calibri"/>
              </a:rPr>
              <a:t>The binding constraint is not energy cost but institutional trust: non-sanctioned status, credible contracts, network connectivity, regulatory stability.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3794760" cy="14173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33333"/>
                </a:solidFill>
                <a:latin typeface="Georgia"/>
              </a:rPr>
              <a:t>Data Localization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3291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574"/>
                </a:solidFill>
                <a:latin typeface="Calibri"/>
              </a:rPr>
              <a:t>Broad data localization requirements risk foreclosing both import savings and regional export opportunities — the very gains the model predicts.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834640"/>
            <a:ext cx="3794760" cy="141732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29718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33333"/>
                </a:solidFill>
                <a:latin typeface="Georgia"/>
              </a:rPr>
              <a:t>Resource Curse Parallels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383280"/>
            <a:ext cx="3291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574"/>
                </a:solidFill>
                <a:latin typeface="Calibri"/>
              </a:rPr>
              <a:t>Concentrated compute export revenues could trigger Dutch disease dynamics. Revenue-sharing models (sovereign wealth fund vs elite capture) determine outcomes.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AF8F5"/>
                </a:solidFill>
                <a:latin typeface="Georgia"/>
              </a:rP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 dirty="0">
                <a:solidFill>
                  <a:srgbClr val="C67B5C"/>
                </a:solidFill>
                <a:latin typeface="Georgia"/>
              </a:rPr>
              <a:t>Compute is the easiest sector for developing countries to enter on cost grounds — and the most vulnerable to the small frictions that keep them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7B5C"/>
                </a:solidFill>
                <a:latin typeface="Calibri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4BDB6"/>
                </a:solidFill>
                <a:latin typeface="Calibri"/>
              </a:rPr>
              <a:t>Hardware dominance compresses cross-country cost spread to 12–20%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39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7B5C"/>
                </a:solidFill>
                <a:latin typeface="Calibr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4BDB6"/>
                </a:solidFill>
                <a:latin typeface="Calibri"/>
              </a:rPr>
              <a:t>Cost-recovery pricing reveals genuine comparative advantage in energy-rich countries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59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7B5C"/>
                </a:solidFill>
                <a:latin typeface="Calibr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49039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4BDB6"/>
                </a:solidFill>
                <a:latin typeface="Calibri"/>
              </a:rPr>
              <a:t>Bilateral sovereignty premia eliminate developing-country exports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7B5C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51960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4BDB6"/>
                </a:solidFill>
                <a:latin typeface="Calibri"/>
              </a:rPr>
              <a:t>Institutional credibility, not energy cost, is the binding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3D38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7A8574"/>
                </a:solidFill>
                <a:latin typeface="Calibri"/>
              </a:rPr>
              <a:t>Michael Lokshin  •  March 2026  •  </a:t>
            </a:r>
            <a:r>
              <a:rPr lang="en-US" sz="1100" b="0" i="0" dirty="0">
                <a:solidFill>
                  <a:srgbClr val="7A8574"/>
                </a:solidFill>
                <a:latin typeface="Calibri"/>
              </a:rPr>
              <a:t>mlokshin@worldbank.org</a:t>
            </a:r>
            <a:endParaRPr sz="1100" b="0" i="0" dirty="0">
              <a:solidFill>
                <a:srgbClr val="7A8574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2706</Words>
  <Application>Microsoft Office PowerPoint</Application>
  <PresentationFormat>On-screen Show (16:9)</PresentationFormat>
  <Paragraphs>453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Fel'dsher Gun'kin</cp:lastModifiedBy>
  <cp:revision>1</cp:revision>
  <dcterms:created xsi:type="dcterms:W3CDTF">2013-01-27T09:14:16Z</dcterms:created>
  <dcterms:modified xsi:type="dcterms:W3CDTF">2026-04-16T08:16:49Z</dcterms:modified>
  <cp:category/>
</cp:coreProperties>
</file>