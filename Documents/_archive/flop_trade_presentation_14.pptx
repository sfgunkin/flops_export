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Calibri"/>
              </a:rPr>
              <a:t>Cost per GPU-hour ($/hr)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Hardware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Cheapest</c:v>
                  </c:pt>
                  <c:pt idx="1">
                    <c:v>Median</c:v>
                  </c:pt>
                  <c:pt idx="2">
                    <c:v>Costliest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1.36</c:v>
                </c:pt>
                <c:pt idx="1">
                  <c:v>1.36</c:v>
                </c:pt>
                <c:pt idx="2">
                  <c:v>1.36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Electricity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Cheapest</c:v>
                  </c:pt>
                  <c:pt idx="1">
                    <c:v>Median</c:v>
                  </c:pt>
                  <c:pt idx="2">
                    <c:v>Costliest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0.06</c:v>
                </c:pt>
                <c:pt idx="1">
                  <c:v>0.12</c:v>
                </c:pt>
                <c:pt idx="2">
                  <c:v>0.22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Construction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Cheapest</c:v>
                  </c:pt>
                  <c:pt idx="1">
                    <c:v>Median</c:v>
                  </c:pt>
                  <c:pt idx="2">
                    <c:v>Costliest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0.04</c:v>
                </c:pt>
                <c:pt idx="1">
                  <c:v>0.06</c:v>
                </c:pt>
                <c:pt idx="2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548640"/>
            <a:ext cx="457200" cy="4572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2296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097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Energy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 Not Be Enough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 Model of AI Compute Services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31520" y="356616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Lokshin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c_pho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286000"/>
            <a:ext cx="9144000" cy="594360"/>
          </a:xfrm>
          <a:prstGeom prst="rect">
            <a:avLst/>
          </a:prstGeom>
          <a:solidFill>
            <a:srgbClr val="0B1D2E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FLOPs Are Produced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center converts electricity into floating-point operations — the raw commodity of AI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4320" y="2971800"/>
            <a:ext cx="2011680" cy="1234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2971800"/>
            <a:ext cx="201168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363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power (pⱼᴱ)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price —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country-varying input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2402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514600" y="2971800"/>
            <a:ext cx="2011680" cy="1234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14600" y="2971800"/>
            <a:ext cx="2011680" cy="45720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13639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71800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65176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overhead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Climate-dependent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(θⱼ → cooling cost)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48056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4754880" y="2971800"/>
            <a:ext cx="2011680" cy="1234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71800"/>
            <a:ext cx="2011680" cy="45720"/>
          </a:xfrm>
          <a:prstGeom prst="rect">
            <a:avLst/>
          </a:prstGeom>
          <a:solidFill>
            <a:srgbClr val="00ACC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3639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Hardware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9204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H100/B200 racks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priced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(~90% of unit cost)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72084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6995160" y="2971800"/>
            <a:ext cx="2011680" cy="1234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995160" y="297180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13639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52360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Output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13232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services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(batch)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(real-time)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0" y="4297680"/>
            <a:ext cx="9144000" cy="502920"/>
          </a:xfrm>
          <a:prstGeom prst="rect">
            <a:avLst/>
          </a:prstGeom>
          <a:solidFill>
            <a:srgbClr val="111B27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cⱼ = </a:t>
            </a:r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(~8%)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(~90%)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+ construction (~2%)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Developing Countries Are Joining the Race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Billion-dollar data center commitments are no longer confined to the US, Europe, and China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/ NVIDIA AI Factory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$4B total (Phase 1: $500M) · 100 MW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NVIDIA GPUs · US-approved chip transfer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Pashinyan lobbied Trump directly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54864" cy="14173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 / NEOM / DataVolt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15361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$23B+ in AI partnerships · 11 data centers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MW each · NEOM pivoting to DC hub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 goal: 3rd-largest AI provider globally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14400"/>
            <a:ext cx="54864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OpenAI–G42 Abu Dhabi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15361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GW campus · largest single AI site globally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Stargate international expansion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Khazna 100 MW AI facility in Ajman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5146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14600"/>
            <a:ext cx="54864" cy="1417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87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/ Batam DC corridor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136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Princeton Digital: $1B Jakarta campus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&amp; Google cloud regions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 Asian market by demand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5146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514600"/>
            <a:ext cx="54864" cy="14173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587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Data Centres / IXAfrica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83280" y="3136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Africa's DC hub · 1 GW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geothermal power (~$0.07/kWh)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&amp; Google African cloud regions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25146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514600"/>
            <a:ext cx="54864" cy="14173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587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Johor corridor (Microsoft / NTT)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3136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$34B investment boom · $6B market by 2031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2nd cloud region (SE Asia 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Cyberjaya: 22 existing + 9 upcoming DCs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251960"/>
            <a:ext cx="9144000" cy="548640"/>
          </a:xfrm>
          <a:prstGeom prst="rect">
            <a:avLst/>
          </a:prstGeom>
          <a:solidFill>
            <a:srgbClr val="111B27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countries have cheap energy and political will. Can they overcome sovereignty frictions and institutional gaps to capture AI compute demand?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Opportunity: FLOP Exporting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846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64008" cy="3291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demand is doubling every six months. Data centers already consume 1.5% of global electricity — projected to more than double by 2030.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can convert cheap electricity into high-value AI compute exports — moving up the value chain from raw resources to digital services.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Energy-rich developing countries — with cheap electricity, growing grid capacity, and political will — have a rare opportunity to leapfrog into high-value digital exports without the traditional industrialization path.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4813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1325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6294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rate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423160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62432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52160" y="3566160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76732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9400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$9B+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662940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exports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Paper's Contributions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97280" y="960120"/>
            <a:ext cx="7132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9601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74520" y="13716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Capacity-constrained Ricardian model of compute trade with iceberg latency costs and bilateral sovereignty premia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74520" y="16184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training (latency-insensitive) from inference (latency-sensitive) — five equilibrium regimes emerge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97280" y="2148840"/>
            <a:ext cx="7132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14884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" y="233172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7452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874520" y="25603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85-country calibration correcting for energy subsidies that distort headline cost rankings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874520" y="28072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Cost-recovery pricing replaces subsidized tariffs with LRMC for 13 countries; bilateral sovereignty premium from UNGA voting, data adequacy, and sanctions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1097280" y="3337560"/>
            <a:ext cx="7132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097280" y="333756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Shape 17"/>
          <p:cNvSpPr/>
          <p:nvPr/>
        </p:nvSpPr>
        <p:spPr>
          <a:xfrm>
            <a:off x="320040" y="3520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18"/>
          <p:cNvSpPr/>
          <p:nvPr/>
        </p:nvSpPr>
        <p:spPr>
          <a:xfrm>
            <a:off x="32004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47472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87452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&amp; Policy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874520" y="37490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trade regimes and quantify the welfare cost of sovereignty premia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874520" y="39959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cost is 1.5% of compute spending (~$1.3B/yr) — small enough that domestic production can be rational for sovereign workloads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Literature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examines AI governance, digital trade, and data center geography — but no formal trade model of compute exists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Comparative Advantage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536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Goldfarb &amp; Trefler (2018)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Korinek &amp; Stiglitz (2021)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shifts advantage to data &amp; human capital; developing countries risk being left behind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9728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801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Offshoring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212080" y="1536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Blinder (2006)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Brainard (1997), Helpman et al. (2004)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Labor-intensive and skill-biased — a different set of exporters than compute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74320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Geography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05840" y="3182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Flucker et al. (2013), Liu et al. (2023)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Lehdonvirta et al. (2024), Pilz et al. (2025)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affects cooling costs; 'Compute North' holds 77% of capacity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27432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274320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260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1208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Governance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212080" y="3182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Sastry et al. (2024)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(2025), Biglaiser et al. (2024)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well-suited for regulation but lacks a cost-to-trade framework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0B1D2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07408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343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formal model linking production costs → trade patterns → welfare costs for compute services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capacity-constrained Ricardian model with three innovations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56032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Structure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production costs from electricity, hardware (globally priced), and construction. PUE varies with climate.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Costs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49040" y="28346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latency-insensitive (freely offshorable). Inference degrades with distance — localized markets.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5544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 Premium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83680" y="28346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friction from geopolitical distance, regulatory gaps, and sanctions. Trust deficits as trade barriers.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Model: Cost Structure &amp; Trade Costs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31520"/>
            <a:ext cx="64008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 Production Cost</a:t>
            </a:r>
            <a:endParaRPr lang="en-US" sz="1300" dirty="0"/>
          </a:p>
        </p:txBody>
      </p:sp>
      <p:pic>
        <p:nvPicPr>
          <p:cNvPr id="6" name="Image 0" descr="eq_imgs/eq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41148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749808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γ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= GPU power draw (kW)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pⱼᴱ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= electricity price ($/kWh)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PUE(θⱼ)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= cooling overhead (θ = temp.)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ρ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= hardware amortization (global, ~90%)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η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= networking (global)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κⱼ/(Lf·H)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 = construction / (lifetime × hrs/yr)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28600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 Bilateral Sovereignty Premium</a:t>
            </a:r>
            <a:endParaRPr lang="en-US" sz="1300" dirty="0"/>
          </a:p>
        </p:txBody>
      </p:sp>
      <p:pic>
        <p:nvPicPr>
          <p:cNvPr id="11" name="Image 1" descr="eq_imgs/eq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78608"/>
            <a:ext cx="41148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2331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dⱼₖ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= geopolitical distance (UNGA voting)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Rⱼₖ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= data-adequacy agreement (0/1)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Sⱼₖ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 = sanctions indicator → λ = ∞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657600"/>
            <a:ext cx="64008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 Delivered Cost</a:t>
            </a:r>
            <a:endParaRPr lang="en-US" sz="1300" dirty="0"/>
          </a:p>
        </p:txBody>
      </p:sp>
      <p:pic>
        <p:nvPicPr>
          <p:cNvPr id="16" name="Image 2" descr="eq_imgs/eq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50208"/>
            <a:ext cx="45720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363931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τ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= latency degradation rate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ℓⱼₖ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= round-trip latency (ms)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Training (s=T):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 τ = 0 → no latency cost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Inference (s=I):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  τ &gt; 0 → cost rises with distance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Model: Equilibrium &amp; Welfare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315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 Demand</a:t>
            </a:r>
            <a:endParaRPr lang="en-US" sz="1300" dirty="0"/>
          </a:p>
        </p:txBody>
      </p:sp>
      <p:pic>
        <p:nvPicPr>
          <p:cNvPr id="6" name="Image 0" descr="eq_imgs/eq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87552"/>
            <a:ext cx="41148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777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ωₖ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 = share of installed DC capacity (MW)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Splits: Dᵀ = αΩωₖ  (training),  Dᴵ = (1−α)Ωωₖ  (inference)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874520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 Sourcing &amp; Capacity Constraint</a:t>
            </a:r>
            <a:endParaRPr lang="en-US" sz="1300" dirty="0"/>
          </a:p>
        </p:txBody>
      </p:sp>
      <p:pic>
        <p:nvPicPr>
          <p:cNvPr id="11" name="Image 1" descr="eq_imgs/eq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45720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1920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Each buyer picks cheapest delivered source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GPU-hours allocated to highest-margin use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Subject to grid capacity ceiling k̄ⱼ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246120"/>
            <a:ext cx="6400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273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(6)  Training Market Clearing</a:t>
            </a:r>
            <a:endParaRPr lang="en-US" sz="1300" dirty="0"/>
          </a:p>
        </p:txBody>
      </p:sp>
      <p:pic>
        <p:nvPicPr>
          <p:cNvPr id="16" name="Image 2" descr="eq_imgs/eq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93008"/>
            <a:ext cx="45720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</a:rPr>
              <a:t>Price = marginal exporter's cost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Infra-marginal exporters earn rents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" y="4178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Welfare:</a:t>
            </a:r>
            <a:endParaRPr lang="en-US" sz="1100" dirty="0"/>
          </a:p>
        </p:txBody>
      </p:sp>
      <p:pic>
        <p:nvPicPr>
          <p:cNvPr id="20" name="Image 3" descr="eq_imgs/eq_welfa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178808"/>
            <a:ext cx="411480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4160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markup + allocative inefficiency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domestic production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&amp; Capacity Constraints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39319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31520"/>
            <a:ext cx="3931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demand is defined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spending Ω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cloud compute market (~$90B/yr)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shares  ωₖ = k̄ₖ / Σk̄ₖ'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Proxied by installed DC capacity (MW)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~33%, China ~16%, EU ~15%, RoW ~36%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inference split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Dᵀ = α · Ω · ωₖ     (latency-insensitive)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Dᴵ  = (1−α) · Ω · ωₖ  (latency-sensitive)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α = 40% training, 60% inference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520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shares are fixed — the model determines who supplies each country's demand, not how much each country demands.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73152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capacity constraints work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3246120"/>
            <a:ext cx="548640" cy="777240"/>
          </a:xfrm>
          <a:prstGeom prst="rect">
            <a:avLst/>
          </a:prstGeom>
          <a:solidFill>
            <a:srgbClr val="4DD0E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794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KGZ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37760" y="3081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541264" y="3108960"/>
            <a:ext cx="1005840" cy="914400"/>
          </a:xfrm>
          <a:prstGeom prst="rect">
            <a:avLst/>
          </a:prstGeom>
          <a:solidFill>
            <a:srgbClr val="26C6DA"/>
          </a:solidFill>
          <a:ln/>
        </p:spPr>
      </p:sp>
      <p:sp>
        <p:nvSpPr>
          <p:cNvPr id="23" name="Text 21"/>
          <p:cNvSpPr/>
          <p:nvPr/>
        </p:nvSpPr>
        <p:spPr>
          <a:xfrm>
            <a:off x="5541264" y="3794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541264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$1.59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601968" y="3017520"/>
            <a:ext cx="411480" cy="10058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6601968" y="3794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601968" y="2852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068312" y="2926080"/>
            <a:ext cx="640080" cy="10972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9" name="Text 27"/>
          <p:cNvSpPr/>
          <p:nvPr/>
        </p:nvSpPr>
        <p:spPr>
          <a:xfrm>
            <a:off x="7068312" y="3794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068312" y="27614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$1.61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763256" y="2743200"/>
            <a:ext cx="502920" cy="12801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2" name="Text 30"/>
          <p:cNvSpPr/>
          <p:nvPr/>
        </p:nvSpPr>
        <p:spPr>
          <a:xfrm>
            <a:off x="7763256" y="37947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763256" y="2578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$1.65+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37760" y="4069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cumulative capacity (GPU-hours) →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3657600" cy="0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7132320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pᵀ = marginal entrant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83480" y="322783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rents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92040" y="11887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has a capacity ceiling k̄ⱼ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(grid power + permitting + connectivity)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constraints: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country serves all demand, pᵀ = c₁, zero rents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constraints: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fills up → price rises to marginal entrant's cost → infra-marginal exporters earn rents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Cost Spread Is Narrow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926080" cy="1828800"/>
          </a:xfrm>
          <a:prstGeom prst="rect">
            <a:avLst/>
          </a:prstGeom>
          <a:solidFill>
            <a:srgbClr val="0B1D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852160" y="1371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unit cost is hardware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identical across countries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329184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3291840"/>
            <a:ext cx="64008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3383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12–20%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126480" y="3886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cross-country cost spread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narrower than virtually any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tradable sector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Markets, Two Geographies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794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3794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Latency-Insensitive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fine-tuning, batch processing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distance penalty — freely offshorable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market: cheapest producer wins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months of compute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concentrated: 1–2 exporters serve most demand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794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80160"/>
            <a:ext cx="3794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Latency-Sensitive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autonomous systems, real-time agents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degrades with distance (latency)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market: proximity matters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response required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dispersed: regional hubs serve nearby demand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Equilibrium Regimes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nine possible combinations, only five arise in equilibrium (Proposition 1)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9728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producers — global training + regional 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inference hubs — not cheap enough for global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training, produce inference domestically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sovereignty premium — produce both domestically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High-cost countries — import both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four combinations (e.g., training exporter + inference importer) are ruled out by cost ordering.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Exporters ⊂ Inference Exporters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4: every training exporter also exports inference — but not vice versa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572000" cy="3017520"/>
          </a:xfrm>
          <a:prstGeom prst="ellipse">
            <a:avLst/>
          </a:prstGeom>
          <a:solidFill>
            <a:srgbClr val="E0F7FA">
              <a:alpha val="60000"/>
            </a:srgbClr>
          </a:solidFill>
          <a:ln w="317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Exporters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600200"/>
            <a:ext cx="2926080" cy="2011680"/>
          </a:xfrm>
          <a:prstGeom prst="ellipse">
            <a:avLst/>
          </a:prstGeom>
          <a:solidFill>
            <a:srgbClr val="B2EBF2">
              <a:alpha val="80000"/>
            </a:srgbClr>
          </a:solidFill>
          <a:ln w="31750">
            <a:solidFill>
              <a:srgbClr val="028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2423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679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Kyrgyzstan†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Kosovo†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4904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4904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6888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5204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051560"/>
            <a:ext cx="33832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051560"/>
            <a:ext cx="64008" cy="150876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nesting holds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138988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has no distance penalty (τ = 0), so a training exporter wins the </a:t>
            </a:r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competition.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same cost advantage dominates the latency markup for nearby buyers → it also wins inference locally.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0" y="274320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2743200"/>
            <a:ext cx="64008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vice versa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30815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inference exporter only needs to beat neighbors within the latency threshold.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not be cheap enough to win the global training market, where every country competes head-to-head on cost alone.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regimes EI, ED, and DE cannot arise — the five equilibrium regimes in Proposition 1 are the only ones possible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Tariffs vs Cost-Recovery (Table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Subsidized tariffs replaced with long-run marginal cost — 13 countries adjusted, 40 change trade regimes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05840"/>
          <a:ext cx="6858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731520"/>
                <a:gridCol w="640080"/>
                <a:gridCol w="411480"/>
                <a:gridCol w="1371600"/>
                <a:gridCol w="73152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(1) Raw Tariffs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(2) Cost-Recovery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Kyrgyzstan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Turkmenistan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Kyrgyzstan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Egypt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Tajikistan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Montenegro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Ukraine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Africa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= training + inference exporter    IE = inference exporter    DD = domestic    II = full importer    * = sanctioned    † = developing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 Reshapes Everything (Table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sovereignty premia shift most developing countries from exporters to domestic producers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960120"/>
          <a:ext cx="6858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85800"/>
                <a:gridCol w="594360"/>
                <a:gridCol w="365760"/>
                <a:gridCol w="777240"/>
                <a:gridCol w="594360"/>
                <a:gridCol w="365760"/>
                <a:gridCol w="777240"/>
                <a:gridCol w="5943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(1) Raw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(2) Cost-Rec.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(3) Bilateral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Kyrgyzstan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Turkmenistan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= not in top 25 (USA high-cost importer) or no bilateral rank (Iran, Turkmenistan sanctioned → forced domestic)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4343400"/>
            <a:ext cx="3840480" cy="45720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Canada + Kyrgyzstan remain exporters under bilateral spec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80560" y="4343400"/>
            <a:ext cx="4206240" cy="45720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advanced economies rise as developing exporters fall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Finding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Countries best positioned to export compute on cost grounds are precisely those excluded by bilateral trust deficits.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2606040" cy="1920240"/>
          </a:xfrm>
          <a:prstGeom prst="rect">
            <a:avLst/>
          </a:prstGeom>
          <a:solidFill>
            <a:srgbClr val="132F46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74320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 exists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countries with cheap energy rank among the lowest-cost producers under cost-recovery pricing.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2743200"/>
            <a:ext cx="2606040" cy="1920240"/>
          </a:xfrm>
          <a:prstGeom prst="rect">
            <a:avLst/>
          </a:prstGeom>
          <a:solidFill>
            <a:srgbClr val="132F46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2743200"/>
            <a:ext cx="26060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deficits eliminate 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0" y="3337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sovereignty premia shift nearly all developing countries to domestic production or importing.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2743200"/>
            <a:ext cx="2606040" cy="1920240"/>
          </a:xfrm>
          <a:prstGeom prst="rect">
            <a:avLst/>
          </a:prstGeom>
          <a:solidFill>
            <a:srgbClr val="132F46"/>
          </a:solidFill>
          <a:ln/>
        </p:spPr>
      </p:sp>
      <p:sp>
        <p:nvSpPr>
          <p:cNvPr id="15" name="Shape 12"/>
          <p:cNvSpPr/>
          <p:nvPr/>
        </p:nvSpPr>
        <p:spPr>
          <a:xfrm>
            <a:off x="6309360" y="2743200"/>
            <a:ext cx="26060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cost: ~1.5%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3337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welfare loss from sovereignty premia is 1.5% of compute spending — modest but nontrivial.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Dual Implication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cost spread cuts both ways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94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3017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Easiest Sector to Enter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hardware is globally priced and dominates costs, the absolute barrier to cost-competitiveness is low. Countries with cheap electricity and favorable cooling face a small gap to close.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794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554480"/>
            <a:ext cx="64008" cy="3017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Vulnerable to Frictions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narrowness means even modest frictions — a sovereignty premium, a governance penalty, or a higher cost of capital — are sufficient to alter a country's trade regime entirely.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Sensitivity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rankings are stable across plausible parameter variation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33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 share (ρ ± 4%)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ρ compresses the locally-penalized share → governance penalties muted → developing countries gain competitiveness.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ρ widens the electricity and construction share → cold-climate, low-cost countries strengthen their advantage.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76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sovereignty premium (λ = 10%)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450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countries produce domestically under either bilateral or uniform specification — regime assignments are similar.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countries (Canada, Kyrgyzstan) remain exporters under both. The narrow cost spread means 10% is enough to flip regimes.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461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19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tiers (3 workload segments)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593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workloads (10% of demand): domestic only. Regulated (20%): higher compatibility weight. Commercial (70%): standard.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approach more realistic than uniform — governments rarely apply the same standard to classified vs. commercial AI.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result stable: the binding constraint is institutional credibility, not energy cost, across all specifications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 &amp; Extensions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outside the current model that would further narrow the set of viable exporters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Export Controls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restrictions bar Iran, Russia, Belarus, and (partially) China from acquiring frontier GPUs. Model's cost advantage for sanctioned countries is moot without hardware access.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9601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96012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Electricity Prices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1463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 MW data center in Kyrgyzstan would consume ~10% of national generation. At scale, marginal cost pricing would push electricity above the current average tariff.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5146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51460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974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Capital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assumes uniform WACC. In practice, an OECD hyperscaler at 8% faces $1.58/hr; a developing-country entrant at 15% faces $1.62/hr — erasing cost advantage from cheap energy.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5146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251460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6974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GPUs (B200+)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46320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 GPUs deliver ~4× training throughput at ~1 kW. Higher power draw widens the absolute electricity gap, modestly strengthening developing-country advantage on energy costs.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bias: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factors narrow the set of viable exporters beyond the baseline calibration. GPU controls and capital costs work against developing countries; endogenous prices work against small countries; GPU upgrades slightly favor energy-rich ones.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Implications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94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vs Inference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1737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training imports raises costs without offsetting proximity gains. Inference has a genuine latency-based case for domestic production.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794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Credibility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40680" y="1737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not energy cost but institutional trust: non-sanctioned status, credible contracts, network connectivity, regulatory stability.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2834640"/>
            <a:ext cx="3794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175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Localization Risk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7160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data localization requirements risk foreclosing both import savings and regional export opportunities — the very gains the model predicts.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09160" y="2834640"/>
            <a:ext cx="3794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175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Curse Parallels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44068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compute export revenues could trigger Dutch disease dynamics. Revenue-sharing models (sovereign wealth fund vs elite capture) determine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is the easiest sector for developing countries to enter on cost grounds — and the most vulnerable to the small frictions that keep them out.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889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dominance compresses cross-country cost spread to 12–20%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9184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Cost-recovery pricing reveals genuine comparative advantage in energy-rich countries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9476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sovereignty premia eliminate developing-country exports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976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credibility, not energy cost, is the binding constraint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32F46"/>
          </a:solidFill>
          <a:ln/>
        </p:spPr>
      </p:sp>
      <p:sp>
        <p:nvSpPr>
          <p:cNvPr id="14" name="Text 8"/>
          <p:cNvSpPr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Lokshin  •  March 2026  •  michael.lokshin@gmail.com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Cheap Energy Might Not Be Enough: A Trade Model of AI Compute Services</dc:title>
  <dc:subject>PptxGenJS Presentation</dc:subject>
  <dc:creator>Michael Lokshin</dc:creator>
  <cp:lastModifiedBy>Michael Lokshin</cp:lastModifiedBy>
  <cp:revision>1</cp:revision>
  <dcterms:created xsi:type="dcterms:W3CDTF">2026-03-01T17:26:00Z</dcterms:created>
  <dcterms:modified xsi:type="dcterms:W3CDTF">2026-03-01T17:26:00Z</dcterms:modified>
</cp:coreProperties>
</file>