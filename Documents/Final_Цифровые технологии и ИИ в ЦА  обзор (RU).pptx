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charts/chart1.xml" ContentType="application/vnd.openxmlformats-officedocument.drawingml.chart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3.xml" ContentType="application/vnd.openxmlformats-officedocument.presentationml.notesSlid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1.xml" ContentType="application/vnd.openxmlformats-officedocument.themeOverrid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2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0" r:id="rId5"/>
  </p:sldMasterIdLst>
  <p:notesMasterIdLst>
    <p:notesMasterId r:id="rId26"/>
  </p:notesMasterIdLst>
  <p:sldIdLst>
    <p:sldId id="2134803776" r:id="rId6"/>
    <p:sldId id="2147470950" r:id="rId7"/>
    <p:sldId id="2147470949" r:id="rId8"/>
    <p:sldId id="2147470938" r:id="rId9"/>
    <p:sldId id="2147470928" r:id="rId10"/>
    <p:sldId id="2134803799" r:id="rId11"/>
    <p:sldId id="2134803761" r:id="rId12"/>
    <p:sldId id="267" r:id="rId13"/>
    <p:sldId id="2134803668" r:id="rId14"/>
    <p:sldId id="2134803680" r:id="rId15"/>
    <p:sldId id="2134803800" r:id="rId16"/>
    <p:sldId id="2134803612" r:id="rId17"/>
    <p:sldId id="2134803616" r:id="rId18"/>
    <p:sldId id="2134803677" r:id="rId19"/>
    <p:sldId id="2134803678" r:id="rId20"/>
    <p:sldId id="2134803699" r:id="rId21"/>
    <p:sldId id="2134803681" r:id="rId22"/>
    <p:sldId id="2134803786" r:id="rId23"/>
    <p:sldId id="262" r:id="rId24"/>
    <p:sldId id="2134803789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FDF9E14-BB9C-15CB-35DF-B8047B13E750}" name="Yaroslav Eferin" initials="YE" userId="c15643a36be304ea" providerId="Windows Live"/>
  <p188:author id="{E0AB5C24-62CB-2FA8-08DA-72DCDA6BFB77}" name="Luda Bujoreanu" initials="LB" userId="S::lbujoreanu@worldbank.org::7d14efa9-f21b-47e4-a770-7f4c2e383053" providerId="AD"/>
  <p188:author id="{6D723D2F-679F-3286-F43A-8E6B95E18C8F}" name="Carine Ter-Akopova" initials="CT" userId="S::cterakopova@worldbank.org::ee5aa607-475b-4a32-8249-5060f454f4dd" providerId="AD"/>
  <p188:author id="{22648540-F386-286A-62C4-E25A0308AF8F}" name="Arman Doskaliyev" initials="" userId="S::adoskaliyev@worldbank.org::62478353-7ff0-4b08-9ea8-a05afe7c7f8f" providerId="AD"/>
  <p188:author id="{340FE94A-7C4D-54E5-6507-9BBFFFAAA229}" name="Nekruz Khamidov" initials="NK" userId="S::nkhamidov@worldbank.org::13463330-1b70-4361-96a7-b14065acf1d5" providerId="AD"/>
  <p188:author id="{12E43956-5B5B-400A-0954-96F8FB44BAD4}" name="Yaroslav Eferin" initials="YE" userId="S::yeferin@worldbank.org::091ffb5c-c496-46dd-b10b-837811e7b64d" providerId="AD"/>
  <p188:author id="{3E85FBB8-4AC7-5354-38F0-795BDDFAEBB8}" name="Sandra V. Sargent" initials="SS" userId="S::ssargent@worldbank.org::bc5d700f-ef9f-490e-a069-4915c7d9ef6c" providerId="AD"/>
  <p188:author id="{3E9B33CB-20C4-D2FB-E46D-098CC9215E46}" name="Constantin Rusu" initials="CR" userId="S::crusu@worldbank.org::c8fee2bb-ed0d-41ba-b5b9-df1a0005626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6332"/>
    <a:srgbClr val="E8E6E6"/>
    <a:srgbClr val="1E3A5F"/>
    <a:srgbClr val="E9EEF5"/>
    <a:srgbClr val="009FDA"/>
    <a:srgbClr val="0A1830"/>
    <a:srgbClr val="D97706"/>
    <a:srgbClr val="F7F8FA"/>
    <a:srgbClr val="0B2E4E"/>
    <a:srgbClr val="2A2E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A3D9B2-0FCA-46D2-813A-693E3D8AA753}" v="55" dt="2026-08-16T16:00:33.3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23"/>
    <p:restoredTop sz="94694"/>
  </p:normalViewPr>
  <p:slideViewPr>
    <p:cSldViewPr snapToGrid="0">
      <p:cViewPr varScale="1">
        <p:scale>
          <a:sx n="59" d="100"/>
          <a:sy n="59" d="100"/>
        </p:scale>
        <p:origin x="9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worldbankgroup.sharepoint.com/sites/IDD01Files/Shared%20Documents/AR%20team/DPTR/DPTR2025/Regional%20digests/ECA/TablesForDigest_EC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worldbankgroup.sharepoint.com/sites/IDD01Files/Shared%20Documents/AR%20team/DPTR/DPTR2025/Final%20manuscript%20for%20production/Consolidated%20dataset/Key%20stats%20by%20income%20and%20region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worldbankgroup.sharepoint.com/sites/IDD01Files/Shared%20Documents/AR%20team/DPTR/DPTR2025/Regional%20digests/ECA/TablesForDigest_EC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https://worldbankgroup.sharepoint.com/sites/IDD01Files/Shared%20Documents/AR%20team/DPTR/DPTR2025/Regional%20digests/ECA/TablesForDigest_ECA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https://worldbankgroup.sharepoint.com/sites/IDD01Files/Shared%20Documents/AR%20team/DPTR/DPTR2025/Regional%20digests/ECA/TablesForDigest_ECA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  <c:pt idx="4">
                  <c:v>4th Qtr</c:v>
                </c:pt>
                <c:pt idx="5">
                  <c:v>4th Qtr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</c:v>
                </c:pt>
                <c:pt idx="1">
                  <c:v>16</c:v>
                </c:pt>
                <c:pt idx="2">
                  <c:v>16</c:v>
                </c:pt>
                <c:pt idx="3">
                  <c:v>16</c:v>
                </c:pt>
                <c:pt idx="4">
                  <c:v>16</c:v>
                </c:pt>
                <c:pt idx="5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A2-2746-9F66-0C8F139E70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2686516358333724"/>
          <c:y val="5.8083678048144682E-2"/>
          <c:w val="0.86507911704342288"/>
          <c:h val="0.6849296083326619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'Chat GPT per inter'!$D$27</c:f>
              <c:strCache>
                <c:ptCount val="1"/>
                <c:pt idx="0">
                  <c:v>Пользователи ChatGPT на интернет-пользователя</c:v>
                </c:pt>
              </c:strCache>
            </c:strRef>
          </c:tx>
          <c:spPr>
            <a:solidFill>
              <a:srgbClr val="00B0F0"/>
            </a:solidFill>
            <a:ln w="25400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'Chat GPT per inter'!$C$28:$C$44</c:f>
              <c:strCache>
                <c:ptCount val="17"/>
                <c:pt idx="0">
                  <c:v>Сербия</c:v>
                </c:pt>
                <c:pt idx="1">
                  <c:v>Грузия</c:v>
                </c:pt>
                <c:pt idx="2">
                  <c:v>Украина</c:v>
                </c:pt>
                <c:pt idx="3">
                  <c:v>Молдова</c:v>
                </c:pt>
                <c:pt idx="4">
                  <c:v>Турция</c:v>
                </c:pt>
                <c:pt idx="5">
                  <c:v>Черногория</c:v>
                </c:pt>
                <c:pt idx="6">
                  <c:v>Северная Македония</c:v>
                </c:pt>
                <c:pt idx="7">
                  <c:v>Босния и Герцеговина</c:v>
                </c:pt>
                <c:pt idx="8">
                  <c:v>Албания</c:v>
                </c:pt>
                <c:pt idx="9">
                  <c:v>Армения</c:v>
                </c:pt>
                <c:pt idx="10">
                  <c:v>Беларусь</c:v>
                </c:pt>
                <c:pt idx="11">
                  <c:v>Казахстан</c:v>
                </c:pt>
                <c:pt idx="12">
                  <c:v>Азербайджан</c:v>
                </c:pt>
                <c:pt idx="13">
                  <c:v>Кыргызская Республика</c:v>
                </c:pt>
                <c:pt idx="14">
                  <c:v>Узбекистан</c:v>
                </c:pt>
                <c:pt idx="15">
                  <c:v>Таджикистан</c:v>
                </c:pt>
                <c:pt idx="16">
                  <c:v>Туркменистан</c:v>
                </c:pt>
              </c:strCache>
            </c:strRef>
          </c:cat>
          <c:val>
            <c:numRef>
              <c:f>'Chat GPT per inter'!$D$28:$D$44</c:f>
              <c:numCache>
                <c:formatCode>0%</c:formatCode>
                <c:ptCount val="17"/>
                <c:pt idx="0">
                  <c:v>0.27736032009124756</c:v>
                </c:pt>
                <c:pt idx="1">
                  <c:v>0.15453597903251648</c:v>
                </c:pt>
                <c:pt idx="2">
                  <c:v>0.15308843553066254</c:v>
                </c:pt>
                <c:pt idx="3">
                  <c:v>0.15104898810386658</c:v>
                </c:pt>
                <c:pt idx="4">
                  <c:v>0.14612860977649689</c:v>
                </c:pt>
                <c:pt idx="5">
                  <c:v>0.13894316554069519</c:v>
                </c:pt>
                <c:pt idx="6">
                  <c:v>0.1228586882352829</c:v>
                </c:pt>
                <c:pt idx="7">
                  <c:v>0.11948081851005554</c:v>
                </c:pt>
                <c:pt idx="8">
                  <c:v>9.7816616296768188E-2</c:v>
                </c:pt>
                <c:pt idx="9">
                  <c:v>9.1184929013252258E-2</c:v>
                </c:pt>
                <c:pt idx="10">
                  <c:v>6.4164422452449799E-2</c:v>
                </c:pt>
                <c:pt idx="11">
                  <c:v>5.2069485187530518E-2</c:v>
                </c:pt>
                <c:pt idx="12">
                  <c:v>3.8727685809135437E-2</c:v>
                </c:pt>
                <c:pt idx="13">
                  <c:v>2.3259034380316734E-2</c:v>
                </c:pt>
                <c:pt idx="14">
                  <c:v>1.7683932557702065E-2</c:v>
                </c:pt>
                <c:pt idx="15" formatCode="0.00%">
                  <c:v>7.7761127613484859E-4</c:v>
                </c:pt>
                <c:pt idx="16" formatCode="0.00%">
                  <c:v>5.2275072084739804E-4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97-49C0-B323-4919549ECB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1791108799"/>
        <c:axId val="1294197231"/>
      </c:barChart>
      <c:lineChart>
        <c:grouping val="standard"/>
        <c:varyColors val="0"/>
        <c:ser>
          <c:idx val="1"/>
          <c:order val="1"/>
          <c:tx>
            <c:strRef>
              <c:f>'Chat GPT per inter'!$E$27</c:f>
              <c:strCache>
                <c:ptCount val="1"/>
              </c:strCache>
            </c:strRef>
          </c:tx>
          <c:spPr>
            <a:ln w="19050" cap="rnd">
              <a:solidFill>
                <a:srgbClr val="ED7D31">
                  <a:lumMod val="40000"/>
                  <a:lumOff val="60000"/>
                </a:srgbClr>
              </a:solidFill>
              <a:round/>
            </a:ln>
            <a:effectLst/>
          </c:spPr>
          <c:marker>
            <c:symbol val="none"/>
          </c:marker>
          <c:cat>
            <c:strRef>
              <c:f>'Chat GPT per inter'!$C$28:$C$42</c:f>
              <c:strCache>
                <c:ptCount val="15"/>
                <c:pt idx="0">
                  <c:v>Сербия</c:v>
                </c:pt>
                <c:pt idx="1">
                  <c:v>Грузия</c:v>
                </c:pt>
                <c:pt idx="2">
                  <c:v>Украина</c:v>
                </c:pt>
                <c:pt idx="3">
                  <c:v>Молдова</c:v>
                </c:pt>
                <c:pt idx="4">
                  <c:v>Турция</c:v>
                </c:pt>
                <c:pt idx="5">
                  <c:v>Черногория</c:v>
                </c:pt>
                <c:pt idx="6">
                  <c:v>Северная Македония</c:v>
                </c:pt>
                <c:pt idx="7">
                  <c:v>Босния и Герцеговина</c:v>
                </c:pt>
                <c:pt idx="8">
                  <c:v>Албания</c:v>
                </c:pt>
                <c:pt idx="9">
                  <c:v>Армения</c:v>
                </c:pt>
                <c:pt idx="10">
                  <c:v>Беларусь</c:v>
                </c:pt>
                <c:pt idx="11">
                  <c:v>Казахстан</c:v>
                </c:pt>
                <c:pt idx="12">
                  <c:v>Азербайджан</c:v>
                </c:pt>
                <c:pt idx="13">
                  <c:v>Кыргызская Республика</c:v>
                </c:pt>
                <c:pt idx="14">
                  <c:v>Узбекистан</c:v>
                </c:pt>
              </c:strCache>
            </c:strRef>
          </c:cat>
          <c:val>
            <c:numRef>
              <c:f>'Chat GPT per inter'!$E$28:$E$42</c:f>
              <c:numCache>
                <c:formatCode>General</c:formatCode>
                <c:ptCount val="15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597-49C0-B323-4919549ECB57}"/>
            </c:ext>
          </c:extLst>
        </c:ser>
        <c:ser>
          <c:idx val="2"/>
          <c:order val="2"/>
          <c:tx>
            <c:strRef>
              <c:f>'Chat GPT per inter'!$F$27</c:f>
              <c:strCache>
                <c:ptCount val="1"/>
              </c:strCache>
            </c:strRef>
          </c:tx>
          <c:spPr>
            <a:ln w="28575" cap="rnd">
              <a:solidFill>
                <a:srgbClr val="70AD47">
                  <a:lumMod val="75000"/>
                </a:srgbClr>
              </a:solidFill>
              <a:round/>
            </a:ln>
            <a:effectLst/>
          </c:spPr>
          <c:marker>
            <c:symbol val="none"/>
          </c:marker>
          <c:cat>
            <c:strRef>
              <c:f>'Chat GPT per inter'!$C$28:$C$42</c:f>
              <c:strCache>
                <c:ptCount val="15"/>
                <c:pt idx="0">
                  <c:v>Сербия</c:v>
                </c:pt>
                <c:pt idx="1">
                  <c:v>Грузия</c:v>
                </c:pt>
                <c:pt idx="2">
                  <c:v>Украина</c:v>
                </c:pt>
                <c:pt idx="3">
                  <c:v>Молдова</c:v>
                </c:pt>
                <c:pt idx="4">
                  <c:v>Турция</c:v>
                </c:pt>
                <c:pt idx="5">
                  <c:v>Черногория</c:v>
                </c:pt>
                <c:pt idx="6">
                  <c:v>Северная Македония</c:v>
                </c:pt>
                <c:pt idx="7">
                  <c:v>Босния и Герцеговина</c:v>
                </c:pt>
                <c:pt idx="8">
                  <c:v>Албания</c:v>
                </c:pt>
                <c:pt idx="9">
                  <c:v>Армения</c:v>
                </c:pt>
                <c:pt idx="10">
                  <c:v>Беларусь</c:v>
                </c:pt>
                <c:pt idx="11">
                  <c:v>Казахстан</c:v>
                </c:pt>
                <c:pt idx="12">
                  <c:v>Азербайджан</c:v>
                </c:pt>
                <c:pt idx="13">
                  <c:v>Кыргызская Республика</c:v>
                </c:pt>
                <c:pt idx="14">
                  <c:v>Узбекистан</c:v>
                </c:pt>
              </c:strCache>
            </c:strRef>
          </c:cat>
          <c:val>
            <c:numRef>
              <c:f>'Chat GPT per inter'!$F$28:$F$42</c:f>
              <c:numCache>
                <c:formatCode>General</c:formatCode>
                <c:ptCount val="15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597-49C0-B323-4919549ECB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91108799"/>
        <c:axId val="1294197231"/>
      </c:lineChart>
      <c:catAx>
        <c:axId val="179110879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4197231"/>
        <c:crosses val="autoZero"/>
        <c:auto val="1"/>
        <c:lblAlgn val="ctr"/>
        <c:lblOffset val="100"/>
        <c:noMultiLvlLbl val="0"/>
      </c:catAx>
      <c:valAx>
        <c:axId val="129419723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ChatGPT users per 100 internet users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0"/>
        <c:majorTickMark val="out"/>
        <c:minorTickMark val="none"/>
        <c:tickLblPos val="nextTo"/>
        <c:spPr>
          <a:noFill/>
          <a:ln>
            <a:solidFill>
              <a:sysClr val="windowText" lastClr="000000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11087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100">
          <a:solidFill>
            <a:sysClr val="windowText" lastClr="000000"/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rgbClr val="FF0000"/>
                </a:solidFill>
              </a:rPr>
              <a:t>Пользователи ChatGPT на интернет-пользователя </a:t>
            </a:r>
            <a:r>
              <a:rPr lang="en-US" dirty="0"/>
              <a:t>(апрель 2025 г.)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'AI adoption'!$J$77</c:f>
              <c:strCache>
                <c:ptCount val="1"/>
                <c:pt idx="0">
                  <c:v>Пользователи ChatGPT на интернет-пользователя</c:v>
                </c:pt>
              </c:strCache>
            </c:strRef>
          </c:tx>
          <c:spPr>
            <a:solidFill>
              <a:srgbClr val="009D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'AI adoption'!$I$78:$I$85</c:f>
              <c:strCache>
                <c:ptCount val="8"/>
                <c:pt idx="0">
                  <c:v>HIC</c:v>
                </c:pt>
                <c:pt idx="1">
                  <c:v>LAC</c:v>
                </c:pt>
                <c:pt idx="2">
                  <c:v>ECA</c:v>
                </c:pt>
                <c:pt idx="3">
                  <c:v>SAR</c:v>
                </c:pt>
                <c:pt idx="4">
                  <c:v>MENAAP</c:v>
                </c:pt>
                <c:pt idx="5">
                  <c:v>EAP</c:v>
                </c:pt>
                <c:pt idx="6">
                  <c:v>AFE</c:v>
                </c:pt>
                <c:pt idx="7">
                  <c:v>AFW</c:v>
                </c:pt>
              </c:strCache>
            </c:strRef>
          </c:cat>
          <c:val>
            <c:numRef>
              <c:f>'AI adoption'!$J$78:$J$85</c:f>
              <c:numCache>
                <c:formatCode>0%</c:formatCode>
                <c:ptCount val="8"/>
                <c:pt idx="0">
                  <c:v>0.25394218680595992</c:v>
                </c:pt>
                <c:pt idx="1">
                  <c:v>0.14096585423408359</c:v>
                </c:pt>
                <c:pt idx="2">
                  <c:v>0.1040748671553218</c:v>
                </c:pt>
                <c:pt idx="3">
                  <c:v>6.0513328044300284E-2</c:v>
                </c:pt>
                <c:pt idx="4">
                  <c:v>4.9997427191457555E-2</c:v>
                </c:pt>
                <c:pt idx="5">
                  <c:v>3.384605719315207E-2</c:v>
                </c:pt>
                <c:pt idx="6">
                  <c:v>3.1075200258551112E-2</c:v>
                </c:pt>
                <c:pt idx="7">
                  <c:v>2.632251278898573E-2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C6-4C17-9D0E-D0F15DB31CF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-27"/>
        <c:axId val="569951760"/>
        <c:axId val="569952240"/>
      </c:barChart>
      <c:catAx>
        <c:axId val="5699517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9952240"/>
        <c:crosses val="autoZero"/>
        <c:auto val="1"/>
        <c:lblAlgn val="ctr"/>
        <c:lblOffset val="100"/>
        <c:noMultiLvlLbl val="0"/>
      </c:catAx>
      <c:valAx>
        <c:axId val="569952240"/>
        <c:scaling>
          <c:orientation val="minMax"/>
        </c:scaling>
        <c:delete val="0"/>
        <c:axPos val="l"/>
        <c:numFmt formatCode="0%" sourceLinked="1"/>
        <c:majorTickMark val="out"/>
        <c:minorTickMark val="none"/>
        <c:tickLblPos val="nextTo"/>
        <c:spPr>
          <a:noFill/>
          <a:ln>
            <a:solidFill>
              <a:sysClr val="windowText" lastClr="000000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99517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400">
          <a:solidFill>
            <a:sysClr val="windowText" lastClr="000000"/>
          </a:solidFill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ivotFmts>
      <c:pivotFmt>
        <c:idx val="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0368833523924746"/>
          <c:y val="4.7134545001290315E-2"/>
          <c:w val="0.84969649164123695"/>
          <c:h val="0.6940699277350557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'avg DS'!$B$62</c:f>
              <c:strCache>
                <c:ptCount val="1"/>
                <c:pt idx="0">
                  <c:v>Доля среднего уровня цифровых навыков</c:v>
                </c:pt>
              </c:strCache>
            </c:strRef>
          </c:tx>
          <c:spPr>
            <a:solidFill>
              <a:srgbClr val="10CF9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'avg DS'!$A$63:$A$71</c:f>
              <c:strCache>
                <c:ptCount val="9"/>
                <c:pt idx="0">
                  <c:v>Сербия</c:v>
                </c:pt>
                <c:pt idx="1">
                  <c:v>Туркменистан</c:v>
                </c:pt>
                <c:pt idx="2">
                  <c:v>Украина</c:v>
                </c:pt>
                <c:pt idx="3">
                  <c:v>Турция</c:v>
                </c:pt>
                <c:pt idx="4">
                  <c:v>Кыргызская Республика</c:v>
                </c:pt>
                <c:pt idx="5">
                  <c:v>Узбекистан</c:v>
                </c:pt>
                <c:pt idx="6">
                  <c:v>Таджикистан</c:v>
                </c:pt>
                <c:pt idx="7">
                  <c:v>Грузия</c:v>
                </c:pt>
                <c:pt idx="8">
                  <c:v>Казахстан</c:v>
                </c:pt>
              </c:strCache>
            </c:strRef>
          </c:cat>
          <c:val>
            <c:numRef>
              <c:f>'avg DS'!$B$63:$B$71</c:f>
              <c:numCache>
                <c:formatCode>0</c:formatCode>
                <c:ptCount val="9"/>
                <c:pt idx="0">
                  <c:v>12.023014068603516</c:v>
                </c:pt>
                <c:pt idx="1">
                  <c:v>9.5621299743652344</c:v>
                </c:pt>
                <c:pt idx="2">
                  <c:v>6.44580078125</c:v>
                </c:pt>
                <c:pt idx="3">
                  <c:v>4.9183568954467773</c:v>
                </c:pt>
                <c:pt idx="4">
                  <c:v>2.5701961517333984</c:v>
                </c:pt>
                <c:pt idx="5">
                  <c:v>2.9806761741638184</c:v>
                </c:pt>
                <c:pt idx="6">
                  <c:v>3.0222947597503662</c:v>
                </c:pt>
                <c:pt idx="7">
                  <c:v>2.879133939743042</c:v>
                </c:pt>
                <c:pt idx="8">
                  <c:v>2.0762887001037598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5C-4EE9-9F58-51C5879C0683}"/>
            </c:ext>
          </c:extLst>
        </c:ser>
        <c:ser>
          <c:idx val="1"/>
          <c:order val="1"/>
          <c:tx>
            <c:strRef>
              <c:f>'avg DS'!$C$62</c:f>
              <c:strCache>
                <c:ptCount val="1"/>
                <c:pt idx="0">
                  <c:v>Доля продвинутого уровня цифровых навыков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'avg DS'!$A$63:$A$71</c:f>
              <c:strCache>
                <c:ptCount val="9"/>
                <c:pt idx="0">
                  <c:v>Сербия</c:v>
                </c:pt>
                <c:pt idx="1">
                  <c:v>Туркменистан</c:v>
                </c:pt>
                <c:pt idx="2">
                  <c:v>Украина</c:v>
                </c:pt>
                <c:pt idx="3">
                  <c:v>Турция</c:v>
                </c:pt>
                <c:pt idx="4">
                  <c:v>Кыргызская Республика</c:v>
                </c:pt>
                <c:pt idx="5">
                  <c:v>Узбекистан</c:v>
                </c:pt>
                <c:pt idx="6">
                  <c:v>Таджикистан</c:v>
                </c:pt>
                <c:pt idx="7">
                  <c:v>Грузия</c:v>
                </c:pt>
                <c:pt idx="8">
                  <c:v>Казахстан</c:v>
                </c:pt>
              </c:strCache>
            </c:strRef>
          </c:cat>
          <c:val>
            <c:numRef>
              <c:f>'avg DS'!$C$63:$C$71</c:f>
              <c:numCache>
                <c:formatCode>0</c:formatCode>
                <c:ptCount val="9"/>
                <c:pt idx="0">
                  <c:v>19.889556884765625</c:v>
                </c:pt>
                <c:pt idx="1">
                  <c:v>8.6390533447265625</c:v>
                </c:pt>
                <c:pt idx="2">
                  <c:v>6.6684441566467285</c:v>
                </c:pt>
                <c:pt idx="3">
                  <c:v>3.2772030830383301</c:v>
                </c:pt>
                <c:pt idx="4">
                  <c:v>5.366058349609375</c:v>
                </c:pt>
                <c:pt idx="5">
                  <c:v>4.4226484298706055</c:v>
                </c:pt>
                <c:pt idx="6">
                  <c:v>3.2120890617370605</c:v>
                </c:pt>
                <c:pt idx="7">
                  <c:v>3.0108456611633301</c:v>
                </c:pt>
                <c:pt idx="8">
                  <c:v>2.4570024013519287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5C-4EE9-9F58-51C5879C068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85"/>
        <c:overlap val="100"/>
        <c:axId val="320701167"/>
        <c:axId val="320705007"/>
      </c:barChart>
      <c:catAx>
        <c:axId val="32070116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0705007"/>
        <c:crosses val="autoZero"/>
        <c:auto val="1"/>
        <c:lblAlgn val="ctr"/>
        <c:lblOffset val="100"/>
        <c:noMultiLvlLbl val="0"/>
      </c:catAx>
      <c:valAx>
        <c:axId val="320705007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Percent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07011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6457294400699911"/>
          <c:y val="0.14930555555555555"/>
          <c:w val="0.51668726305045198"/>
          <c:h val="0.14756999125109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400">
          <a:solidFill>
            <a:sysClr val="windowText" lastClr="000000"/>
          </a:solidFill>
        </a:defRPr>
      </a:pPr>
      <a:endParaRPr lang="en-US"/>
    </a:p>
  </c:txPr>
  <c:externalData r:id="rId3">
    <c:autoUpdate val="0"/>
  </c:externalData>
  <c:extLst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5900452689477486E-2"/>
          <c:y val="0.12650071084864392"/>
          <c:w val="0.86173141071464476"/>
          <c:h val="0.6047242415783650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'avg DS'!$B$78</c:f>
              <c:strCache>
                <c:ptCount val="1"/>
                <c:pt idx="0">
                  <c:v>Доля навыков ИИ</c:v>
                </c:pt>
              </c:strCache>
            </c:strRef>
          </c:tx>
          <c:spPr>
            <a:solidFill>
              <a:srgbClr val="10CF9B"/>
            </a:solidFill>
            <a:ln>
              <a:noFill/>
            </a:ln>
            <a:effectLst/>
          </c:spPr>
          <c:invertIfNegative val="0"/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'avg DS'!$A$79:$A$87</c:f>
              <c:strCache>
                <c:ptCount val="9"/>
                <c:pt idx="0">
                  <c:v>Узбекистан</c:v>
                </c:pt>
                <c:pt idx="1">
                  <c:v>Сербия</c:v>
                </c:pt>
                <c:pt idx="2">
                  <c:v>Кыргызская Республика</c:v>
                </c:pt>
                <c:pt idx="3">
                  <c:v>Туркменистан</c:v>
                </c:pt>
                <c:pt idx="4">
                  <c:v>Украина</c:v>
                </c:pt>
                <c:pt idx="5">
                  <c:v>Таджикистан</c:v>
                </c:pt>
                <c:pt idx="6">
                  <c:v>Грузия</c:v>
                </c:pt>
                <c:pt idx="7">
                  <c:v>Казахстан</c:v>
                </c:pt>
                <c:pt idx="8">
                  <c:v>Турция</c:v>
                </c:pt>
              </c:strCache>
            </c:strRef>
          </c:cat>
          <c:val>
            <c:numRef>
              <c:f>'avg DS'!$B$79:$B$87</c:f>
              <c:numCache>
                <c:formatCode>0.00</c:formatCode>
                <c:ptCount val="9"/>
                <c:pt idx="0">
                  <c:v>2.9424335956573486</c:v>
                </c:pt>
                <c:pt idx="1">
                  <c:v>2.7974340915679932</c:v>
                </c:pt>
                <c:pt idx="2">
                  <c:v>2.5422375202178955</c:v>
                </c:pt>
                <c:pt idx="3">
                  <c:v>1.5621302127838135</c:v>
                </c:pt>
                <c:pt idx="4">
                  <c:v>0.74944531917572021</c:v>
                </c:pt>
                <c:pt idx="5">
                  <c:v>0.70151835680007935</c:v>
                </c:pt>
                <c:pt idx="6">
                  <c:v>0.68325412273406982</c:v>
                </c:pt>
                <c:pt idx="7">
                  <c:v>0.57228696346282959</c:v>
                </c:pt>
                <c:pt idx="8">
                  <c:v>0.47090652585029602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3E-458D-94CF-4FFF2E6A3A57}"/>
            </c:ext>
          </c:extLst>
        </c:ser>
        <c:ser>
          <c:idx val="1"/>
          <c:order val="1"/>
          <c:tx>
            <c:strRef>
              <c:f>'avg DS'!$C$78</c:f>
              <c:strCache>
                <c:ptCount val="1"/>
                <c:pt idx="0">
                  <c:v>Доля навыков генеративного ИИ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'avg DS'!$A$79:$A$87</c:f>
              <c:strCache>
                <c:ptCount val="9"/>
                <c:pt idx="0">
                  <c:v>Узбекистан</c:v>
                </c:pt>
                <c:pt idx="1">
                  <c:v>Сербия</c:v>
                </c:pt>
                <c:pt idx="2">
                  <c:v>Кыргызская Республика</c:v>
                </c:pt>
                <c:pt idx="3">
                  <c:v>Туркменистан</c:v>
                </c:pt>
                <c:pt idx="4">
                  <c:v>Украина</c:v>
                </c:pt>
                <c:pt idx="5">
                  <c:v>Таджикистан</c:v>
                </c:pt>
                <c:pt idx="6">
                  <c:v>Грузия</c:v>
                </c:pt>
                <c:pt idx="7">
                  <c:v>Казахстан</c:v>
                </c:pt>
                <c:pt idx="8">
                  <c:v>Турция</c:v>
                </c:pt>
              </c:strCache>
            </c:strRef>
          </c:cat>
          <c:val>
            <c:numRef>
              <c:f>'avg DS'!$C$79:$C$87</c:f>
              <c:numCache>
                <c:formatCode>0.00</c:formatCode>
                <c:ptCount val="9"/>
                <c:pt idx="0">
                  <c:v>0.16196882724761963</c:v>
                </c:pt>
                <c:pt idx="1">
                  <c:v>0.43647906184196472</c:v>
                </c:pt>
                <c:pt idx="2">
                  <c:v>0.15776650607585907</c:v>
                </c:pt>
                <c:pt idx="3">
                  <c:v>0.23668639361858368</c:v>
                </c:pt>
                <c:pt idx="4">
                  <c:v>0.12551066279411316</c:v>
                </c:pt>
                <c:pt idx="5">
                  <c:v>0.11772054433822632</c:v>
                </c:pt>
                <c:pt idx="6">
                  <c:v>0.17081353068351746</c:v>
                </c:pt>
                <c:pt idx="7">
                  <c:v>9.7915194928646088E-2</c:v>
                </c:pt>
                <c:pt idx="8">
                  <c:v>9.2309586703777313E-2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13E-458D-94CF-4FFF2E6A3A5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-27"/>
        <c:axId val="1174181519"/>
        <c:axId val="1044120735"/>
      </c:barChart>
      <c:catAx>
        <c:axId val="117418151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4120735"/>
        <c:crosses val="autoZero"/>
        <c:auto val="1"/>
        <c:lblAlgn val="ctr"/>
        <c:lblOffset val="100"/>
        <c:noMultiLvlLbl val="0"/>
      </c:catAx>
      <c:valAx>
        <c:axId val="104412073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Percent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(* #,##0_);_(* \(#,##0\);_(* &quot;-&quot;_);_(@_)" sourceLinked="0"/>
        <c:majorTickMark val="out"/>
        <c:minorTickMark val="none"/>
        <c:tickLblPos val="nextTo"/>
        <c:spPr>
          <a:noFill/>
          <a:ln>
            <a:solidFill>
              <a:sysClr val="windowText" lastClr="000000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4181519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9571030092167276"/>
          <c:y val="0.11367502438630074"/>
          <c:w val="0.35417672790901139"/>
          <c:h val="0.1429403616214639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solidFill>
      <a:schemeClr val="bg1"/>
    </a:solidFill>
    <a:ln w="9525" cap="flat" cmpd="sng" algn="ctr">
      <a:solidFill>
        <a:schemeClr val="bg1"/>
      </a:solidFill>
      <a:round/>
    </a:ln>
    <a:effectLst/>
  </c:spPr>
  <c:txPr>
    <a:bodyPr/>
    <a:lstStyle/>
    <a:p>
      <a:pPr>
        <a:defRPr sz="1400">
          <a:solidFill>
            <a:sysClr val="windowText" lastClr="000000"/>
          </a:solidFill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rgbClr val="FF0000"/>
                </a:solidFill>
              </a:rPr>
              <a:t>ИИ-стартапы, 2025 г.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836821434674236"/>
          <c:y val="0.14196915517011707"/>
          <c:w val="0.74806486117774829"/>
          <c:h val="0.581815297151476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'ai startups'!$B$22</c:f>
              <c:strCache>
                <c:ptCount val="1"/>
                <c:pt idx="0">
                  <c:v>ИИ-стартапы</c:v>
                </c:pt>
              </c:strCache>
            </c:strRef>
          </c:tx>
          <c:spPr>
            <a:solidFill>
              <a:srgbClr val="00B0F0"/>
            </a:solidFill>
            <a:ln w="25400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'ai startups'!$A$23:$A$31</c:f>
              <c:strCache>
                <c:ptCount val="9"/>
                <c:pt idx="0">
                  <c:v>Турция</c:v>
                </c:pt>
                <c:pt idx="1">
                  <c:v>Украина</c:v>
                </c:pt>
                <c:pt idx="2">
                  <c:v>Армения</c:v>
                </c:pt>
                <c:pt idx="3">
                  <c:v>Узбекистан</c:v>
                </c:pt>
                <c:pt idx="4">
                  <c:v>Казахстан</c:v>
                </c:pt>
                <c:pt idx="5">
                  <c:v>Сербия</c:v>
                </c:pt>
                <c:pt idx="6">
                  <c:v>Беларусь</c:v>
                </c:pt>
                <c:pt idx="7">
                  <c:v>Грузия</c:v>
                </c:pt>
                <c:pt idx="8">
                  <c:v>Молдова</c:v>
                </c:pt>
              </c:strCache>
            </c:strRef>
          </c:cat>
          <c:val>
            <c:numRef>
              <c:f>'ai startups'!$B$23:$B$31</c:f>
              <c:numCache>
                <c:formatCode>General</c:formatCode>
                <c:ptCount val="9"/>
                <c:pt idx="0">
                  <c:v>122</c:v>
                </c:pt>
                <c:pt idx="1">
                  <c:v>36</c:v>
                </c:pt>
                <c:pt idx="2">
                  <c:v>7</c:v>
                </c:pt>
                <c:pt idx="3">
                  <c:v>6</c:v>
                </c:pt>
                <c:pt idx="4">
                  <c:v>5</c:v>
                </c:pt>
                <c:pt idx="5">
                  <c:v>5</c:v>
                </c:pt>
                <c:pt idx="6">
                  <c:v>3</c:v>
                </c:pt>
                <c:pt idx="7">
                  <c:v>3</c:v>
                </c:pt>
                <c:pt idx="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E9-473F-9452-092AC67033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791108799"/>
        <c:axId val="1294197231"/>
      </c:barChart>
      <c:scatterChart>
        <c:scatterStyle val="lineMarker"/>
        <c:varyColors val="0"/>
        <c:ser>
          <c:idx val="1"/>
          <c:order val="1"/>
          <c:tx>
            <c:strRef>
              <c:f>'ai startups'!$C$22</c:f>
              <c:strCache>
                <c:ptCount val="1"/>
                <c:pt idx="0">
                  <c:v>Доля в мире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FFC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6E9-473F-9452-092AC67033F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strRef>
              <c:f>'ai startups'!$A$23:$A$31</c:f>
              <c:strCache>
                <c:ptCount val="9"/>
                <c:pt idx="0">
                  <c:v>Турция</c:v>
                </c:pt>
                <c:pt idx="1">
                  <c:v>Украина</c:v>
                </c:pt>
                <c:pt idx="2">
                  <c:v>Армения</c:v>
                </c:pt>
                <c:pt idx="3">
                  <c:v>Узбекистан</c:v>
                </c:pt>
                <c:pt idx="4">
                  <c:v>Казахстан</c:v>
                </c:pt>
                <c:pt idx="5">
                  <c:v>Сербия</c:v>
                </c:pt>
                <c:pt idx="6">
                  <c:v>Беларусь</c:v>
                </c:pt>
                <c:pt idx="7">
                  <c:v>Грузия</c:v>
                </c:pt>
                <c:pt idx="8">
                  <c:v>Молдова</c:v>
                </c:pt>
              </c:strCache>
            </c:strRef>
          </c:xVal>
          <c:yVal>
            <c:numRef>
              <c:f>'ai startups'!$C$23:$C$31</c:f>
              <c:numCache>
                <c:formatCode>0.00</c:formatCode>
                <c:ptCount val="9"/>
                <c:pt idx="0">
                  <c:v>0.57118779420852661</c:v>
                </c:pt>
                <c:pt idx="1">
                  <c:v>0.16854721307754517</c:v>
                </c:pt>
                <c:pt idx="2">
                  <c:v>3.277307003736496E-2</c:v>
                </c:pt>
                <c:pt idx="3">
                  <c:v>2.8091203421354294E-2</c:v>
                </c:pt>
                <c:pt idx="4">
                  <c:v>2.3409334942698479E-2</c:v>
                </c:pt>
                <c:pt idx="5">
                  <c:v>2.3409334942698479E-2</c:v>
                </c:pt>
                <c:pt idx="6">
                  <c:v>1.4045601710677147E-2</c:v>
                </c:pt>
                <c:pt idx="7">
                  <c:v>1.4045601710677147E-2</c:v>
                </c:pt>
                <c:pt idx="8">
                  <c:v>4.6818670816719532E-3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6E9-473F-9452-092AC67033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58361552"/>
        <c:axId val="409880672"/>
        <c:extLst>
          <c:ext xmlns:c15="http://schemas.microsoft.com/office/drawing/2012/chart" uri="{02D57815-91ED-43cb-92C2-25804820EDAC}">
            <c15:filteredScatte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'ai startups'!$D$22</c15:sqref>
                        </c15:formulaRef>
                      </c:ext>
                    </c:extLst>
                    <c:strCache>
                      <c:ptCount val="1"/>
                      <c:pt idx="0">
                        <c:v>Regional Share</c:v>
                      </c:pt>
                    </c:strCache>
                  </c:strRef>
                </c:tx>
                <c:spPr>
                  <a:ln w="25400" cap="rnd">
                    <a:noFill/>
                    <a:round/>
                  </a:ln>
                  <a:effectLst/>
                </c:spPr>
                <c:marker>
                  <c:symbol val="triangle"/>
                  <c:size val="7"/>
                  <c:spPr>
                    <a:solidFill>
                      <a:srgbClr val="FFC000"/>
                    </a:solidFill>
                    <a:ln w="9525">
                      <a:solidFill>
                        <a:schemeClr val="accent3"/>
                      </a:solidFill>
                    </a:ln>
                    <a:effectLst/>
                  </c:spPr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400" b="0" i="0" u="none" strike="noStrike" kern="1200" baseline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t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xVal>
                  <c:strRef>
                    <c:extLst>
                      <c:ext uri="{02D57815-91ED-43cb-92C2-25804820EDAC}">
                        <c15:formulaRef>
                          <c15:sqref>'ai startups'!$A$23:$A$31</c15:sqref>
                        </c15:formulaRef>
                      </c:ext>
                    </c:extLst>
                    <c:strCache>
                      <c:ptCount val="9"/>
                      <c:pt idx="0">
                        <c:v>Турция</c:v>
                      </c:pt>
                      <c:pt idx="1">
                        <c:v>Украина</c:v>
                      </c:pt>
                      <c:pt idx="2">
                        <c:v>Армения</c:v>
                      </c:pt>
                      <c:pt idx="3">
                        <c:v>Узбекистан</c:v>
                      </c:pt>
                      <c:pt idx="4">
                        <c:v>Казахстан</c:v>
                      </c:pt>
                      <c:pt idx="5">
                        <c:v>Сербия</c:v>
                      </c:pt>
                      <c:pt idx="6">
                        <c:v>Беларусь</c:v>
                      </c:pt>
                      <c:pt idx="7">
                        <c:v>Грузия</c:v>
                      </c:pt>
                      <c:pt idx="8">
                        <c:v>Молдова</c:v>
                      </c:pt>
                    </c:strCache>
                  </c:strRef>
                </c:xVal>
                <c:yVal>
                  <c:numRef>
                    <c:extLst>
                      <c:ext uri="{02D57815-91ED-43cb-92C2-25804820EDAC}">
                        <c15:formulaRef>
                          <c15:sqref>'ai startups'!$D$23:$D$31</c15:sqref>
                        </c15:formulaRef>
                      </c:ext>
                    </c:extLst>
                    <c:numCache>
                      <c:formatCode>0</c:formatCode>
                      <c:ptCount val="9"/>
                      <c:pt idx="0">
                        <c:v>37.327442169189453</c:v>
                      </c:pt>
                      <c:pt idx="1">
                        <c:v>18.691329956054688</c:v>
                      </c:pt>
                      <c:pt idx="2">
                        <c:v>15.516289710998535</c:v>
                      </c:pt>
                      <c:pt idx="3">
                        <c:v>11.982330322265625</c:v>
                      </c:pt>
                      <c:pt idx="4">
                        <c:v>7.5096631050109863</c:v>
                      </c:pt>
                      <c:pt idx="5">
                        <c:v>2.6504693031311035</c:v>
                      </c:pt>
                      <c:pt idx="6">
                        <c:v>1.711761474609375</c:v>
                      </c:pt>
                      <c:pt idx="7" formatCode="0.0">
                        <c:v>1.1871893405914307</c:v>
                      </c:pt>
                      <c:pt idx="8" formatCode="0.0">
                        <c:v>0.96631693840026855</c:v>
                      </c:pt>
                    </c:numCache>
                  </c:numRef>
                </c:yVal>
                <c:smooth val="0"/>
                <c:extLst>
                  <c:ext xmlns:c16="http://schemas.microsoft.com/office/drawing/2014/chart" uri="{C3380CC4-5D6E-409C-BE32-E72D297353CC}">
                    <c16:uniqueId val="{00000003-46E9-473F-9452-092AC67033F6}"/>
                  </c:ext>
                </c:extLst>
              </c15:ser>
            </c15:filteredScatterSeries>
          </c:ext>
        </c:extLst>
      </c:scatterChart>
      <c:catAx>
        <c:axId val="179110879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4197231"/>
        <c:crosses val="autoZero"/>
        <c:auto val="1"/>
        <c:lblAlgn val="ctr"/>
        <c:lblOffset val="100"/>
        <c:noMultiLvlLbl val="0"/>
      </c:catAx>
      <c:valAx>
        <c:axId val="1294197231"/>
        <c:scaling>
          <c:orientation val="minMax"/>
          <c:max val="15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 of AI startups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ysClr val="windowText" lastClr="000000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1108799"/>
        <c:crosses val="autoZero"/>
        <c:crossBetween val="between"/>
        <c:majorUnit val="50"/>
      </c:valAx>
      <c:valAx>
        <c:axId val="409880672"/>
        <c:scaling>
          <c:orientation val="minMax"/>
          <c:max val="2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Global Share (in 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>
            <a:solidFill>
              <a:sysClr val="windowText" lastClr="000000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8361552"/>
        <c:crosses val="max"/>
        <c:crossBetween val="midCat"/>
        <c:majorUnit val="1"/>
      </c:valAx>
      <c:valAx>
        <c:axId val="1658361552"/>
        <c:scaling>
          <c:orientation val="minMax"/>
        </c:scaling>
        <c:delete val="1"/>
        <c:axPos val="b"/>
        <c:majorTickMark val="out"/>
        <c:minorTickMark val="none"/>
        <c:tickLblPos val="nextTo"/>
        <c:crossAx val="40988067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6016695829687956"/>
          <c:y val="0.10590223097112861"/>
          <c:w val="0.48938812335958004"/>
          <c:h val="0.1140050853018372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400">
          <a:solidFill>
            <a:sysClr val="windowText" lastClr="000000"/>
          </a:solidFill>
        </a:defRPr>
      </a:pPr>
      <a:endParaRPr lang="en-US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680" dirty="0">
                <a:solidFill>
                  <a:srgbClr val="FF0000"/>
                </a:solidFill>
              </a:rPr>
              <a:t>Венчурное финансирование ИИ-стартапов, 2025 г.</a:t>
            </a:r>
          </a:p>
        </c:rich>
      </c:tx>
      <c:layout>
        <c:manualLayout>
          <c:xMode val="edge"/>
          <c:yMode val="edge"/>
          <c:x val="0.1518170384951881"/>
          <c:y val="3.83689471247438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7444900116652085"/>
          <c:y val="0.20223972003499563"/>
          <c:w val="0.70134550889472147"/>
          <c:h val="0.50929024496937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'ai startups'!$B$40</c:f>
              <c:strCache>
                <c:ptCount val="1"/>
                <c:pt idx="0">
                  <c:v>Венчурное финансирование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'ai startups'!$A$41:$A$48</c:f>
              <c:strCache>
                <c:ptCount val="8"/>
                <c:pt idx="0">
                  <c:v>Турция</c:v>
                </c:pt>
                <c:pt idx="1">
                  <c:v>Украина</c:v>
                </c:pt>
                <c:pt idx="2">
                  <c:v>Армения</c:v>
                </c:pt>
                <c:pt idx="3">
                  <c:v>Беларусь</c:v>
                </c:pt>
                <c:pt idx="4">
                  <c:v>Сербия</c:v>
                </c:pt>
                <c:pt idx="5">
                  <c:v>Грузия</c:v>
                </c:pt>
                <c:pt idx="6">
                  <c:v>Узбекистан</c:v>
                </c:pt>
                <c:pt idx="7">
                  <c:v>Молдова</c:v>
                </c:pt>
              </c:strCache>
            </c:strRef>
          </c:cat>
          <c:val>
            <c:numRef>
              <c:f>'ai startups'!$B$41:$B$48</c:f>
              <c:numCache>
                <c:formatCode>0.0</c:formatCode>
                <c:ptCount val="8"/>
                <c:pt idx="0">
                  <c:v>879.96002197265625</c:v>
                </c:pt>
                <c:pt idx="1">
                  <c:v>14.590000152587891</c:v>
                </c:pt>
                <c:pt idx="2">
                  <c:v>12.270000457763672</c:v>
                </c:pt>
                <c:pt idx="3">
                  <c:v>2.0199999809265137</c:v>
                </c:pt>
                <c:pt idx="4">
                  <c:v>0.76999998092651367</c:v>
                </c:pt>
                <c:pt idx="5">
                  <c:v>0.18999999761581421</c:v>
                </c:pt>
                <c:pt idx="6">
                  <c:v>0.10000000149011612</c:v>
                </c:pt>
                <c:pt idx="7">
                  <c:v>1.9999999552965164E-2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A3-4FE0-A10B-0680B2304AC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1791108799"/>
        <c:axId val="1294197231"/>
      </c:barChart>
      <c:scatterChart>
        <c:scatterStyle val="lineMarker"/>
        <c:varyColors val="0"/>
        <c:ser>
          <c:idx val="1"/>
          <c:order val="1"/>
          <c:tx>
            <c:strRef>
              <c:f>'ai startups'!$C$40</c:f>
              <c:strCache>
                <c:ptCount val="1"/>
                <c:pt idx="0">
                  <c:v>Доля в мире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FFC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strRef>
              <c:f>'ai startups'!$A$41:$A$48</c:f>
              <c:strCache>
                <c:ptCount val="8"/>
                <c:pt idx="0">
                  <c:v>Турция</c:v>
                </c:pt>
                <c:pt idx="1">
                  <c:v>Украина</c:v>
                </c:pt>
                <c:pt idx="2">
                  <c:v>Армения</c:v>
                </c:pt>
                <c:pt idx="3">
                  <c:v>Беларусь</c:v>
                </c:pt>
                <c:pt idx="4">
                  <c:v>Сербия</c:v>
                </c:pt>
                <c:pt idx="5">
                  <c:v>Грузия</c:v>
                </c:pt>
                <c:pt idx="6">
                  <c:v>Узбекистан</c:v>
                </c:pt>
                <c:pt idx="7">
                  <c:v>Молдова</c:v>
                </c:pt>
              </c:strCache>
            </c:strRef>
          </c:xVal>
          <c:yVal>
            <c:numRef>
              <c:f>'ai startups'!$C$41:$C$48</c:f>
              <c:numCache>
                <c:formatCode>0.00</c:formatCode>
                <c:ptCount val="8"/>
                <c:pt idx="0">
                  <c:v>0.12223585695028305</c:v>
                </c:pt>
                <c:pt idx="1">
                  <c:v>2.0267069339752197E-3</c:v>
                </c:pt>
                <c:pt idx="2">
                  <c:v>1.7044342821463943E-3</c:v>
                </c:pt>
                <c:pt idx="3">
                  <c:v>2.805996045935899E-4</c:v>
                </c:pt>
                <c:pt idx="4">
                  <c:v>1.0696122626541182E-4</c:v>
                </c:pt>
                <c:pt idx="5">
                  <c:v>2.6393030566396192E-5</c:v>
                </c:pt>
                <c:pt idx="6">
                  <c:v>1.3891069102101028E-5</c:v>
                </c:pt>
                <c:pt idx="7">
                  <c:v>2.7782136839960003E-6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4A3-4FE0-A10B-0680B2304A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658361552"/>
        <c:axId val="409880672"/>
        <c:extLst>
          <c:ext xmlns:c15="http://schemas.microsoft.com/office/drawing/2012/chart" uri="{02D57815-91ED-43cb-92C2-25804820EDAC}">
            <c15:filteredScatte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'ai startups'!$D$40</c15:sqref>
                        </c15:formulaRef>
                      </c:ext>
                    </c:extLst>
                    <c:strCache>
                      <c:ptCount val="1"/>
                      <c:pt idx="0">
                        <c:v>Regional Share</c:v>
                      </c:pt>
                    </c:strCache>
                  </c:strRef>
                </c:tx>
                <c:spPr>
                  <a:ln w="25400" cap="rnd">
                    <a:noFill/>
                    <a:round/>
                  </a:ln>
                  <a:effectLst/>
                </c:spPr>
                <c:marker>
                  <c:symbol val="triangle"/>
                  <c:size val="7"/>
                  <c:spPr>
                    <a:solidFill>
                      <a:srgbClr val="FFC000"/>
                    </a:solidFill>
                    <a:ln w="9525">
                      <a:solidFill>
                        <a:schemeClr val="accent3"/>
                      </a:solidFill>
                    </a:ln>
                    <a:effectLst/>
                  </c:spPr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00" b="0" i="0" u="none" strike="noStrike" kern="1200" baseline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xVal>
                  <c:strRef>
                    <c:extLst>
                      <c:ext uri="{02D57815-91ED-43cb-92C2-25804820EDAC}">
                        <c15:formulaRef>
                          <c15:sqref>'ai startups'!$A$41:$A$48</c15:sqref>
                        </c15:formulaRef>
                      </c:ext>
                    </c:extLst>
                    <c:strCache>
                      <c:ptCount val="8"/>
                      <c:pt idx="0">
                        <c:v>Турция</c:v>
                      </c:pt>
                      <c:pt idx="1">
                        <c:v>Украина</c:v>
                      </c:pt>
                      <c:pt idx="2">
                        <c:v>Армения</c:v>
                      </c:pt>
                      <c:pt idx="3">
                        <c:v>Беларусь</c:v>
                      </c:pt>
                      <c:pt idx="4">
                        <c:v>Сербия</c:v>
                      </c:pt>
                      <c:pt idx="5">
                        <c:v>Грузия</c:v>
                      </c:pt>
                      <c:pt idx="6">
                        <c:v>Узбекистан</c:v>
                      </c:pt>
                      <c:pt idx="7">
                        <c:v>Молдова</c:v>
                      </c:pt>
                    </c:strCache>
                  </c:strRef>
                </c:xVal>
                <c:yVal>
                  <c:numRef>
                    <c:extLst>
                      <c:ext uri="{02D57815-91ED-43cb-92C2-25804820EDAC}">
                        <c15:formulaRef>
                          <c15:sqref>'ai startups'!$D$41:$D$48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67.771316528320313</c:v>
                      </c:pt>
                      <c:pt idx="1">
                        <c:v>8.4912395477294922</c:v>
                      </c:pt>
                      <c:pt idx="2">
                        <c:v>8.1130380630493164</c:v>
                      </c:pt>
                      <c:pt idx="3">
                        <c:v>5.1728243827819824</c:v>
                      </c:pt>
                      <c:pt idx="4">
                        <c:v>5.1362242698669434</c:v>
                      </c:pt>
                      <c:pt idx="5">
                        <c:v>3.8796181678771973</c:v>
                      </c:pt>
                      <c:pt idx="6" formatCode="0.00">
                        <c:v>0.81247502565383911</c:v>
                      </c:pt>
                      <c:pt idx="7" formatCode="0.00">
                        <c:v>0.17941403388977051</c:v>
                      </c:pt>
                    </c:numCache>
                  </c:numRef>
                </c:yVal>
                <c:smooth val="0"/>
                <c:extLst>
                  <c:ext xmlns:c16="http://schemas.microsoft.com/office/drawing/2014/chart" uri="{C3380CC4-5D6E-409C-BE32-E72D297353CC}">
                    <c16:uniqueId val="{00000002-D4A3-4FE0-A10B-0680B2304AC7}"/>
                  </c:ext>
                </c:extLst>
              </c15:ser>
            </c15:filteredScatterSeries>
          </c:ext>
        </c:extLst>
      </c:scatterChart>
      <c:catAx>
        <c:axId val="179110879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4197231"/>
        <c:crossesAt val="1.0000000000000002E-2"/>
        <c:auto val="1"/>
        <c:lblAlgn val="ctr"/>
        <c:lblOffset val="100"/>
        <c:noMultiLvlLbl val="0"/>
      </c:catAx>
      <c:valAx>
        <c:axId val="1294197231"/>
        <c:scaling>
          <c:logBase val="10"/>
          <c:orientation val="minMax"/>
          <c:min val="1.0000000000000002E-2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VC funding for AI startups in USD million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0"/>
        <c:majorTickMark val="out"/>
        <c:minorTickMark val="none"/>
        <c:tickLblPos val="nextTo"/>
        <c:spPr>
          <a:noFill/>
          <a:ln>
            <a:solidFill>
              <a:sysClr val="windowText" lastClr="000000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1108799"/>
        <c:crosses val="autoZero"/>
        <c:crossBetween val="between"/>
      </c:valAx>
      <c:valAx>
        <c:axId val="409880672"/>
        <c:scaling>
          <c:orientation val="minMax"/>
          <c:max val="0.2"/>
          <c:min val="0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Share (in 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>
            <a:solidFill>
              <a:sysClr val="windowText" lastClr="000000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8361552"/>
        <c:crosses val="max"/>
        <c:crossBetween val="midCat"/>
        <c:majorUnit val="20"/>
      </c:valAx>
      <c:valAx>
        <c:axId val="1658361552"/>
        <c:scaling>
          <c:orientation val="minMax"/>
        </c:scaling>
        <c:delete val="1"/>
        <c:axPos val="b"/>
        <c:majorTickMark val="out"/>
        <c:minorTickMark val="none"/>
        <c:tickLblPos val="nextTo"/>
        <c:crossAx val="40988067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3146325459317589"/>
          <c:y val="0.17534667541557306"/>
          <c:w val="0.32040660542432198"/>
          <c:h val="6.192175196850394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100">
          <a:solidFill>
            <a:sysClr val="windowText" lastClr="000000"/>
          </a:solidFill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52FF5A-0835-8A42-AAB3-1110DEF85A66}" type="datetimeFigureOut">
              <a:rPr lang="ru-RU" smtClean="0"/>
              <a:t>16.08.2026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216D8E-3479-A648-BA17-986187D9A1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5318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34264-F9A0-25FF-F263-D3DD633CD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764B4B-166A-70A6-0987-ED9DE2D65C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67BD77-FDC5-6210-3FAB-C21113B5F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5D1C4-A966-2680-54CF-A4FBF1B9B6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00AA0E-018C-4307-8644-E82634D534E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452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6C83A-9C23-827B-9234-6B5D1CFF6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D24F84-51D7-8558-38D9-8FECE36DA7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73E5B1-E069-5613-1A85-635391139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94C99-A442-B0C4-2003-3DADDCDE0A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00AA0E-018C-4307-8644-E82634D534E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50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E6306-64D9-AD1F-8791-0D3B2C772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FEFAE8-C078-B7FD-998C-BB9D4891C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0C7091-6F54-72E4-C526-7FE1C745D8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0E148-F648-607D-AF44-9086012721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00AA0E-018C-4307-8644-E82634D534E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955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16D8E-3479-A648-BA17-986187D9A1D3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05285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Со слайда №36</a:t>
            </a:r>
            <a:r>
              <a:rPr lang="ru-RU"/>
              <a:t> +</a:t>
            </a:r>
            <a:r>
              <a:rPr lang="en-US"/>
              <a:t> №39</a:t>
            </a:r>
            <a:br>
              <a:rPr lang="en-US"/>
            </a:br>
            <a:br>
              <a:rPr lang="en-US"/>
            </a:br>
            <a:r>
              <a:rPr lang="en-GB"/>
              <a:t>Без инклюзии большинство молодёжи и женщин не смогут получить доступ к новым цифровым рабочим местам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5689C-49A3-744D-9106-63261617CEB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44955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5689C-49A3-744D-9106-63261617CEB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05816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/>
              <a:t>Население трудоспособного возраста в Центральной Азии вырастет на 40% к 2050 г.</a:t>
            </a:r>
            <a:br>
              <a:rPr lang="en-GB"/>
            </a:br>
            <a:endParaRPr lang="en-GB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/>
              <a:t>Страны ЦА-5 сейчас создают 15 000 рабочих мест в месяц; нужно 25 000 в 2025 г. → 48 000 в 2030 г. → 59 000 в 2040 г. = создание рабочих мест значительно отстаёт от демографических потребностей: </a:t>
            </a:r>
            <a:r>
              <a:rPr lang="en-GB" b="1"/>
              <a:t>15 тыс. против требуемых 25–59 тыс.</a:t>
            </a:r>
            <a:r>
              <a:rPr lang="en-GB"/>
              <a:t>.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5689C-49A3-744D-9106-63261617CEB7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01351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Со слайда №36</a:t>
            </a:r>
            <a:r>
              <a:rPr lang="ru-RU"/>
              <a:t> +</a:t>
            </a:r>
            <a:r>
              <a:rPr lang="en-US"/>
              <a:t> №39</a:t>
            </a:r>
            <a:br>
              <a:rPr lang="en-US"/>
            </a:br>
            <a:br>
              <a:rPr lang="en-US"/>
            </a:br>
            <a:r>
              <a:rPr lang="en-GB"/>
              <a:t>Без инклюзии большинство молодёжи и женщин не смогут получить доступ к новым цифровым рабочим местам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5689C-49A3-744D-9106-63261617CEB7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5954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5689C-49A3-744D-9106-63261617CEB7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88413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rtl="0" fontAlgn="ctr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них есть базовые элементы — связь, центр обработки данных,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узбекский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язык STT/TTS — очень ограниченные инвестиции в LLM и т. п. — и это разумно,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потому что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государству не нужно делать всю тяжёлую инфраструктуру самому — можно привлечь частный сектор</a:t>
            </a:r>
          </a:p>
          <a:p>
            <a:pPr marL="171450" indent="-171450" rtl="0" fontAlgn="ctr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Чтобы подняться, им нужны «лёгкие» ИИ-стартапы — у них нет глубокой экспертизы в LLM, и она им не нужна </a:t>
            </a:r>
          </a:p>
          <a:p>
            <a:pPr marL="171450" indent="-171450" rtl="0" fontAlgn="ctr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них подход к ИИ-стартапам «стрельба дробью» — мы даём все эти стимулы и возможности практически всем подряд </a:t>
            </a:r>
          </a:p>
          <a:p>
            <a:pPr marL="171450" indent="-171450" rtl="0" fontAlgn="ctr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Стартапы — программа акселерации, но много потерь,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потому что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она очень широкая, но это нормально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16D8E-3479-A648-BA17-986187D9A1D3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5413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5F8FE8-36FA-B2FE-D3A2-C71F9A9C1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CDB0A10-4199-7248-A385-BC7FAE2139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181634-CCF5-BC87-3EEE-DD07C6290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D1044-024C-4E46-93D5-5FAB486CA5BC}" type="datetimeFigureOut">
              <a:rPr lang="ru-RU" smtClean="0"/>
              <a:t>16.08.2026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8107A7-3943-9CE9-A2C0-E3150FA36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41B5A2-3EC2-828F-944B-EC4A07DC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632F-601D-0D4F-845C-64B8594C6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8968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58400E-634E-F3E9-F1B9-4F85EC198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5A15DC-4B09-7EE0-A40C-52F49C7BE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F4B0E3-225D-1244-EA7D-CA710D7F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D1044-024C-4E46-93D5-5FAB486CA5BC}" type="datetimeFigureOut">
              <a:rPr lang="ru-RU" smtClean="0"/>
              <a:t>16.08.2026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B4D3FE-EDCC-520F-0F5C-565435CBF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3C236E-245E-DC30-22C1-805ABB951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632F-601D-0D4F-845C-64B8594C6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9086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41927B-C4FC-A686-A5C1-F10C0CB17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66BB36E-E2AB-4482-6B60-E24AF5E9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793C31-CFA3-5146-9E92-1D12540D7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D1044-024C-4E46-93D5-5FAB486CA5BC}" type="datetimeFigureOut">
              <a:rPr lang="ru-RU" smtClean="0"/>
              <a:t>16.08.2026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82A606-8D9C-0FED-587E-3A06D59BF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44BAF6-3CE7-AB54-E106-37EF0D7B2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632F-601D-0D4F-845C-64B8594C6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4767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201C95-6F00-F8AB-CFC1-FEB243F38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F94AB3-CCC4-43D6-AA70-6EDD8F8735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55F3374-3C42-8B7C-077E-F2E013FCF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4CEAAA0-648C-BA29-E93F-03CCDD95A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D1044-024C-4E46-93D5-5FAB486CA5BC}" type="datetimeFigureOut">
              <a:rPr lang="ru-RU" smtClean="0"/>
              <a:t>16.08.2026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7D09B42-4669-CB2F-F73A-EE2E54656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471864C-011D-77A0-CF61-F6CBCDDAD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632F-601D-0D4F-845C-64B8594C6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466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949D80-7ED3-1B96-A3CA-086FCBB7C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F92DF2-DCA7-CBDC-C2BD-5457160DF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B2ED7DE-88AF-C563-BC4C-C3E8E7A7D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25525CB-5FC8-0E3A-B3DF-3B2C637E75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9D21C63-22CE-6B3A-FDF3-BF6630602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F564466-7070-4728-AFFF-DCB56DEFC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D1044-024C-4E46-93D5-5FAB486CA5BC}" type="datetimeFigureOut">
              <a:rPr lang="ru-RU" smtClean="0"/>
              <a:t>16.08.2026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84A4538-7D74-401F-BBE3-F74F6FDA7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85AD1D6-6CE0-5779-C19B-9DD028691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632F-601D-0D4F-845C-64B8594C6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7916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6E0F21-15DE-B41D-55E8-9AF32427E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FF48746-A8F3-8154-309A-F3F81AC84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D1044-024C-4E46-93D5-5FAB486CA5BC}" type="datetimeFigureOut">
              <a:rPr lang="ru-RU" smtClean="0"/>
              <a:t>16.08.2026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2DB2675-0366-6EE0-DAAF-C54B8AC45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0C9C2FC-5D0C-8DC8-BE57-0CAF60E55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632F-601D-0D4F-845C-64B8594C6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8464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F89F33E-2221-B053-90E3-3823792BF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D1044-024C-4E46-93D5-5FAB486CA5BC}" type="datetimeFigureOut">
              <a:rPr lang="ru-RU" smtClean="0"/>
              <a:t>16.08.2026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58A3A6D-EE23-9579-E2C6-EE761995B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A4968D6-E609-9B12-585A-3AB33044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632F-601D-0D4F-845C-64B8594C6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1213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2CDD71-E2CE-CE60-4A0D-99B2E8343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3557D8-8026-F25C-5DE9-7CC0F437B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92C4747-24E0-A185-80A1-42EDE156F0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18CBC92-6284-8C72-D32F-03790F3CB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D1044-024C-4E46-93D5-5FAB486CA5BC}" type="datetimeFigureOut">
              <a:rPr lang="ru-RU" smtClean="0"/>
              <a:t>16.08.2026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F72403C-F197-B778-590A-AFB9448A5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C3CC1AE-5461-45B2-31FE-AF811F3FC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632F-601D-0D4F-845C-64B8594C6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5538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45119E-577C-B164-7CEE-AB147801F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25819B-9E68-45D3-B6BD-0B2B4D8087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8D0C05F-E9D6-D643-6F2E-BD42792029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9F42E92-1AAF-7B7D-F082-2094E6DA4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D1044-024C-4E46-93D5-5FAB486CA5BC}" type="datetimeFigureOut">
              <a:rPr lang="ru-RU" smtClean="0"/>
              <a:t>16.08.2026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DCE4964-6891-A52C-2D39-09DAA53CE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4EA1AA7-3D58-4345-BE1D-9885AAB42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632F-601D-0D4F-845C-64B8594C6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4829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760327-864D-EFFA-3F9E-2D858453E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6AE6707-9023-FC4B-6F90-3D8C8BAE9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2EFBFF-4F2A-C1A6-9531-B4D210DD8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D1044-024C-4E46-93D5-5FAB486CA5BC}" type="datetimeFigureOut">
              <a:rPr lang="ru-RU" smtClean="0"/>
              <a:t>16.08.2026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9ED81A-C930-7D5B-AD07-2CC997713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7EB1F7-7F0B-BBCD-44B9-B81C31CE5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632F-601D-0D4F-845C-64B8594C6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4941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EDB3085-37F3-1AD7-E1BD-440ADBA89F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7A2D7D4-088C-1E0D-FA4A-B1AACED382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3A5DBA-3EFB-9D06-3B54-E7D60ECD6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D1044-024C-4E46-93D5-5FAB486CA5BC}" type="datetimeFigureOut">
              <a:rPr lang="ru-RU" smtClean="0"/>
              <a:t>16.08.2026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251309-D89C-89A2-83DA-29E9A762C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982501-5E6C-848F-9EC1-7CDD4E7D9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632F-601D-0D4F-845C-64B8594C6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0930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Main Title+ SubTitle+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227330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755174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2133" b="0" baseline="0">
                <a:solidFill>
                  <a:schemeClr val="accent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679424543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in Title+ SubTitle+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21629-7AAB-CE00-09F6-330CCD6F22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6800" y="227330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0045CF-1EF3-3265-8DE3-2EA0EB65386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755174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2133" b="0" baseline="0">
                <a:solidFill>
                  <a:schemeClr val="accent4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3944743948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F0EB2-FCB3-31DC-3EA0-F2CD9097B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949" y="2000180"/>
            <a:ext cx="10668000" cy="4414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2"/>
              </a:buClr>
              <a:buFont typeface="Wingdings" pitchFamily="2" charset="2"/>
              <a:buChar char="§"/>
              <a:defRPr sz="32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133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133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E20AB31-1B67-3E30-9FD0-F7FC49C5B1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6800" y="227330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C4C3863-99DA-04AB-D56C-380E3807F0F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755174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2133" b="0" baseline="0">
                <a:solidFill>
                  <a:schemeClr val="accent4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112145376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03D322A-ADEA-8A23-6448-C7A78AEE46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6800" y="227330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08FA7C1-59CD-F951-0DA9-5A099750553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755174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2133" b="0" baseline="0">
                <a:solidFill>
                  <a:schemeClr val="accent4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23155209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Main Title+ SubTitle+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345FE5-5269-4656-A0E7-EE9B4A54D53F}"/>
              </a:ext>
            </a:extLst>
          </p:cNvPr>
          <p:cNvSpPr/>
          <p:nvPr userDrawn="1"/>
        </p:nvSpPr>
        <p:spPr>
          <a:xfrm flipH="1">
            <a:off x="1" y="0"/>
            <a:ext cx="10379676" cy="668019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bg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aphicFrame>
        <p:nvGraphicFramePr>
          <p:cNvPr id="5" name="Picture Placeholder 13">
            <a:extLst>
              <a:ext uri="{FF2B5EF4-FFF2-40B4-BE49-F238E27FC236}">
                <a16:creationId xmlns:a16="http://schemas.microsoft.com/office/drawing/2014/main" id="{008BD53C-2E04-757E-5F38-122F652A150A}"/>
              </a:ext>
            </a:extLst>
          </p:cNvPr>
          <p:cNvGraphicFramePr>
            <a:graphicFrameLocks/>
          </p:cNvGraphicFramePr>
          <p:nvPr userDrawn="1"/>
        </p:nvGraphicFramePr>
        <p:xfrm>
          <a:off x="1950126" y="1096947"/>
          <a:ext cx="8291749" cy="46641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46362921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Pic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6908800" y="1562289"/>
            <a:ext cx="4775200" cy="4775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tIns="0" bIns="182880" anchor="b"/>
          <a:lstStyle>
            <a:lvl1pPr algn="ctr">
              <a:buNone/>
              <a:defRPr sz="1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9F7F58F-9F0E-C2DF-6D3B-4BDC78B24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6800" y="227330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C0DD11A-2491-DBBA-0531-617B407D1B4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755174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2133" b="0" baseline="0">
                <a:solidFill>
                  <a:schemeClr val="accent4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3529563220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icture Placeholder 7"/>
          <p:cNvSpPr>
            <a:spLocks noGrp="1"/>
          </p:cNvSpPr>
          <p:nvPr>
            <p:ph type="pic" sz="quarter" idx="11" hasCustomPrompt="1"/>
          </p:nvPr>
        </p:nvSpPr>
        <p:spPr>
          <a:xfrm>
            <a:off x="1079619" y="1516931"/>
            <a:ext cx="4648083" cy="213383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tIns="0" bIns="18288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89" name="Up Arrow Callout 88"/>
          <p:cNvSpPr/>
          <p:nvPr userDrawn="1"/>
        </p:nvSpPr>
        <p:spPr>
          <a:xfrm flipV="1">
            <a:off x="876967" y="1387218"/>
            <a:ext cx="5042171" cy="2573316"/>
          </a:xfrm>
          <a:prstGeom prst="upArrowCallout">
            <a:avLst>
              <a:gd name="adj1" fmla="val 18414"/>
              <a:gd name="adj2" fmla="val 9207"/>
              <a:gd name="adj3" fmla="val 7403"/>
              <a:gd name="adj4" fmla="val 92597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1" name="Round Same Side Corner Rectangle 20"/>
          <p:cNvSpPr/>
          <p:nvPr userDrawn="1"/>
        </p:nvSpPr>
        <p:spPr>
          <a:xfrm>
            <a:off x="876967" y="4038600"/>
            <a:ext cx="5042171" cy="2354264"/>
          </a:xfrm>
          <a:prstGeom prst="round2SameRect">
            <a:avLst>
              <a:gd name="adj1" fmla="val 168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28"/>
          </p:nvPr>
        </p:nvSpPr>
        <p:spPr>
          <a:xfrm>
            <a:off x="1064387" y="4264160"/>
            <a:ext cx="4706495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l">
              <a:buNone/>
              <a:defRPr sz="1600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/>
          </a:p>
        </p:txBody>
      </p:sp>
      <p:sp>
        <p:nvSpPr>
          <p:cNvPr id="23" name="Freeform 22"/>
          <p:cNvSpPr>
            <a:spLocks noEditPoints="1"/>
          </p:cNvSpPr>
          <p:nvPr userDrawn="1"/>
        </p:nvSpPr>
        <p:spPr bwMode="auto">
          <a:xfrm>
            <a:off x="1119536" y="4726753"/>
            <a:ext cx="353664" cy="35366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rtl="0"/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9"/>
          </p:nvPr>
        </p:nvSpPr>
        <p:spPr>
          <a:xfrm>
            <a:off x="1605281" y="4686148"/>
            <a:ext cx="4165600" cy="43487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0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Freeform 45"/>
          <p:cNvSpPr>
            <a:spLocks noEditPoints="1"/>
          </p:cNvSpPr>
          <p:nvPr userDrawn="1"/>
        </p:nvSpPr>
        <p:spPr bwMode="auto">
          <a:xfrm>
            <a:off x="1119536" y="5272853"/>
            <a:ext cx="353664" cy="35366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rtl="0"/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26" name="Text Placeholder 3"/>
          <p:cNvSpPr>
            <a:spLocks noGrp="1"/>
          </p:cNvSpPr>
          <p:nvPr>
            <p:ph type="body" sz="half" idx="30"/>
          </p:nvPr>
        </p:nvSpPr>
        <p:spPr>
          <a:xfrm>
            <a:off x="1605281" y="5232248"/>
            <a:ext cx="4165600" cy="43487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0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7" name="Freeform 45"/>
          <p:cNvSpPr>
            <a:spLocks noEditPoints="1"/>
          </p:cNvSpPr>
          <p:nvPr userDrawn="1"/>
        </p:nvSpPr>
        <p:spPr bwMode="auto">
          <a:xfrm>
            <a:off x="1119536" y="5818953"/>
            <a:ext cx="353664" cy="35366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rtl="0"/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28" name="Text Placeholder 3"/>
          <p:cNvSpPr>
            <a:spLocks noGrp="1"/>
          </p:cNvSpPr>
          <p:nvPr>
            <p:ph type="body" sz="half" idx="31"/>
          </p:nvPr>
        </p:nvSpPr>
        <p:spPr>
          <a:xfrm>
            <a:off x="1605281" y="5778348"/>
            <a:ext cx="4165600" cy="43487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0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Picture Placeholder 7"/>
          <p:cNvSpPr>
            <a:spLocks noGrp="1"/>
          </p:cNvSpPr>
          <p:nvPr>
            <p:ph type="pic" sz="quarter" idx="27" hasCustomPrompt="1"/>
          </p:nvPr>
        </p:nvSpPr>
        <p:spPr>
          <a:xfrm>
            <a:off x="6426259" y="4122164"/>
            <a:ext cx="4648083" cy="213383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tIns="0" bIns="18288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30" name="Up Arrow Callout 29"/>
          <p:cNvSpPr/>
          <p:nvPr userDrawn="1"/>
        </p:nvSpPr>
        <p:spPr>
          <a:xfrm>
            <a:off x="6223607" y="3810801"/>
            <a:ext cx="5042171" cy="2573316"/>
          </a:xfrm>
          <a:prstGeom prst="upArrowCallout">
            <a:avLst>
              <a:gd name="adj1" fmla="val 18414"/>
              <a:gd name="adj2" fmla="val 9207"/>
              <a:gd name="adj3" fmla="val 7403"/>
              <a:gd name="adj4" fmla="val 92597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ound Same Side Corner Rectangle 30"/>
          <p:cNvSpPr/>
          <p:nvPr userDrawn="1"/>
        </p:nvSpPr>
        <p:spPr>
          <a:xfrm>
            <a:off x="6223607" y="1395933"/>
            <a:ext cx="5042171" cy="2354264"/>
          </a:xfrm>
          <a:prstGeom prst="round2SameRect">
            <a:avLst>
              <a:gd name="adj1" fmla="val 168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2" name="Text Placeholder 3"/>
          <p:cNvSpPr>
            <a:spLocks noGrp="1"/>
          </p:cNvSpPr>
          <p:nvPr>
            <p:ph type="body" sz="half" idx="26"/>
          </p:nvPr>
        </p:nvSpPr>
        <p:spPr>
          <a:xfrm>
            <a:off x="6411027" y="1621493"/>
            <a:ext cx="4706495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l">
              <a:buNone/>
              <a:defRPr sz="1600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/>
          </a:p>
        </p:txBody>
      </p:sp>
      <p:sp>
        <p:nvSpPr>
          <p:cNvPr id="33" name="Freeform 32"/>
          <p:cNvSpPr>
            <a:spLocks noEditPoints="1"/>
          </p:cNvSpPr>
          <p:nvPr userDrawn="1"/>
        </p:nvSpPr>
        <p:spPr bwMode="auto">
          <a:xfrm>
            <a:off x="6466176" y="2084087"/>
            <a:ext cx="353664" cy="35366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rtl="0"/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34" name="Text Placeholder 3"/>
          <p:cNvSpPr>
            <a:spLocks noGrp="1"/>
          </p:cNvSpPr>
          <p:nvPr>
            <p:ph type="body" sz="half" idx="23"/>
          </p:nvPr>
        </p:nvSpPr>
        <p:spPr>
          <a:xfrm>
            <a:off x="6951921" y="2043481"/>
            <a:ext cx="4165600" cy="43487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0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5" name="Freeform 45"/>
          <p:cNvSpPr>
            <a:spLocks noEditPoints="1"/>
          </p:cNvSpPr>
          <p:nvPr userDrawn="1"/>
        </p:nvSpPr>
        <p:spPr bwMode="auto">
          <a:xfrm>
            <a:off x="6466176" y="2630187"/>
            <a:ext cx="353664" cy="35366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rtl="0"/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24"/>
          </p:nvPr>
        </p:nvSpPr>
        <p:spPr>
          <a:xfrm>
            <a:off x="6951921" y="2589581"/>
            <a:ext cx="4165600" cy="43487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0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8" name="Freeform 45"/>
          <p:cNvSpPr>
            <a:spLocks noEditPoints="1"/>
          </p:cNvSpPr>
          <p:nvPr userDrawn="1"/>
        </p:nvSpPr>
        <p:spPr bwMode="auto">
          <a:xfrm>
            <a:off x="6466176" y="3176287"/>
            <a:ext cx="353664" cy="35366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rtl="0"/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42" name="Text Placeholder 3"/>
          <p:cNvSpPr>
            <a:spLocks noGrp="1"/>
          </p:cNvSpPr>
          <p:nvPr>
            <p:ph type="body" sz="half" idx="25"/>
          </p:nvPr>
        </p:nvSpPr>
        <p:spPr>
          <a:xfrm>
            <a:off x="6951921" y="3135681"/>
            <a:ext cx="4165600" cy="43487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0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884AD42-1BF4-A01C-CEBB-44B47936D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6800" y="227330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18A127D-98F3-0ED9-1710-A11266C3885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755174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2133" b="0" baseline="0">
                <a:solidFill>
                  <a:schemeClr val="accent4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973670377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-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1"/>
          <p:cNvGrpSpPr/>
          <p:nvPr userDrawn="1"/>
        </p:nvGrpSpPr>
        <p:grpSpPr>
          <a:xfrm>
            <a:off x="8088244" y="1538357"/>
            <a:ext cx="3251200" cy="4761948"/>
            <a:chOff x="6066183" y="1153767"/>
            <a:chExt cx="2438400" cy="3571461"/>
          </a:xfrm>
        </p:grpSpPr>
        <p:sp>
          <p:nvSpPr>
            <p:cNvPr id="14" name="Rectangle 13"/>
            <p:cNvSpPr/>
            <p:nvPr userDrawn="1"/>
          </p:nvSpPr>
          <p:spPr>
            <a:xfrm>
              <a:off x="6066183" y="1153767"/>
              <a:ext cx="2438400" cy="357146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9" name="Isosceles Triangle 18"/>
            <p:cNvSpPr/>
            <p:nvPr userDrawn="1"/>
          </p:nvSpPr>
          <p:spPr>
            <a:xfrm rot="10800000">
              <a:off x="7094883" y="1166047"/>
              <a:ext cx="381000" cy="228600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sp>
        <p:nvSpPr>
          <p:cNvPr id="15" name="Text Placeholder 3"/>
          <p:cNvSpPr>
            <a:spLocks noGrp="1"/>
          </p:cNvSpPr>
          <p:nvPr>
            <p:ph type="body" sz="half" idx="15"/>
          </p:nvPr>
        </p:nvSpPr>
        <p:spPr>
          <a:xfrm>
            <a:off x="8396556" y="2520361"/>
            <a:ext cx="2634576" cy="256129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0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Text Placeholder 3"/>
          <p:cNvSpPr>
            <a:spLocks noGrp="1"/>
          </p:cNvSpPr>
          <p:nvPr>
            <p:ph type="body" sz="half" idx="17"/>
          </p:nvPr>
        </p:nvSpPr>
        <p:spPr>
          <a:xfrm>
            <a:off x="8392868" y="2139120"/>
            <a:ext cx="2641952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867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901142" y="5407160"/>
            <a:ext cx="2148125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l">
              <a:buNone/>
              <a:defRPr sz="1600" b="0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3C5A747-DD8E-E146-72A9-912F7ADBF2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6800" y="227330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A20FC67-360B-35F1-FAEF-118B279BE9C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755174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2133" b="0" baseline="0">
                <a:solidFill>
                  <a:schemeClr val="accent4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161373452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CC5158-9C7E-9ADD-888D-D445801A77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6800" y="227330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1BC18F1-A9FA-61D0-D6C9-E6F3DF19102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755174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2133" b="0" baseline="0">
                <a:solidFill>
                  <a:schemeClr val="accent4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  <p:sp>
        <p:nvSpPr>
          <p:cNvPr id="9" name="Round Same Side Corner Rectangle 8">
            <a:extLst>
              <a:ext uri="{FF2B5EF4-FFF2-40B4-BE49-F238E27FC236}">
                <a16:creationId xmlns:a16="http://schemas.microsoft.com/office/drawing/2014/main" id="{86B6C19D-0E4D-D2F1-DAAE-A0215CE0236C}"/>
              </a:ext>
            </a:extLst>
          </p:cNvPr>
          <p:cNvSpPr/>
          <p:nvPr userDrawn="1"/>
        </p:nvSpPr>
        <p:spPr>
          <a:xfrm flipH="1">
            <a:off x="11320935" y="6375400"/>
            <a:ext cx="490067" cy="355219"/>
          </a:xfrm>
          <a:prstGeom prst="round2SameRect">
            <a:avLst/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B762D6-B767-1669-6BEC-17D7096CD8B8}"/>
              </a:ext>
            </a:extLst>
          </p:cNvPr>
          <p:cNvSpPr txBox="1"/>
          <p:nvPr userDrawn="1"/>
        </p:nvSpPr>
        <p:spPr bwMode="gray">
          <a:xfrm>
            <a:off x="11362768" y="6450450"/>
            <a:ext cx="406400" cy="20512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0" algn="ctr" defTabSz="1219170" rtl="0" eaLnBrk="1" latinLnBrk="0" hangingPunct="1"/>
            <a:fld id="{6C5AF65D-6854-49AF-ABC5-48B5BA0EA842}" type="slidenum">
              <a:rPr lang="en-US" sz="1333" b="0" i="0" kern="1200" smtClean="0">
                <a:solidFill>
                  <a:schemeClr val="bg1"/>
                </a:solidFill>
                <a:latin typeface="HP Simplified"/>
                <a:ea typeface="+mn-ea"/>
                <a:cs typeface="HP Simplified"/>
              </a:rPr>
              <a:pPr marL="0" algn="ctr" defTabSz="1219170" rtl="0" eaLnBrk="1" latinLnBrk="0" hangingPunct="1"/>
              <a:t>‹#›</a:t>
            </a:fld>
            <a:endParaRPr lang="en-US" sz="1333" b="0" i="0" kern="1200">
              <a:solidFill>
                <a:schemeClr val="bg1"/>
              </a:solidFill>
              <a:latin typeface="HP Simplified"/>
              <a:ea typeface="+mn-ea"/>
              <a:cs typeface="HP Simplified"/>
            </a:endParaRPr>
          </a:p>
        </p:txBody>
      </p:sp>
    </p:spTree>
    <p:extLst>
      <p:ext uri="{BB962C8B-B14F-4D97-AF65-F5344CB8AC3E}">
        <p14:creationId xmlns:p14="http://schemas.microsoft.com/office/powerpoint/2010/main" val="4053303447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ic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5"/>
          <p:cNvSpPr>
            <a:spLocks noEditPoints="1"/>
          </p:cNvSpPr>
          <p:nvPr userDrawn="1"/>
        </p:nvSpPr>
        <p:spPr bwMode="auto">
          <a:xfrm>
            <a:off x="6657016" y="2027143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59" name="Text Placeholder 3"/>
          <p:cNvSpPr>
            <a:spLocks noGrp="1"/>
          </p:cNvSpPr>
          <p:nvPr>
            <p:ph type="body" sz="half" idx="15"/>
          </p:nvPr>
        </p:nvSpPr>
        <p:spPr>
          <a:xfrm>
            <a:off x="7173240" y="1964995"/>
            <a:ext cx="4157377" cy="5389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Text Placeholder 3"/>
          <p:cNvSpPr>
            <a:spLocks noGrp="1"/>
          </p:cNvSpPr>
          <p:nvPr>
            <p:ph type="body" sz="half" idx="25" hasCustomPrompt="1"/>
          </p:nvPr>
        </p:nvSpPr>
        <p:spPr>
          <a:xfrm>
            <a:off x="7173238" y="1574345"/>
            <a:ext cx="4157377" cy="39064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867" b="1" baseline="0">
                <a:solidFill>
                  <a:schemeClr val="accent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76" name="Freeform 45"/>
          <p:cNvSpPr>
            <a:spLocks noEditPoints="1"/>
          </p:cNvSpPr>
          <p:nvPr userDrawn="1"/>
        </p:nvSpPr>
        <p:spPr bwMode="auto">
          <a:xfrm>
            <a:off x="6657016" y="3186444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77" name="Text Placeholder 3"/>
          <p:cNvSpPr>
            <a:spLocks noGrp="1"/>
          </p:cNvSpPr>
          <p:nvPr>
            <p:ph type="body" sz="half" idx="26"/>
          </p:nvPr>
        </p:nvSpPr>
        <p:spPr>
          <a:xfrm>
            <a:off x="7173240" y="3124296"/>
            <a:ext cx="4157377" cy="5389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8" name="Text Placeholder 3"/>
          <p:cNvSpPr>
            <a:spLocks noGrp="1"/>
          </p:cNvSpPr>
          <p:nvPr>
            <p:ph type="body" sz="half" idx="27" hasCustomPrompt="1"/>
          </p:nvPr>
        </p:nvSpPr>
        <p:spPr>
          <a:xfrm>
            <a:off x="7173238" y="2733646"/>
            <a:ext cx="4157377" cy="39064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867" b="1" baseline="0">
                <a:solidFill>
                  <a:schemeClr val="accent2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79" name="Freeform 45"/>
          <p:cNvSpPr>
            <a:spLocks noEditPoints="1"/>
          </p:cNvSpPr>
          <p:nvPr userDrawn="1"/>
        </p:nvSpPr>
        <p:spPr bwMode="auto">
          <a:xfrm>
            <a:off x="6657016" y="4372223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80" name="Text Placeholder 3"/>
          <p:cNvSpPr>
            <a:spLocks noGrp="1"/>
          </p:cNvSpPr>
          <p:nvPr>
            <p:ph type="body" sz="half" idx="28"/>
          </p:nvPr>
        </p:nvSpPr>
        <p:spPr>
          <a:xfrm>
            <a:off x="7173240" y="4310075"/>
            <a:ext cx="4157377" cy="5389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1" name="Text Placeholder 3"/>
          <p:cNvSpPr>
            <a:spLocks noGrp="1"/>
          </p:cNvSpPr>
          <p:nvPr>
            <p:ph type="body" sz="half" idx="29" hasCustomPrompt="1"/>
          </p:nvPr>
        </p:nvSpPr>
        <p:spPr>
          <a:xfrm>
            <a:off x="7173238" y="3919425"/>
            <a:ext cx="4157377" cy="39064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867" b="1" baseline="0">
                <a:solidFill>
                  <a:schemeClr val="accent3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82" name="Freeform 45"/>
          <p:cNvSpPr>
            <a:spLocks noEditPoints="1"/>
          </p:cNvSpPr>
          <p:nvPr userDrawn="1"/>
        </p:nvSpPr>
        <p:spPr bwMode="auto">
          <a:xfrm>
            <a:off x="6657016" y="5594476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83" name="Text Placeholder 3"/>
          <p:cNvSpPr>
            <a:spLocks noGrp="1"/>
          </p:cNvSpPr>
          <p:nvPr>
            <p:ph type="body" sz="half" idx="30"/>
          </p:nvPr>
        </p:nvSpPr>
        <p:spPr>
          <a:xfrm>
            <a:off x="7173240" y="5532328"/>
            <a:ext cx="4157377" cy="5389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4" name="Text Placeholder 3"/>
          <p:cNvSpPr>
            <a:spLocks noGrp="1"/>
          </p:cNvSpPr>
          <p:nvPr>
            <p:ph type="body" sz="half" idx="31" hasCustomPrompt="1"/>
          </p:nvPr>
        </p:nvSpPr>
        <p:spPr>
          <a:xfrm>
            <a:off x="7173238" y="5141678"/>
            <a:ext cx="4157377" cy="39064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867" b="1" baseline="0">
                <a:solidFill>
                  <a:schemeClr val="accent4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30" name="Right Arrow Callout 29"/>
          <p:cNvSpPr/>
          <p:nvPr userDrawn="1"/>
        </p:nvSpPr>
        <p:spPr>
          <a:xfrm>
            <a:off x="789295" y="1636949"/>
            <a:ext cx="2828548" cy="2123451"/>
          </a:xfrm>
          <a:prstGeom prst="rightArrowCallout">
            <a:avLst>
              <a:gd name="adj1" fmla="val 18792"/>
              <a:gd name="adj2" fmla="val 9396"/>
              <a:gd name="adj3" fmla="val 13111"/>
              <a:gd name="adj4" fmla="val 9095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Picture Placeholder 7"/>
          <p:cNvSpPr>
            <a:spLocks noGrp="1"/>
          </p:cNvSpPr>
          <p:nvPr>
            <p:ph type="pic" sz="quarter" idx="32" hasCustomPrompt="1"/>
          </p:nvPr>
        </p:nvSpPr>
        <p:spPr>
          <a:xfrm>
            <a:off x="888448" y="1748425"/>
            <a:ext cx="2325696" cy="187959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tIns="0" bIns="182880" anchor="b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2" name="Right Arrow Callout 31"/>
          <p:cNvSpPr/>
          <p:nvPr userDrawn="1"/>
        </p:nvSpPr>
        <p:spPr>
          <a:xfrm>
            <a:off x="789295" y="3937153"/>
            <a:ext cx="2828548" cy="2123451"/>
          </a:xfrm>
          <a:prstGeom prst="rightArrowCallout">
            <a:avLst>
              <a:gd name="adj1" fmla="val 18792"/>
              <a:gd name="adj2" fmla="val 9396"/>
              <a:gd name="adj3" fmla="val 13111"/>
              <a:gd name="adj4" fmla="val 9095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33" hasCustomPrompt="1"/>
          </p:nvPr>
        </p:nvSpPr>
        <p:spPr>
          <a:xfrm>
            <a:off x="888448" y="4048629"/>
            <a:ext cx="2325696" cy="187959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tIns="0" bIns="182880" anchor="b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5" name="Right Arrow Callout 34"/>
          <p:cNvSpPr/>
          <p:nvPr userDrawn="1"/>
        </p:nvSpPr>
        <p:spPr>
          <a:xfrm flipH="1">
            <a:off x="3629681" y="1636949"/>
            <a:ext cx="2828548" cy="2123451"/>
          </a:xfrm>
          <a:prstGeom prst="rightArrowCallout">
            <a:avLst>
              <a:gd name="adj1" fmla="val 18792"/>
              <a:gd name="adj2" fmla="val 9396"/>
              <a:gd name="adj3" fmla="val 13111"/>
              <a:gd name="adj4" fmla="val 9095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6" name="Picture Placeholder 7"/>
          <p:cNvSpPr>
            <a:spLocks noGrp="1"/>
          </p:cNvSpPr>
          <p:nvPr>
            <p:ph type="pic" sz="quarter" idx="34" hasCustomPrompt="1"/>
          </p:nvPr>
        </p:nvSpPr>
        <p:spPr>
          <a:xfrm>
            <a:off x="4017128" y="1748425"/>
            <a:ext cx="2325696" cy="187959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tIns="0" bIns="182880" anchor="b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7" name="Right Arrow Callout 36"/>
          <p:cNvSpPr/>
          <p:nvPr userDrawn="1"/>
        </p:nvSpPr>
        <p:spPr>
          <a:xfrm flipH="1">
            <a:off x="3629681" y="3937153"/>
            <a:ext cx="2828548" cy="2123451"/>
          </a:xfrm>
          <a:prstGeom prst="rightArrowCallout">
            <a:avLst>
              <a:gd name="adj1" fmla="val 18792"/>
              <a:gd name="adj2" fmla="val 9396"/>
              <a:gd name="adj3" fmla="val 13111"/>
              <a:gd name="adj4" fmla="val 9095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8" name="Picture Placeholder 7"/>
          <p:cNvSpPr>
            <a:spLocks noGrp="1"/>
          </p:cNvSpPr>
          <p:nvPr>
            <p:ph type="pic" sz="quarter" idx="35" hasCustomPrompt="1"/>
          </p:nvPr>
        </p:nvSpPr>
        <p:spPr>
          <a:xfrm>
            <a:off x="4017128" y="4048629"/>
            <a:ext cx="2325696" cy="187959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tIns="0" bIns="182880" anchor="b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5AFC95A-88FA-E213-34DD-E789E31BB5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6800" y="227330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BDF064A-277E-60ED-D563-825EBC29D84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755174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2133" b="0" baseline="0">
                <a:solidFill>
                  <a:schemeClr val="accent4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304267613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0519040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7"/>
          <p:cNvSpPr>
            <a:spLocks noGrp="1"/>
          </p:cNvSpPr>
          <p:nvPr>
            <p:ph type="pic" sz="quarter" idx="32" hasCustomPrompt="1"/>
          </p:nvPr>
        </p:nvSpPr>
        <p:spPr>
          <a:xfrm>
            <a:off x="597833" y="4169651"/>
            <a:ext cx="10984567" cy="213360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19050">
            <a:noFill/>
          </a:ln>
        </p:spPr>
        <p:txBody>
          <a:bodyPr tIns="0" bIns="182880" anchor="b"/>
          <a:lstStyle>
            <a:lvl1pPr algn="ctr" rtl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2"/>
          </p:nvPr>
        </p:nvSpPr>
        <p:spPr>
          <a:xfrm>
            <a:off x="593568" y="2042083"/>
            <a:ext cx="5400833" cy="174030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just">
              <a:buNone/>
              <a:defRPr sz="1467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23"/>
          </p:nvPr>
        </p:nvSpPr>
        <p:spPr>
          <a:xfrm>
            <a:off x="593568" y="1648792"/>
            <a:ext cx="5400833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l">
              <a:buNone/>
              <a:defRPr sz="1867" b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/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33"/>
          </p:nvPr>
        </p:nvSpPr>
        <p:spPr>
          <a:xfrm>
            <a:off x="6197601" y="2042083"/>
            <a:ext cx="5384800" cy="174030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just">
              <a:buNone/>
              <a:defRPr sz="1467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7" name="Text Placeholder 3"/>
          <p:cNvSpPr>
            <a:spLocks noGrp="1"/>
          </p:cNvSpPr>
          <p:nvPr>
            <p:ph type="body" sz="half" idx="34"/>
          </p:nvPr>
        </p:nvSpPr>
        <p:spPr>
          <a:xfrm>
            <a:off x="6197601" y="1648792"/>
            <a:ext cx="5384800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l">
              <a:buNone/>
              <a:defRPr sz="1867" b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8A652FE-9CFB-0A40-06D1-913831DCC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6800" y="227330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0274AA6-E7ED-47EF-2BFF-2985D6FCBEA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755174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2133" b="0" baseline="0">
                <a:solidFill>
                  <a:schemeClr val="accent4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0732447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22" presetClass="entr" presetSubtype="8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2" presetClass="entr" presetSubtype="8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8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ic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887984" y="1510378"/>
            <a:ext cx="5066845" cy="1887703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txBody>
          <a:bodyPr tIns="0" bIns="182880" anchor="b"/>
          <a:lstStyle>
            <a:lvl1pPr algn="ctr">
              <a:buNone/>
              <a:defRPr sz="14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887983" y="3398080"/>
            <a:ext cx="5085023" cy="406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b="1"/>
          </a:p>
        </p:txBody>
      </p:sp>
      <p:sp>
        <p:nvSpPr>
          <p:cNvPr id="33" name="Text Placeholder 3"/>
          <p:cNvSpPr>
            <a:spLocks noGrp="1"/>
          </p:cNvSpPr>
          <p:nvPr>
            <p:ph type="body" sz="half" idx="18" hasCustomPrompt="1"/>
          </p:nvPr>
        </p:nvSpPr>
        <p:spPr>
          <a:xfrm>
            <a:off x="1011344" y="3405957"/>
            <a:ext cx="4838299" cy="39064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32" name="Picture Placeholder 7"/>
          <p:cNvSpPr>
            <a:spLocks noGrp="1"/>
          </p:cNvSpPr>
          <p:nvPr>
            <p:ph type="pic" sz="quarter" idx="19" hasCustomPrompt="1"/>
          </p:nvPr>
        </p:nvSpPr>
        <p:spPr>
          <a:xfrm>
            <a:off x="6241611" y="1510378"/>
            <a:ext cx="5066845" cy="1887703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txBody>
          <a:bodyPr tIns="0" bIns="182880" anchor="b"/>
          <a:lstStyle>
            <a:lvl1pPr algn="ctr">
              <a:buNone/>
              <a:defRPr sz="14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5" name="Rectangle 34"/>
          <p:cNvSpPr/>
          <p:nvPr userDrawn="1"/>
        </p:nvSpPr>
        <p:spPr>
          <a:xfrm>
            <a:off x="6241610" y="3398080"/>
            <a:ext cx="5085023" cy="40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b="1"/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20" hasCustomPrompt="1"/>
          </p:nvPr>
        </p:nvSpPr>
        <p:spPr>
          <a:xfrm>
            <a:off x="6364971" y="3405957"/>
            <a:ext cx="4838299" cy="39064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38" name="Freeform 45"/>
          <p:cNvSpPr>
            <a:spLocks noEditPoints="1"/>
          </p:cNvSpPr>
          <p:nvPr userDrawn="1"/>
        </p:nvSpPr>
        <p:spPr bwMode="auto">
          <a:xfrm>
            <a:off x="887984" y="4542480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39" name="Text Placeholder 3"/>
          <p:cNvSpPr>
            <a:spLocks noGrp="1"/>
          </p:cNvSpPr>
          <p:nvPr>
            <p:ph type="body" sz="half" idx="15"/>
          </p:nvPr>
        </p:nvSpPr>
        <p:spPr>
          <a:xfrm>
            <a:off x="1404207" y="4480332"/>
            <a:ext cx="4524956" cy="5389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0" name="Text Placeholder 3"/>
          <p:cNvSpPr>
            <a:spLocks noGrp="1"/>
          </p:cNvSpPr>
          <p:nvPr>
            <p:ph type="body" sz="half" idx="25" hasCustomPrompt="1"/>
          </p:nvPr>
        </p:nvSpPr>
        <p:spPr>
          <a:xfrm>
            <a:off x="1404206" y="4089682"/>
            <a:ext cx="4524956" cy="39064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867" b="1" baseline="0">
                <a:solidFill>
                  <a:schemeClr val="accent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41" name="Freeform 45"/>
          <p:cNvSpPr>
            <a:spLocks noEditPoints="1"/>
          </p:cNvSpPr>
          <p:nvPr userDrawn="1"/>
        </p:nvSpPr>
        <p:spPr bwMode="auto">
          <a:xfrm>
            <a:off x="887984" y="5546727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42" name="Text Placeholder 3"/>
          <p:cNvSpPr>
            <a:spLocks noGrp="1"/>
          </p:cNvSpPr>
          <p:nvPr>
            <p:ph type="body" sz="half" idx="26"/>
          </p:nvPr>
        </p:nvSpPr>
        <p:spPr>
          <a:xfrm>
            <a:off x="1404207" y="5484579"/>
            <a:ext cx="4524956" cy="5389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3" name="Text Placeholder 3"/>
          <p:cNvSpPr>
            <a:spLocks noGrp="1"/>
          </p:cNvSpPr>
          <p:nvPr>
            <p:ph type="body" sz="half" idx="27" hasCustomPrompt="1"/>
          </p:nvPr>
        </p:nvSpPr>
        <p:spPr>
          <a:xfrm>
            <a:off x="1404206" y="5093929"/>
            <a:ext cx="4524956" cy="39064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867" b="1" baseline="0">
                <a:solidFill>
                  <a:schemeClr val="accent2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44" name="Freeform 45"/>
          <p:cNvSpPr>
            <a:spLocks noEditPoints="1"/>
          </p:cNvSpPr>
          <p:nvPr userDrawn="1"/>
        </p:nvSpPr>
        <p:spPr bwMode="auto">
          <a:xfrm>
            <a:off x="6241611" y="4531665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8"/>
          </p:nvPr>
        </p:nvSpPr>
        <p:spPr>
          <a:xfrm>
            <a:off x="6757833" y="4469517"/>
            <a:ext cx="4548643" cy="5389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6" name="Text Placeholder 3"/>
          <p:cNvSpPr>
            <a:spLocks noGrp="1"/>
          </p:cNvSpPr>
          <p:nvPr>
            <p:ph type="body" sz="half" idx="29" hasCustomPrompt="1"/>
          </p:nvPr>
        </p:nvSpPr>
        <p:spPr>
          <a:xfrm>
            <a:off x="6757832" y="4078868"/>
            <a:ext cx="4548643" cy="39064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867" b="1" baseline="0">
                <a:solidFill>
                  <a:schemeClr val="accent3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47" name="Freeform 45"/>
          <p:cNvSpPr>
            <a:spLocks noEditPoints="1"/>
          </p:cNvSpPr>
          <p:nvPr userDrawn="1"/>
        </p:nvSpPr>
        <p:spPr bwMode="auto">
          <a:xfrm>
            <a:off x="6241611" y="5598864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56" name="Text Placeholder 3"/>
          <p:cNvSpPr>
            <a:spLocks noGrp="1"/>
          </p:cNvSpPr>
          <p:nvPr>
            <p:ph type="body" sz="half" idx="30"/>
          </p:nvPr>
        </p:nvSpPr>
        <p:spPr>
          <a:xfrm>
            <a:off x="6757833" y="5536716"/>
            <a:ext cx="4548643" cy="5389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9" name="Text Placeholder 3"/>
          <p:cNvSpPr>
            <a:spLocks noGrp="1"/>
          </p:cNvSpPr>
          <p:nvPr>
            <p:ph type="body" sz="half" idx="31" hasCustomPrompt="1"/>
          </p:nvPr>
        </p:nvSpPr>
        <p:spPr>
          <a:xfrm>
            <a:off x="6757832" y="5146066"/>
            <a:ext cx="4548643" cy="39064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867" b="1" baseline="0">
                <a:solidFill>
                  <a:schemeClr val="accent4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910DB1-9745-3EF5-A3CA-1BCF5C0FFC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6800" y="227330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889CDC1-D017-30B3-E4D5-08881C7C043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755174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2133" b="0" baseline="0">
                <a:solidFill>
                  <a:schemeClr val="accent4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1411384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00"/>
                            </p:stCondLst>
                            <p:childTnLst>
                              <p:par>
                                <p:cTn id="53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000"/>
                            </p:stCondLst>
                            <p:childTnLst>
                              <p:par>
                                <p:cTn id="5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5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000"/>
                            </p:stCondLst>
                            <p:childTnLst>
                              <p:par>
                                <p:cTn id="67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500"/>
                            </p:stCondLst>
                            <p:childTnLst>
                              <p:par>
                                <p:cTn id="7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0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500"/>
                            </p:stCondLst>
                            <p:childTnLst>
                              <p:par>
                                <p:cTn id="81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33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animBg="1"/>
      <p:bldP spid="35" grpId="0" animBg="1"/>
      <p:bldP spid="36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animBg="1"/>
      <p:bldP spid="39" grpId="0" build="p">
        <p:tmplLst>
          <p:tmpl lvl="1">
            <p:tnLst>
              <p:par>
                <p:cTn presetID="22" presetClass="entr" presetSubtype="8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animBg="1"/>
      <p:bldP spid="42" grpId="0" build="p">
        <p:tmplLst>
          <p:tmpl lvl="1">
            <p:tnLst>
              <p:par>
                <p:cTn presetID="22" presetClass="entr" presetSubtype="8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animBg="1"/>
      <p:bldP spid="45" grpId="0" build="p">
        <p:tmplLst>
          <p:tmpl lvl="1">
            <p:tnLst>
              <p:par>
                <p:cTn presetID="22" presetClass="entr" presetSubtype="8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animBg="1"/>
      <p:bldP spid="56" grpId="0" build="p">
        <p:tmplLst>
          <p:tmpl lvl="1">
            <p:tnLst>
              <p:par>
                <p:cTn presetID="22" presetClass="entr" presetSubtype="8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/>
          <p:cNvSpPr/>
          <p:nvPr userDrawn="1"/>
        </p:nvSpPr>
        <p:spPr>
          <a:xfrm>
            <a:off x="1791385" y="1448867"/>
            <a:ext cx="4863951" cy="111653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1" name="Rectangle 50"/>
          <p:cNvSpPr/>
          <p:nvPr userDrawn="1"/>
        </p:nvSpPr>
        <p:spPr>
          <a:xfrm>
            <a:off x="872690" y="1448867"/>
            <a:ext cx="918695" cy="111653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01</a:t>
            </a:r>
          </a:p>
        </p:txBody>
      </p:sp>
      <p:sp>
        <p:nvSpPr>
          <p:cNvPr id="52" name="Text Placeholder 3"/>
          <p:cNvSpPr>
            <a:spLocks noGrp="1"/>
          </p:cNvSpPr>
          <p:nvPr userDrawn="1">
            <p:ph type="body" sz="half" idx="28"/>
          </p:nvPr>
        </p:nvSpPr>
        <p:spPr>
          <a:xfrm>
            <a:off x="1937558" y="1928284"/>
            <a:ext cx="4463244" cy="5389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3" name="Text Placeholder 3"/>
          <p:cNvSpPr>
            <a:spLocks noGrp="1"/>
          </p:cNvSpPr>
          <p:nvPr userDrawn="1">
            <p:ph type="body" sz="half" idx="29" hasCustomPrompt="1"/>
          </p:nvPr>
        </p:nvSpPr>
        <p:spPr>
          <a:xfrm>
            <a:off x="1937557" y="1537634"/>
            <a:ext cx="4463244" cy="39064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867" b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59" name="Picture Placeholder 7"/>
          <p:cNvSpPr>
            <a:spLocks noGrp="1"/>
          </p:cNvSpPr>
          <p:nvPr userDrawn="1">
            <p:ph type="pic" sz="quarter" idx="32" hasCustomPrompt="1"/>
          </p:nvPr>
        </p:nvSpPr>
        <p:spPr>
          <a:xfrm>
            <a:off x="6908800" y="1454277"/>
            <a:ext cx="4381233" cy="4770064"/>
          </a:xfrm>
          <a:prstGeom prst="rect">
            <a:avLst/>
          </a:prstGeom>
          <a:solidFill>
            <a:schemeClr val="bg2">
              <a:lumMod val="85000"/>
            </a:schemeClr>
          </a:solidFill>
          <a:ln w="6350">
            <a:noFill/>
          </a:ln>
        </p:spPr>
        <p:txBody>
          <a:bodyPr tIns="0" bIns="18288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26" name="Rectangle 25"/>
          <p:cNvSpPr/>
          <p:nvPr userDrawn="1"/>
        </p:nvSpPr>
        <p:spPr>
          <a:xfrm>
            <a:off x="1791385" y="2677167"/>
            <a:ext cx="4863951" cy="111653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7" name="Rectangle 26"/>
          <p:cNvSpPr/>
          <p:nvPr userDrawn="1"/>
        </p:nvSpPr>
        <p:spPr>
          <a:xfrm>
            <a:off x="872690" y="2677167"/>
            <a:ext cx="918695" cy="111653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02</a:t>
            </a:r>
          </a:p>
        </p:txBody>
      </p:sp>
      <p:sp>
        <p:nvSpPr>
          <p:cNvPr id="28" name="Text Placeholder 3"/>
          <p:cNvSpPr>
            <a:spLocks noGrp="1"/>
          </p:cNvSpPr>
          <p:nvPr>
            <p:ph type="body" sz="half" idx="33"/>
          </p:nvPr>
        </p:nvSpPr>
        <p:spPr>
          <a:xfrm>
            <a:off x="1937558" y="3156584"/>
            <a:ext cx="4463244" cy="5389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Text Placeholder 3"/>
          <p:cNvSpPr>
            <a:spLocks noGrp="1"/>
          </p:cNvSpPr>
          <p:nvPr>
            <p:ph type="body" sz="half" idx="34" hasCustomPrompt="1"/>
          </p:nvPr>
        </p:nvSpPr>
        <p:spPr>
          <a:xfrm>
            <a:off x="1937557" y="2765934"/>
            <a:ext cx="4463244" cy="39064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867" b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30" name="Rectangle 29"/>
          <p:cNvSpPr/>
          <p:nvPr userDrawn="1"/>
        </p:nvSpPr>
        <p:spPr>
          <a:xfrm>
            <a:off x="1791385" y="3909200"/>
            <a:ext cx="4863951" cy="111653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30"/>
          <p:cNvSpPr/>
          <p:nvPr userDrawn="1"/>
        </p:nvSpPr>
        <p:spPr>
          <a:xfrm>
            <a:off x="872690" y="3909200"/>
            <a:ext cx="918695" cy="11165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03</a:t>
            </a:r>
          </a:p>
        </p:txBody>
      </p:sp>
      <p:sp>
        <p:nvSpPr>
          <p:cNvPr id="32" name="Text Placeholder 3"/>
          <p:cNvSpPr>
            <a:spLocks noGrp="1"/>
          </p:cNvSpPr>
          <p:nvPr>
            <p:ph type="body" sz="half" idx="35"/>
          </p:nvPr>
        </p:nvSpPr>
        <p:spPr>
          <a:xfrm>
            <a:off x="1937558" y="4388617"/>
            <a:ext cx="4463244" cy="5389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Text Placeholder 3"/>
          <p:cNvSpPr>
            <a:spLocks noGrp="1"/>
          </p:cNvSpPr>
          <p:nvPr>
            <p:ph type="body" sz="half" idx="36" hasCustomPrompt="1"/>
          </p:nvPr>
        </p:nvSpPr>
        <p:spPr>
          <a:xfrm>
            <a:off x="1937557" y="3997967"/>
            <a:ext cx="4463244" cy="39064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867" b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34" name="Rectangle 33"/>
          <p:cNvSpPr/>
          <p:nvPr userDrawn="1"/>
        </p:nvSpPr>
        <p:spPr>
          <a:xfrm>
            <a:off x="1791385" y="5141234"/>
            <a:ext cx="4863951" cy="111653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5" name="Rectangle 34"/>
          <p:cNvSpPr/>
          <p:nvPr userDrawn="1"/>
        </p:nvSpPr>
        <p:spPr>
          <a:xfrm>
            <a:off x="872690" y="5141234"/>
            <a:ext cx="918695" cy="111653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04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37"/>
          </p:nvPr>
        </p:nvSpPr>
        <p:spPr>
          <a:xfrm>
            <a:off x="1937558" y="5620651"/>
            <a:ext cx="4463244" cy="5389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7" name="Text Placeholder 3"/>
          <p:cNvSpPr>
            <a:spLocks noGrp="1"/>
          </p:cNvSpPr>
          <p:nvPr>
            <p:ph type="body" sz="half" idx="38" hasCustomPrompt="1"/>
          </p:nvPr>
        </p:nvSpPr>
        <p:spPr>
          <a:xfrm>
            <a:off x="1937557" y="5230001"/>
            <a:ext cx="4463244" cy="39064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867" b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56A66E-2222-958E-13DF-29DEF2E3B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6800" y="227330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FB36781-FA7D-237D-CD8B-44389CD05F8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755174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2133" b="0" baseline="0">
                <a:solidFill>
                  <a:schemeClr val="accent4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16994390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0"/>
                            </p:stCondLst>
                            <p:childTnLst>
                              <p:par>
                                <p:cTn id="6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0"/>
                            </p:stCondLst>
                            <p:childTnLst>
                              <p:par>
                                <p:cTn id="73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52" grpId="0" build="p">
        <p:tmplLst>
          <p:tmpl lvl="1">
            <p:tnLst>
              <p:par>
                <p:cTn presetID="22" presetClass="entr" presetSubtype="8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animBg="1"/>
      <p:bldP spid="26" grpId="0" animBg="1"/>
      <p:bldP spid="27" grpId="0" animBg="1"/>
      <p:bldP spid="28" grpId="0" build="p">
        <p:tmplLst>
          <p:tmpl lvl="1">
            <p:tnLst>
              <p:par>
                <p:cTn presetID="22" presetClass="entr" presetSubtype="8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 animBg="1"/>
      <p:bldP spid="32" grpId="0" build="p">
        <p:tmplLst>
          <p:tmpl lvl="1">
            <p:tnLst>
              <p:par>
                <p:cTn presetID="22" presetClass="entr" presetSubtype="8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animBg="1"/>
      <p:bldP spid="35" grpId="0" animBg="1"/>
      <p:bldP spid="36" grpId="0" build="p">
        <p:tmplLst>
          <p:tmpl lvl="1">
            <p:tnLst>
              <p:par>
                <p:cTn presetID="22" presetClass="entr" presetSubtype="8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2-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/>
          <p:cNvSpPr/>
          <p:nvPr userDrawn="1"/>
        </p:nvSpPr>
        <p:spPr>
          <a:xfrm>
            <a:off x="875818" y="5067300"/>
            <a:ext cx="6296091" cy="11935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/>
          </a:p>
        </p:txBody>
      </p:sp>
      <p:sp>
        <p:nvSpPr>
          <p:cNvPr id="43" name="Picture Placeholder 7"/>
          <p:cNvSpPr>
            <a:spLocks noGrp="1"/>
          </p:cNvSpPr>
          <p:nvPr>
            <p:ph type="pic" sz="quarter" idx="24" hasCustomPrompt="1"/>
          </p:nvPr>
        </p:nvSpPr>
        <p:spPr>
          <a:xfrm>
            <a:off x="886726" y="1447802"/>
            <a:ext cx="6274279" cy="360679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bIns="274320" anchor="b"/>
          <a:lstStyle>
            <a:lvl1pPr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51" name="Text Placeholder 3"/>
          <p:cNvSpPr>
            <a:spLocks noGrp="1"/>
          </p:cNvSpPr>
          <p:nvPr>
            <p:ph type="body" sz="half" idx="15"/>
          </p:nvPr>
        </p:nvSpPr>
        <p:spPr>
          <a:xfrm>
            <a:off x="990583" y="5414305"/>
            <a:ext cx="6066564" cy="746451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0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2" name="Text Placeholder 3"/>
          <p:cNvSpPr>
            <a:spLocks noGrp="1"/>
          </p:cNvSpPr>
          <p:nvPr>
            <p:ph type="body" sz="half" idx="25"/>
          </p:nvPr>
        </p:nvSpPr>
        <p:spPr>
          <a:xfrm>
            <a:off x="982090" y="5139703"/>
            <a:ext cx="6083551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/>
          </a:p>
        </p:txBody>
      </p:sp>
      <p:sp>
        <p:nvSpPr>
          <p:cNvPr id="53" name="Rectangle 52"/>
          <p:cNvSpPr/>
          <p:nvPr userDrawn="1"/>
        </p:nvSpPr>
        <p:spPr>
          <a:xfrm>
            <a:off x="7359172" y="1447802"/>
            <a:ext cx="3942529" cy="240003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6"/>
          </p:nvPr>
        </p:nvSpPr>
        <p:spPr>
          <a:xfrm>
            <a:off x="7518357" y="1976403"/>
            <a:ext cx="3624159" cy="169430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0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Text Placeholder 3"/>
          <p:cNvSpPr>
            <a:spLocks noGrp="1"/>
          </p:cNvSpPr>
          <p:nvPr>
            <p:ph type="body" sz="half" idx="27"/>
          </p:nvPr>
        </p:nvSpPr>
        <p:spPr>
          <a:xfrm>
            <a:off x="7513281" y="1701800"/>
            <a:ext cx="3634307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7359172" y="5752836"/>
            <a:ext cx="3942529" cy="5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/>
          </a:p>
        </p:txBody>
      </p:sp>
      <p:sp>
        <p:nvSpPr>
          <p:cNvPr id="19" name="Picture Placeholder 7"/>
          <p:cNvSpPr>
            <a:spLocks noGrp="1"/>
          </p:cNvSpPr>
          <p:nvPr>
            <p:ph type="pic" sz="quarter" idx="18" hasCustomPrompt="1"/>
          </p:nvPr>
        </p:nvSpPr>
        <p:spPr>
          <a:xfrm>
            <a:off x="7366001" y="3860802"/>
            <a:ext cx="3928871" cy="188528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bIns="274320" anchor="b"/>
          <a:lstStyle>
            <a:lvl1pPr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9"/>
          </p:nvPr>
        </p:nvSpPr>
        <p:spPr>
          <a:xfrm>
            <a:off x="7485922" y="5878316"/>
            <a:ext cx="3689028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7538230-742F-6130-1C14-961F51E73A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6800" y="227330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9910BBA-29E1-123C-1D34-E9175EBD28D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755174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2133" b="0" baseline="0">
                <a:solidFill>
                  <a:schemeClr val="accent4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24220196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1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3" grpId="0" animBg="1"/>
      <p:bldP spid="51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animBg="1"/>
      <p:bldP spid="14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animBg="1"/>
      <p:bldP spid="19" grpId="0" animBg="1"/>
      <p:bldP spid="20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2-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 userDrawn="1"/>
        </p:nvSpPr>
        <p:spPr>
          <a:xfrm>
            <a:off x="694698" y="4735767"/>
            <a:ext cx="3457479" cy="132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/>
          </a:p>
        </p:txBody>
      </p:sp>
      <p:sp>
        <p:nvSpPr>
          <p:cNvPr id="3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700686" y="1599001"/>
            <a:ext cx="3445501" cy="31300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bIns="45720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40" name="Text Placeholder 3"/>
          <p:cNvSpPr>
            <a:spLocks noGrp="1"/>
          </p:cNvSpPr>
          <p:nvPr>
            <p:ph type="body" sz="half" idx="15"/>
          </p:nvPr>
        </p:nvSpPr>
        <p:spPr>
          <a:xfrm>
            <a:off x="810370" y="5103401"/>
            <a:ext cx="3226133" cy="84679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0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854" y="4828799"/>
            <a:ext cx="3235167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/>
          </a:p>
        </p:txBody>
      </p:sp>
      <p:sp>
        <p:nvSpPr>
          <p:cNvPr id="30" name="Rectangle 29"/>
          <p:cNvSpPr/>
          <p:nvPr userDrawn="1"/>
        </p:nvSpPr>
        <p:spPr>
          <a:xfrm>
            <a:off x="4375513" y="4735767"/>
            <a:ext cx="3457479" cy="132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/>
          </a:p>
        </p:txBody>
      </p:sp>
      <p:sp>
        <p:nvSpPr>
          <p:cNvPr id="31" name="Picture Placeholder 7"/>
          <p:cNvSpPr>
            <a:spLocks noGrp="1"/>
          </p:cNvSpPr>
          <p:nvPr>
            <p:ph type="pic" sz="quarter" idx="18" hasCustomPrompt="1"/>
          </p:nvPr>
        </p:nvSpPr>
        <p:spPr>
          <a:xfrm>
            <a:off x="4381500" y="1599001"/>
            <a:ext cx="3445501" cy="31300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bIns="45720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3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91184" y="5103401"/>
            <a:ext cx="3226133" cy="84679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0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" name="Text Placeholder 3"/>
          <p:cNvSpPr>
            <a:spLocks noGrp="1"/>
          </p:cNvSpPr>
          <p:nvPr>
            <p:ph type="body" sz="half" idx="20"/>
          </p:nvPr>
        </p:nvSpPr>
        <p:spPr>
          <a:xfrm>
            <a:off x="4486669" y="4828799"/>
            <a:ext cx="3235167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/>
          </a:p>
        </p:txBody>
      </p:sp>
      <p:sp>
        <p:nvSpPr>
          <p:cNvPr id="35" name="Rectangle 34"/>
          <p:cNvSpPr/>
          <p:nvPr userDrawn="1"/>
        </p:nvSpPr>
        <p:spPr>
          <a:xfrm>
            <a:off x="8037562" y="4735767"/>
            <a:ext cx="3457479" cy="132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6" name="Picture Placeholder 7"/>
          <p:cNvSpPr>
            <a:spLocks noGrp="1"/>
          </p:cNvSpPr>
          <p:nvPr>
            <p:ph type="pic" sz="quarter" idx="21" hasCustomPrompt="1"/>
          </p:nvPr>
        </p:nvSpPr>
        <p:spPr>
          <a:xfrm>
            <a:off x="8043550" y="1599001"/>
            <a:ext cx="3445501" cy="31300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bIns="45720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37" name="Text Placeholder 3"/>
          <p:cNvSpPr>
            <a:spLocks noGrp="1"/>
          </p:cNvSpPr>
          <p:nvPr>
            <p:ph type="body" sz="half" idx="22"/>
          </p:nvPr>
        </p:nvSpPr>
        <p:spPr>
          <a:xfrm>
            <a:off x="8153234" y="5103401"/>
            <a:ext cx="3226133" cy="84679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0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9" name="Text Placeholder 3"/>
          <p:cNvSpPr>
            <a:spLocks noGrp="1"/>
          </p:cNvSpPr>
          <p:nvPr>
            <p:ph type="body" sz="half" idx="23"/>
          </p:nvPr>
        </p:nvSpPr>
        <p:spPr>
          <a:xfrm>
            <a:off x="8148718" y="4828799"/>
            <a:ext cx="3235167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69FBFAD-2985-177C-AF48-6B510E39CA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6800" y="227330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78C5530-A468-6C54-4417-F5749D43F0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755174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2133" b="0" baseline="0">
                <a:solidFill>
                  <a:schemeClr val="accent4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41103136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00"/>
                            </p:stCondLst>
                            <p:childTnLst>
                              <p:par>
                                <p:cTn id="57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8" grpId="0" animBg="1"/>
      <p:bldP spid="40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animBg="1"/>
      <p:bldP spid="33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animBg="1"/>
      <p:bldP spid="36" grpId="0" animBg="1"/>
      <p:bldP spid="37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2569503" y="1138724"/>
            <a:ext cx="3356079" cy="164361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6249619" y="0"/>
            <a:ext cx="5942381" cy="6858000"/>
          </a:xfrm>
          <a:prstGeom prst="leftArrowCallout">
            <a:avLst>
              <a:gd name="adj1" fmla="val 50000"/>
              <a:gd name="adj2" fmla="val 4483"/>
              <a:gd name="adj3" fmla="val 3887"/>
              <a:gd name="adj4" fmla="val 96113"/>
            </a:avLst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3" name="Right Arrow Callout 2"/>
          <p:cNvSpPr/>
          <p:nvPr userDrawn="1"/>
        </p:nvSpPr>
        <p:spPr>
          <a:xfrm>
            <a:off x="605803" y="1138724"/>
            <a:ext cx="2189379" cy="1643611"/>
          </a:xfrm>
          <a:prstGeom prst="rightArrowCallout">
            <a:avLst>
              <a:gd name="adj1" fmla="val 18792"/>
              <a:gd name="adj2" fmla="val 9396"/>
              <a:gd name="adj3" fmla="val 13111"/>
              <a:gd name="adj4" fmla="val 9095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Picture Placeholder 7"/>
          <p:cNvSpPr>
            <a:spLocks noGrp="1"/>
          </p:cNvSpPr>
          <p:nvPr>
            <p:ph type="pic" sz="quarter" idx="32" hasCustomPrompt="1"/>
          </p:nvPr>
        </p:nvSpPr>
        <p:spPr>
          <a:xfrm>
            <a:off x="686641" y="1222648"/>
            <a:ext cx="1800155" cy="145485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tIns="0" bIns="182880" anchor="b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35"/>
          </p:nvPr>
        </p:nvSpPr>
        <p:spPr>
          <a:xfrm>
            <a:off x="2807883" y="1671158"/>
            <a:ext cx="2924740" cy="93014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7" hasCustomPrompt="1"/>
          </p:nvPr>
        </p:nvSpPr>
        <p:spPr>
          <a:xfrm>
            <a:off x="2807882" y="1280508"/>
            <a:ext cx="2924740" cy="39064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600" b="1" baseline="0">
                <a:solidFill>
                  <a:schemeClr val="accent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22" name="Rectangle 21"/>
          <p:cNvSpPr/>
          <p:nvPr userDrawn="1"/>
        </p:nvSpPr>
        <p:spPr>
          <a:xfrm>
            <a:off x="2569503" y="2991480"/>
            <a:ext cx="3356079" cy="164361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3" name="Right Arrow Callout 22"/>
          <p:cNvSpPr/>
          <p:nvPr userDrawn="1"/>
        </p:nvSpPr>
        <p:spPr>
          <a:xfrm>
            <a:off x="605803" y="2991480"/>
            <a:ext cx="2189379" cy="1643611"/>
          </a:xfrm>
          <a:prstGeom prst="rightArrowCallout">
            <a:avLst>
              <a:gd name="adj1" fmla="val 18792"/>
              <a:gd name="adj2" fmla="val 9396"/>
              <a:gd name="adj3" fmla="val 13111"/>
              <a:gd name="adj4" fmla="val 9095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" name="Picture Placeholder 7"/>
          <p:cNvSpPr>
            <a:spLocks noGrp="1"/>
          </p:cNvSpPr>
          <p:nvPr>
            <p:ph type="pic" sz="quarter" idx="36" hasCustomPrompt="1"/>
          </p:nvPr>
        </p:nvSpPr>
        <p:spPr>
          <a:xfrm>
            <a:off x="686641" y="3075404"/>
            <a:ext cx="1800155" cy="145485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tIns="0" bIns="182880" anchor="b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half" idx="37"/>
          </p:nvPr>
        </p:nvSpPr>
        <p:spPr>
          <a:xfrm>
            <a:off x="2807883" y="3523914"/>
            <a:ext cx="2924740" cy="93014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Text Placeholder 3"/>
          <p:cNvSpPr>
            <a:spLocks noGrp="1"/>
          </p:cNvSpPr>
          <p:nvPr>
            <p:ph type="body" sz="half" idx="38" hasCustomPrompt="1"/>
          </p:nvPr>
        </p:nvSpPr>
        <p:spPr>
          <a:xfrm>
            <a:off x="2807882" y="3133264"/>
            <a:ext cx="2924740" cy="39064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600" b="1" baseline="0">
                <a:solidFill>
                  <a:schemeClr val="accent2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2569503" y="4833389"/>
            <a:ext cx="3356079" cy="164361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ight Arrow Callout 27"/>
          <p:cNvSpPr/>
          <p:nvPr userDrawn="1"/>
        </p:nvSpPr>
        <p:spPr>
          <a:xfrm>
            <a:off x="605803" y="4833389"/>
            <a:ext cx="2189379" cy="1643611"/>
          </a:xfrm>
          <a:prstGeom prst="rightArrowCallout">
            <a:avLst>
              <a:gd name="adj1" fmla="val 18792"/>
              <a:gd name="adj2" fmla="val 9396"/>
              <a:gd name="adj3" fmla="val 13111"/>
              <a:gd name="adj4" fmla="val 9095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Picture Placeholder 7"/>
          <p:cNvSpPr>
            <a:spLocks noGrp="1"/>
          </p:cNvSpPr>
          <p:nvPr>
            <p:ph type="pic" sz="quarter" idx="39" hasCustomPrompt="1"/>
          </p:nvPr>
        </p:nvSpPr>
        <p:spPr>
          <a:xfrm>
            <a:off x="686641" y="4917313"/>
            <a:ext cx="1800155" cy="145485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tIns="0" bIns="182880" anchor="b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half" idx="40"/>
          </p:nvPr>
        </p:nvSpPr>
        <p:spPr>
          <a:xfrm>
            <a:off x="2807883" y="5365823"/>
            <a:ext cx="2924740" cy="93014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Text Placeholder 3"/>
          <p:cNvSpPr>
            <a:spLocks noGrp="1"/>
          </p:cNvSpPr>
          <p:nvPr>
            <p:ph type="body" sz="half" idx="41" hasCustomPrompt="1"/>
          </p:nvPr>
        </p:nvSpPr>
        <p:spPr>
          <a:xfrm>
            <a:off x="2807882" y="4975173"/>
            <a:ext cx="2924740" cy="39064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600" b="1" baseline="0">
                <a:solidFill>
                  <a:schemeClr val="accent3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8894704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0"/>
                            </p:stCondLst>
                            <p:childTnLst>
                              <p:par>
                                <p:cTn id="54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500"/>
                            </p:stCondLst>
                            <p:childTnLst>
                              <p:par>
                                <p:cTn id="72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1" grpId="0"/>
      <p:bldP spid="3" grpId="0" animBg="1"/>
      <p:bldP spid="4" grpId="0" animBg="1"/>
      <p:bldP spid="9" grpId="0" build="p">
        <p:tmplLst>
          <p:tmpl lvl="1">
            <p:tnLst>
              <p:par>
                <p:cTn presetID="22" presetClass="entr" presetSubtype="8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animBg="1"/>
      <p:bldP spid="23" grpId="0" animBg="1"/>
      <p:bldP spid="24" grpId="0" animBg="1"/>
      <p:bldP spid="25" grpId="0" build="p">
        <p:tmplLst>
          <p:tmpl lvl="1">
            <p:tnLst>
              <p:par>
                <p:cTn presetID="22" presetClass="entr" presetSubtype="8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animBg="1"/>
      <p:bldP spid="28" grpId="0" animBg="1"/>
      <p:bldP spid="29" grpId="0" animBg="1"/>
      <p:bldP spid="30" grpId="0" build="p">
        <p:tmplLst>
          <p:tmpl lvl="1">
            <p:tnLst>
              <p:par>
                <p:cTn presetID="22" presetClass="entr" presetSubtype="8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2-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icture Placeholder 7"/>
          <p:cNvSpPr>
            <a:spLocks noGrp="1"/>
          </p:cNvSpPr>
          <p:nvPr>
            <p:ph type="pic" sz="quarter" idx="22" hasCustomPrompt="1"/>
          </p:nvPr>
        </p:nvSpPr>
        <p:spPr>
          <a:xfrm>
            <a:off x="6122756" y="1599001"/>
            <a:ext cx="5358045" cy="31300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bIns="45720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3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694699" y="1599001"/>
            <a:ext cx="5358045" cy="31300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bIns="45720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40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5266" y="5116101"/>
            <a:ext cx="5016911" cy="84679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0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58242" y="4841499"/>
            <a:ext cx="5030957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867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/>
          </a:p>
        </p:txBody>
      </p:sp>
      <p:sp>
        <p:nvSpPr>
          <p:cNvPr id="59" name="Text Placeholder 3"/>
          <p:cNvSpPr>
            <a:spLocks noGrp="1"/>
          </p:cNvSpPr>
          <p:nvPr>
            <p:ph type="body" sz="half" idx="23"/>
          </p:nvPr>
        </p:nvSpPr>
        <p:spPr>
          <a:xfrm>
            <a:off x="6293323" y="5116101"/>
            <a:ext cx="5016911" cy="84679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0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Placeholder 3"/>
          <p:cNvSpPr>
            <a:spLocks noGrp="1"/>
          </p:cNvSpPr>
          <p:nvPr>
            <p:ph type="body" sz="half" idx="25"/>
          </p:nvPr>
        </p:nvSpPr>
        <p:spPr>
          <a:xfrm>
            <a:off x="6286299" y="4841499"/>
            <a:ext cx="5030957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867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5BF551-C0DF-0AC6-44F6-E3B25D6DB1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6800" y="227330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EF0609B4-203B-B8BC-D495-3BFD391FF06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755174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2133" b="0" baseline="0">
                <a:solidFill>
                  <a:schemeClr val="accent4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3421707306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Main Title+ SubTitle+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01E16-239D-165D-69DA-D407BAD049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6800" y="227330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78838585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Pic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 userDrawn="1"/>
        </p:nvSpPr>
        <p:spPr>
          <a:xfrm>
            <a:off x="515331" y="1645808"/>
            <a:ext cx="1858520" cy="1822419"/>
          </a:xfrm>
          <a:prstGeom prst="ellipse">
            <a:avLst/>
          </a:prstGeom>
          <a:noFill/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55" name="Straight Connector 54"/>
          <p:cNvCxnSpPr>
            <a:cxnSpLocks/>
          </p:cNvCxnSpPr>
          <p:nvPr userDrawn="1"/>
        </p:nvCxnSpPr>
        <p:spPr>
          <a:xfrm flipV="1">
            <a:off x="6162743" y="1342861"/>
            <a:ext cx="0" cy="9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ound Same Side Corner Rectangle 63"/>
          <p:cNvSpPr/>
          <p:nvPr userDrawn="1"/>
        </p:nvSpPr>
        <p:spPr>
          <a:xfrm rot="16200000">
            <a:off x="575754" y="1126049"/>
            <a:ext cx="2412115" cy="2750820"/>
          </a:xfrm>
          <a:prstGeom prst="round2SameRect">
            <a:avLst>
              <a:gd name="adj1" fmla="val 3387"/>
              <a:gd name="adj2" fmla="val 0"/>
            </a:avLst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4" name="Round Same Side Corner Rectangle 53"/>
          <p:cNvSpPr/>
          <p:nvPr/>
        </p:nvSpPr>
        <p:spPr>
          <a:xfrm rot="5400000">
            <a:off x="3006842" y="818317"/>
            <a:ext cx="2412113" cy="3366289"/>
          </a:xfrm>
          <a:prstGeom prst="round2SameRect">
            <a:avLst>
              <a:gd name="adj1" fmla="val 4232"/>
              <a:gd name="adj2" fmla="val 0"/>
            </a:avLst>
          </a:prstGeom>
          <a:solidFill>
            <a:schemeClr val="accent1">
              <a:alpha val="9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6" name="Text Placeholder 3"/>
          <p:cNvSpPr>
            <a:spLocks noGrp="1"/>
          </p:cNvSpPr>
          <p:nvPr>
            <p:ph type="body" sz="half" idx="32" hasCustomPrompt="1"/>
          </p:nvPr>
        </p:nvSpPr>
        <p:spPr>
          <a:xfrm>
            <a:off x="2719343" y="1698928"/>
            <a:ext cx="3018516" cy="411875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600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07" name="Text Placeholder 3"/>
          <p:cNvSpPr>
            <a:spLocks noGrp="1"/>
          </p:cNvSpPr>
          <p:nvPr>
            <p:ph type="body" sz="half" idx="33" hasCustomPrompt="1"/>
          </p:nvPr>
        </p:nvSpPr>
        <p:spPr>
          <a:xfrm>
            <a:off x="2719343" y="2438070"/>
            <a:ext cx="3018519" cy="763231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0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r>
              <a:rPr lang="en-US" sz="1333">
                <a:solidFill>
                  <a:schemeClr val="tx1">
                    <a:lumMod val="50000"/>
                    <a:lumOff val="50000"/>
                  </a:schemeClr>
                </a:solidFill>
              </a:rPr>
              <a:t>Add your Description here</a:t>
            </a:r>
          </a:p>
          <a:p>
            <a:pPr algn="ctr"/>
            <a:endParaRPr lang="ar-SY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8" name="Text Placeholder 3"/>
          <p:cNvSpPr>
            <a:spLocks noGrp="1"/>
          </p:cNvSpPr>
          <p:nvPr>
            <p:ph type="body" sz="half" idx="34" hasCustomPrompt="1"/>
          </p:nvPr>
        </p:nvSpPr>
        <p:spPr>
          <a:xfrm>
            <a:off x="2719343" y="2089577"/>
            <a:ext cx="3018516" cy="411875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467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09" name="Oval 108"/>
          <p:cNvSpPr/>
          <p:nvPr userDrawn="1"/>
        </p:nvSpPr>
        <p:spPr>
          <a:xfrm>
            <a:off x="6201687" y="1645808"/>
            <a:ext cx="1858520" cy="1822419"/>
          </a:xfrm>
          <a:prstGeom prst="ellipse">
            <a:avLst/>
          </a:prstGeom>
          <a:noFill/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3" name="Round Same Side Corner Rectangle 112"/>
          <p:cNvSpPr/>
          <p:nvPr userDrawn="1"/>
        </p:nvSpPr>
        <p:spPr>
          <a:xfrm rot="16200000">
            <a:off x="6262113" y="1126051"/>
            <a:ext cx="2412115" cy="2750815"/>
          </a:xfrm>
          <a:prstGeom prst="round2SameRect">
            <a:avLst>
              <a:gd name="adj1" fmla="val 3387"/>
              <a:gd name="adj2" fmla="val 0"/>
            </a:avLst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4" name="Round Same Side Corner Rectangle 113"/>
          <p:cNvSpPr/>
          <p:nvPr userDrawn="1"/>
        </p:nvSpPr>
        <p:spPr>
          <a:xfrm rot="5400000">
            <a:off x="8693198" y="818317"/>
            <a:ext cx="2412113" cy="3366289"/>
          </a:xfrm>
          <a:prstGeom prst="round2SameRect">
            <a:avLst>
              <a:gd name="adj1" fmla="val 4232"/>
              <a:gd name="adj2" fmla="val 0"/>
            </a:avLst>
          </a:prstGeom>
          <a:solidFill>
            <a:schemeClr val="accent2">
              <a:alpha val="9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5" name="Text Placeholder 3"/>
          <p:cNvSpPr>
            <a:spLocks noGrp="1"/>
          </p:cNvSpPr>
          <p:nvPr>
            <p:ph type="body" sz="half" idx="36" hasCustomPrompt="1"/>
          </p:nvPr>
        </p:nvSpPr>
        <p:spPr>
          <a:xfrm>
            <a:off x="8405699" y="1698928"/>
            <a:ext cx="3018516" cy="411875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600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26" name="Text Placeholder 3"/>
          <p:cNvSpPr>
            <a:spLocks noGrp="1"/>
          </p:cNvSpPr>
          <p:nvPr>
            <p:ph type="body" sz="half" idx="37" hasCustomPrompt="1"/>
          </p:nvPr>
        </p:nvSpPr>
        <p:spPr>
          <a:xfrm>
            <a:off x="8405699" y="2438070"/>
            <a:ext cx="3018519" cy="763231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0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r>
              <a:rPr lang="en-US" sz="1333">
                <a:solidFill>
                  <a:schemeClr val="tx1">
                    <a:lumMod val="50000"/>
                    <a:lumOff val="50000"/>
                  </a:schemeClr>
                </a:solidFill>
              </a:rPr>
              <a:t>Add your Description here</a:t>
            </a:r>
          </a:p>
          <a:p>
            <a:pPr algn="ctr"/>
            <a:endParaRPr lang="ar-SY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7" name="Text Placeholder 3"/>
          <p:cNvSpPr>
            <a:spLocks noGrp="1"/>
          </p:cNvSpPr>
          <p:nvPr>
            <p:ph type="body" sz="half" idx="38" hasCustomPrompt="1"/>
          </p:nvPr>
        </p:nvSpPr>
        <p:spPr>
          <a:xfrm>
            <a:off x="8405699" y="2089577"/>
            <a:ext cx="3018516" cy="411875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467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38" name="Oval 137"/>
          <p:cNvSpPr/>
          <p:nvPr userDrawn="1"/>
        </p:nvSpPr>
        <p:spPr>
          <a:xfrm>
            <a:off x="515331" y="4223908"/>
            <a:ext cx="1858520" cy="1793633"/>
          </a:xfrm>
          <a:prstGeom prst="ellipse">
            <a:avLst/>
          </a:prstGeom>
          <a:noFill/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0" name="Round Same Side Corner Rectangle 139"/>
          <p:cNvSpPr/>
          <p:nvPr userDrawn="1"/>
        </p:nvSpPr>
        <p:spPr>
          <a:xfrm rot="16200000">
            <a:off x="594803" y="3685097"/>
            <a:ext cx="2374015" cy="2750820"/>
          </a:xfrm>
          <a:prstGeom prst="round2SameRect">
            <a:avLst>
              <a:gd name="adj1" fmla="val 3387"/>
              <a:gd name="adj2" fmla="val 0"/>
            </a:avLst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1" name="Round Same Side Corner Rectangle 140"/>
          <p:cNvSpPr/>
          <p:nvPr userDrawn="1"/>
        </p:nvSpPr>
        <p:spPr>
          <a:xfrm rot="5400000">
            <a:off x="3025892" y="3377365"/>
            <a:ext cx="2374013" cy="3366289"/>
          </a:xfrm>
          <a:prstGeom prst="round2SameRect">
            <a:avLst>
              <a:gd name="adj1" fmla="val 4232"/>
              <a:gd name="adj2" fmla="val 0"/>
            </a:avLst>
          </a:prstGeom>
          <a:solidFill>
            <a:schemeClr val="accent3">
              <a:alpha val="9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2" name="Text Placeholder 3"/>
          <p:cNvSpPr>
            <a:spLocks noGrp="1"/>
          </p:cNvSpPr>
          <p:nvPr>
            <p:ph type="body" sz="half" idx="40" hasCustomPrompt="1"/>
          </p:nvPr>
        </p:nvSpPr>
        <p:spPr>
          <a:xfrm>
            <a:off x="2719343" y="4277028"/>
            <a:ext cx="3018516" cy="405368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600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53" name="Text Placeholder 3"/>
          <p:cNvSpPr>
            <a:spLocks noGrp="1"/>
          </p:cNvSpPr>
          <p:nvPr>
            <p:ph type="body" sz="half" idx="41" hasCustomPrompt="1"/>
          </p:nvPr>
        </p:nvSpPr>
        <p:spPr>
          <a:xfrm>
            <a:off x="2719343" y="5016170"/>
            <a:ext cx="3018519" cy="75117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0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r>
              <a:rPr lang="en-US" sz="1333">
                <a:solidFill>
                  <a:schemeClr val="tx1">
                    <a:lumMod val="50000"/>
                    <a:lumOff val="50000"/>
                  </a:schemeClr>
                </a:solidFill>
              </a:rPr>
              <a:t>Add your Description here</a:t>
            </a:r>
          </a:p>
          <a:p>
            <a:pPr algn="ctr"/>
            <a:endParaRPr lang="ar-SY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4" name="Text Placeholder 3"/>
          <p:cNvSpPr>
            <a:spLocks noGrp="1"/>
          </p:cNvSpPr>
          <p:nvPr>
            <p:ph type="body" sz="half" idx="42" hasCustomPrompt="1"/>
          </p:nvPr>
        </p:nvSpPr>
        <p:spPr>
          <a:xfrm>
            <a:off x="2719343" y="4667677"/>
            <a:ext cx="3018516" cy="405368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467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55" name="Oval 154"/>
          <p:cNvSpPr/>
          <p:nvPr userDrawn="1"/>
        </p:nvSpPr>
        <p:spPr>
          <a:xfrm>
            <a:off x="6201687" y="4223908"/>
            <a:ext cx="1858520" cy="1793633"/>
          </a:xfrm>
          <a:prstGeom prst="ellipse">
            <a:avLst/>
          </a:prstGeom>
          <a:noFill/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7" name="Round Same Side Corner Rectangle 156"/>
          <p:cNvSpPr/>
          <p:nvPr userDrawn="1"/>
        </p:nvSpPr>
        <p:spPr>
          <a:xfrm rot="16200000">
            <a:off x="6281161" y="3685098"/>
            <a:ext cx="2374015" cy="2750817"/>
          </a:xfrm>
          <a:prstGeom prst="round2SameRect">
            <a:avLst>
              <a:gd name="adj1" fmla="val 3387"/>
              <a:gd name="adj2" fmla="val 0"/>
            </a:avLst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8" name="Round Same Side Corner Rectangle 157"/>
          <p:cNvSpPr/>
          <p:nvPr userDrawn="1"/>
        </p:nvSpPr>
        <p:spPr>
          <a:xfrm rot="5400000">
            <a:off x="8712248" y="3377365"/>
            <a:ext cx="2374013" cy="3366289"/>
          </a:xfrm>
          <a:prstGeom prst="round2SameRect">
            <a:avLst>
              <a:gd name="adj1" fmla="val 4232"/>
              <a:gd name="adj2" fmla="val 0"/>
            </a:avLst>
          </a:prstGeom>
          <a:solidFill>
            <a:schemeClr val="accent4">
              <a:alpha val="9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9" name="Text Placeholder 3"/>
          <p:cNvSpPr>
            <a:spLocks noGrp="1"/>
          </p:cNvSpPr>
          <p:nvPr>
            <p:ph type="body" sz="half" idx="44" hasCustomPrompt="1"/>
          </p:nvPr>
        </p:nvSpPr>
        <p:spPr>
          <a:xfrm>
            <a:off x="8405699" y="4277028"/>
            <a:ext cx="3018516" cy="405368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600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70" name="Text Placeholder 3"/>
          <p:cNvSpPr>
            <a:spLocks noGrp="1"/>
          </p:cNvSpPr>
          <p:nvPr>
            <p:ph type="body" sz="half" idx="45" hasCustomPrompt="1"/>
          </p:nvPr>
        </p:nvSpPr>
        <p:spPr>
          <a:xfrm>
            <a:off x="8405699" y="5016170"/>
            <a:ext cx="3018519" cy="75117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0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r>
              <a:rPr lang="en-US" sz="1333">
                <a:solidFill>
                  <a:schemeClr val="tx1">
                    <a:lumMod val="50000"/>
                    <a:lumOff val="50000"/>
                  </a:schemeClr>
                </a:solidFill>
              </a:rPr>
              <a:t>Add your Description here</a:t>
            </a:r>
          </a:p>
          <a:p>
            <a:pPr algn="ctr"/>
            <a:endParaRPr lang="ar-SY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sz="133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1" name="Text Placeholder 3"/>
          <p:cNvSpPr>
            <a:spLocks noGrp="1"/>
          </p:cNvSpPr>
          <p:nvPr>
            <p:ph type="body" sz="half" idx="46" hasCustomPrompt="1"/>
          </p:nvPr>
        </p:nvSpPr>
        <p:spPr>
          <a:xfrm>
            <a:off x="8405699" y="4667677"/>
            <a:ext cx="3018516" cy="405368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467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4E77BE-3BBE-102A-DF3E-22271532B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6800" y="227330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24BA346-8D36-8E85-960E-EFD79023CE0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755174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2133" b="0" baseline="0">
                <a:solidFill>
                  <a:schemeClr val="accent4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491876646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3991796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Main Title+ SubTitle+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alpha val="42000"/>
            </a:schemeClr>
          </a:solidFill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2191860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7705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D. Green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501720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0223ECB-4AC6-D8B5-0C0F-0B1EF527DB6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19064" y="-2464"/>
            <a:ext cx="685708" cy="780288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6015D2A-1F62-BE20-8BE9-3D9BD42BD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772" y="242154"/>
            <a:ext cx="10515600" cy="780288"/>
          </a:xfrm>
        </p:spPr>
        <p:txBody>
          <a:bodyPr>
            <a:normAutofit/>
          </a:bodyPr>
          <a:lstStyle>
            <a:lvl1pPr>
              <a:defRPr sz="3500" b="1">
                <a:solidFill>
                  <a:schemeClr val="tx2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49C8940-96CF-2C3B-3319-5FED99EB77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5044" y="1614790"/>
            <a:ext cx="10515600" cy="4591455"/>
          </a:xfrm>
        </p:spPr>
        <p:txBody>
          <a:bodyPr>
            <a:normAutofit/>
          </a:bodyPr>
          <a:lstStyle>
            <a:lvl1pPr>
              <a:defRPr sz="1700">
                <a:latin typeface="Arial Nova" panose="020B0504020202020204" pitchFamily="34" charset="0"/>
              </a:defRPr>
            </a:lvl1pPr>
            <a:lvl2pPr>
              <a:defRPr sz="1700">
                <a:latin typeface="Arial Nova" panose="020B0504020202020204" pitchFamily="34" charset="0"/>
              </a:defRPr>
            </a:lvl2pPr>
            <a:lvl3pPr>
              <a:defRPr sz="1700">
                <a:latin typeface="Arial Nova" panose="020B0504020202020204" pitchFamily="34" charset="0"/>
              </a:defRPr>
            </a:lvl3pPr>
            <a:lvl4pPr>
              <a:defRPr sz="1700">
                <a:latin typeface="Arial Nova" panose="020B0504020202020204" pitchFamily="34" charset="0"/>
              </a:defRPr>
            </a:lvl4pPr>
            <a:lvl5pPr>
              <a:defRPr sz="170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D16AFD-A950-5FA7-685A-D9ED3298F9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4875" y="1041806"/>
            <a:ext cx="10515600" cy="466725"/>
          </a:xfrm>
        </p:spPr>
        <p:txBody>
          <a:bodyPr>
            <a:normAutofit/>
          </a:bodyPr>
          <a:lstStyle>
            <a:lvl1pPr marL="0" indent="0">
              <a:buNone/>
              <a:defRPr sz="1700" b="1" i="0">
                <a:solidFill>
                  <a:schemeClr val="accent2"/>
                </a:solidFill>
                <a:latin typeface="Arial Nova" panose="020B05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20B3CA-9D4C-5A9D-309E-B89D8E578D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76D80AF-6068-498B-8E46-73CF9611D7C1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7037E0-5A61-07F0-C6F1-7C222A6F49D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7ABFE1-80DD-828D-892F-9B2A757E54F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9834C0C-F62D-4661-93F0-5202E31A12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280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C6CDF56-9A12-5200-E42D-57981AC3B80A}"/>
              </a:ext>
            </a:extLst>
          </p:cNvPr>
          <p:cNvSpPr/>
          <p:nvPr userDrawn="1"/>
        </p:nvSpPr>
        <p:spPr>
          <a:xfrm>
            <a:off x="0" y="0"/>
            <a:ext cx="12192000" cy="101890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ue and black background&#10;&#10;Description automatically generated">
            <a:extLst>
              <a:ext uri="{FF2B5EF4-FFF2-40B4-BE49-F238E27FC236}">
                <a16:creationId xmlns:a16="http://schemas.microsoft.com/office/drawing/2014/main" id="{95DBBD99-10CC-75E0-476D-7CADEFAD82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618157"/>
            <a:ext cx="12192000" cy="2398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125FE7-BD0C-4AA5-3991-1FECA026A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65377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240D92-5DC7-496F-C83B-37EF8161F9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625337-950F-46EA-967E-A69D8DA541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3627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F89F33E-2221-B053-90E3-3823792BF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D1044-024C-4E46-93D5-5FAB486CA5BC}" type="datetimeFigureOut">
              <a:rPr lang="ru-RU" smtClean="0"/>
              <a:t>16.08.2026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58A3A6D-EE23-9579-E2C6-EE761995B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A4968D6-E609-9B12-585A-3AB33044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632F-601D-0D4F-845C-64B8594C6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18555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0476" y="2048296"/>
            <a:ext cx="5517847" cy="570292"/>
          </a:xfrm>
        </p:spPr>
        <p:txBody>
          <a:bodyPr lIns="0" tIns="0" rIns="0" bIns="0"/>
          <a:lstStyle>
            <a:lvl1pPr>
              <a:defRPr sz="3706" b="0" i="0">
                <a:solidFill>
                  <a:srgbClr val="1E40A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053806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0476" y="2048296"/>
            <a:ext cx="5517847" cy="570292"/>
          </a:xfrm>
        </p:spPr>
        <p:txBody>
          <a:bodyPr lIns="0" tIns="0" rIns="0" bIns="0"/>
          <a:lstStyle>
            <a:lvl1pPr>
              <a:defRPr sz="3706" b="0" i="0">
                <a:solidFill>
                  <a:srgbClr val="1E40A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384038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3236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image" Target="../media/image1.emf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oleObject" Target="../embeddings/oleObject1.bin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tags" Target="../tags/tag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theme" Target="../theme/theme2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DF52AB-6534-9A3F-CD47-A84C76369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293007-7948-5B27-EB09-D7BA17723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CC4DDF-8E7F-95C2-42EE-A1AB2A143D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D1044-024C-4E46-93D5-5FAB486CA5BC}" type="datetimeFigureOut">
              <a:rPr lang="ru-RU" smtClean="0"/>
              <a:t>16.08.2026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4FB970-A37D-90C1-B7C8-084E675B94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676588-CF38-CF00-A5FC-6F7086781D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8632F-601D-0D4F-845C-64B8594C6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5676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8DB9878B-5020-1A51-41DA-0E29A4AD5E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1"/>
            </p:custDataLst>
            <p:extLst>
              <p:ext uri="{D42A27DB-BD31-4B8C-83A1-F6EECF244321}">
                <p14:modId xmlns:p14="http://schemas.microsoft.com/office/powerpoint/2010/main" val="16150521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2" imgW="395" imgH="396" progId="TCLayout.ActiveDocument.1">
                  <p:embed/>
                </p:oleObj>
              </mc:Choice>
              <mc:Fallback>
                <p:oleObj name="think-cell Slide" r:id="rId32" imgW="395" imgH="39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B9878B-5020-1A51-41DA-0E29A4AD5E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 userDrawn="1"/>
        </p:nvSpPr>
        <p:spPr bwMode="gray">
          <a:xfrm>
            <a:off x="11704877" y="6549573"/>
            <a:ext cx="406400" cy="20512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0" algn="ctr" defTabSz="1219170" rtl="0" eaLnBrk="1" latinLnBrk="0" hangingPunct="1"/>
            <a:fld id="{6C5AF65D-6854-49AF-ABC5-48B5BA0EA842}" type="slidenum">
              <a:rPr lang="en-US" sz="1333" b="0" i="0" kern="1200" smtClean="0">
                <a:solidFill>
                  <a:schemeClr val="accent4"/>
                </a:solidFill>
                <a:latin typeface="HP Simplified"/>
                <a:ea typeface="+mn-ea"/>
                <a:cs typeface="HP Simplified"/>
              </a:rPr>
              <a:pPr marL="0" algn="ctr" defTabSz="1219170" rtl="0" eaLnBrk="1" latinLnBrk="0" hangingPunct="1"/>
              <a:t>‹#›</a:t>
            </a:fld>
            <a:endParaRPr lang="en-US" sz="1333" b="0" i="0" kern="1200">
              <a:solidFill>
                <a:schemeClr val="accent4"/>
              </a:solidFill>
              <a:latin typeface="HP Simplified"/>
              <a:ea typeface="+mn-ea"/>
              <a:cs typeface="HP Simplified"/>
            </a:endParaRPr>
          </a:p>
        </p:txBody>
      </p:sp>
    </p:spTree>
    <p:extLst>
      <p:ext uri="{BB962C8B-B14F-4D97-AF65-F5344CB8AC3E}">
        <p14:creationId xmlns:p14="http://schemas.microsoft.com/office/powerpoint/2010/main" val="3592465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7" r:id="rId26"/>
    <p:sldLayoutId id="2147483702" r:id="rId27"/>
    <p:sldLayoutId id="2147483703" r:id="rId28"/>
    <p:sldLayoutId id="2147483704" r:id="rId29"/>
  </p:sldLayoutIdLst>
  <p:transition>
    <p:fade/>
  </p:transition>
  <p:hf sldNum="0" hdr="0" ftr="0" dt="0"/>
  <p:txStyles>
    <p:titleStyle>
      <a:lvl1pPr algn="l" defTabSz="1219170" rtl="0" eaLnBrk="1" latinLnBrk="0" hangingPunct="1">
        <a:spcBef>
          <a:spcPct val="0"/>
        </a:spcBef>
        <a:buNone/>
        <a:defRPr sz="3733" b="1" kern="1200">
          <a:solidFill>
            <a:schemeClr val="tx1">
              <a:lumMod val="50000"/>
              <a:lumOff val="50000"/>
            </a:schemeClr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None/>
        <a:defRPr sz="4267" kern="1200">
          <a:solidFill>
            <a:schemeClr val="bg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26.png"/><Relationship Id="rId5" Type="http://schemas.openxmlformats.org/officeDocument/2006/relationships/image" Target="../media/image32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7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0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3" Type="http://schemas.openxmlformats.org/officeDocument/2006/relationships/image" Target="../media/image35.svg"/><Relationship Id="rId7" Type="http://schemas.openxmlformats.org/officeDocument/2006/relationships/image" Target="../media/image39.jpe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48.sv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svg"/><Relationship Id="rId15" Type="http://schemas.openxmlformats.org/officeDocument/2006/relationships/image" Target="../media/image47.svg"/><Relationship Id="rId10" Type="http://schemas.openxmlformats.org/officeDocument/2006/relationships/image" Target="../media/image42.png"/><Relationship Id="rId19" Type="http://schemas.openxmlformats.org/officeDocument/2006/relationships/image" Target="../media/image51.svg"/><Relationship Id="rId4" Type="http://schemas.openxmlformats.org/officeDocument/2006/relationships/image" Target="../media/image36.svg"/><Relationship Id="rId9" Type="http://schemas.openxmlformats.org/officeDocument/2006/relationships/image" Target="../media/image41.jpeg"/><Relationship Id="rId1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0" descr="A map of the world&#10;&#10;AI-generated content may be incorrect.">
            <a:extLst>
              <a:ext uri="{FF2B5EF4-FFF2-40B4-BE49-F238E27FC236}">
                <a16:creationId xmlns:a16="http://schemas.microsoft.com/office/drawing/2014/main" id="{A25246BC-1642-956C-A007-294702F16A9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CD06B1B7-EA30-3442-8545-BE81347EBC2A}"/>
              </a:ext>
            </a:extLst>
          </p:cNvPr>
          <p:cNvSpPr/>
          <p:nvPr/>
        </p:nvSpPr>
        <p:spPr>
          <a:xfrm>
            <a:off x="674914" y="1909483"/>
            <a:ext cx="10136522" cy="2069766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Roboto Condensed"/>
              <a:ea typeface="+mn-ea"/>
              <a:cs typeface="Roboto Condense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2A2292-531E-C3BA-7C12-80CFABC9067A}"/>
              </a:ext>
            </a:extLst>
          </p:cNvPr>
          <p:cNvSpPr txBox="1"/>
          <p:nvPr/>
        </p:nvSpPr>
        <p:spPr>
          <a:xfrm>
            <a:off x="1979815" y="1974870"/>
            <a:ext cx="86060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D97706"/>
                </a:solidFill>
                <a:effectLst/>
                <a:uLnTx/>
                <a:uFillTx/>
                <a:latin typeface="Avenir Black" panose="02000503020000020003" pitchFamily="2" charset="0"/>
                <a:ea typeface="+mn-ea"/>
                <a:cs typeface="Roboto Condensed"/>
              </a:rPr>
              <a:t>Цифровые технологии и ИИ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venir Black" panose="02000503020000020003" pitchFamily="2" charset="0"/>
                <a:ea typeface="+mn-ea"/>
                <a:cs typeface="Roboto Condensed"/>
              </a:rPr>
              <a:t>в Центральной Азии</a:t>
            </a: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464648DF-9A6E-C76C-3C99-12EDAF9BC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5536" y="1974870"/>
            <a:ext cx="1840284" cy="19172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49EDD9-239C-7A8E-62EA-8991A404AB39}"/>
              </a:ext>
            </a:extLst>
          </p:cNvPr>
          <p:cNvSpPr txBox="1"/>
          <p:nvPr/>
        </p:nvSpPr>
        <p:spPr>
          <a:xfrm>
            <a:off x="1585912" y="4082886"/>
            <a:ext cx="8588866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>
              <a:defRPr/>
            </a:pPr>
            <a:r>
              <a:rPr lang="en-US" sz="2000" dirty="0">
                <a:latin typeface="Avenir Black"/>
                <a:cs typeface="Roboto Condensed"/>
              </a:rPr>
              <a:t>Luda Bujoreanu| </a:t>
            </a: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venir Black"/>
                <a:cs typeface="Roboto Condensed"/>
              </a:rPr>
              <a:t>Ташкент,</a:t>
            </a:r>
            <a:r>
              <a:rPr kumimoji="0" lang="en-US" sz="200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venir Black"/>
                <a:cs typeface="Roboto Condensed"/>
              </a:rPr>
              <a:t> Узбекистан </a:t>
            </a:r>
            <a:r>
              <a:rPr lang="en-US" sz="2000" dirty="0">
                <a:latin typeface="Avenir Black"/>
                <a:cs typeface="Roboto Condensed"/>
              </a:rPr>
              <a:t>| 17 августа 2026 г.</a:t>
            </a:r>
            <a:endParaRPr kumimoji="0" lang="en-US" sz="20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venir Black" panose="02000503020000020003" pitchFamily="2" charset="0"/>
              <a:ea typeface="+mn-ea"/>
              <a:cs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009380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04147-5EDE-D420-CD56-37F878D9D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 123">
            <a:extLst>
              <a:ext uri="{FF2B5EF4-FFF2-40B4-BE49-F238E27FC236}">
                <a16:creationId xmlns:a16="http://schemas.microsoft.com/office/drawing/2014/main" id="{7B7FD57A-FAEB-8CA6-9D2E-614F942EE23F}"/>
              </a:ext>
            </a:extLst>
          </p:cNvPr>
          <p:cNvSpPr>
            <a:spLocks/>
          </p:cNvSpPr>
          <p:nvPr/>
        </p:nvSpPr>
        <p:spPr bwMode="gray">
          <a:xfrm>
            <a:off x="7839416" y="4915000"/>
            <a:ext cx="2205104" cy="1656421"/>
          </a:xfrm>
          <a:custGeom>
            <a:avLst/>
            <a:gdLst>
              <a:gd name="T0" fmla="*/ 12 w 226"/>
              <a:gd name="T1" fmla="*/ 56 h 162"/>
              <a:gd name="T2" fmla="*/ 24 w 226"/>
              <a:gd name="T3" fmla="*/ 56 h 162"/>
              <a:gd name="T4" fmla="*/ 34 w 226"/>
              <a:gd name="T5" fmla="*/ 60 h 162"/>
              <a:gd name="T6" fmla="*/ 44 w 226"/>
              <a:gd name="T7" fmla="*/ 48 h 162"/>
              <a:gd name="T8" fmla="*/ 56 w 226"/>
              <a:gd name="T9" fmla="*/ 44 h 162"/>
              <a:gd name="T10" fmla="*/ 68 w 226"/>
              <a:gd name="T11" fmla="*/ 26 h 162"/>
              <a:gd name="T12" fmla="*/ 84 w 226"/>
              <a:gd name="T13" fmla="*/ 20 h 162"/>
              <a:gd name="T14" fmla="*/ 96 w 226"/>
              <a:gd name="T15" fmla="*/ 20 h 162"/>
              <a:gd name="T16" fmla="*/ 116 w 226"/>
              <a:gd name="T17" fmla="*/ 26 h 162"/>
              <a:gd name="T18" fmla="*/ 126 w 226"/>
              <a:gd name="T19" fmla="*/ 30 h 162"/>
              <a:gd name="T20" fmla="*/ 146 w 226"/>
              <a:gd name="T21" fmla="*/ 18 h 162"/>
              <a:gd name="T22" fmla="*/ 154 w 226"/>
              <a:gd name="T23" fmla="*/ 16 h 162"/>
              <a:gd name="T24" fmla="*/ 164 w 226"/>
              <a:gd name="T25" fmla="*/ 0 h 162"/>
              <a:gd name="T26" fmla="*/ 172 w 226"/>
              <a:gd name="T27" fmla="*/ 6 h 162"/>
              <a:gd name="T28" fmla="*/ 174 w 226"/>
              <a:gd name="T29" fmla="*/ 18 h 162"/>
              <a:gd name="T30" fmla="*/ 172 w 226"/>
              <a:gd name="T31" fmla="*/ 26 h 162"/>
              <a:gd name="T32" fmla="*/ 172 w 226"/>
              <a:gd name="T33" fmla="*/ 32 h 162"/>
              <a:gd name="T34" fmla="*/ 182 w 226"/>
              <a:gd name="T35" fmla="*/ 30 h 162"/>
              <a:gd name="T36" fmla="*/ 190 w 226"/>
              <a:gd name="T37" fmla="*/ 26 h 162"/>
              <a:gd name="T38" fmla="*/ 198 w 226"/>
              <a:gd name="T39" fmla="*/ 20 h 162"/>
              <a:gd name="T40" fmla="*/ 226 w 226"/>
              <a:gd name="T41" fmla="*/ 20 h 162"/>
              <a:gd name="T42" fmla="*/ 226 w 226"/>
              <a:gd name="T43" fmla="*/ 28 h 162"/>
              <a:gd name="T44" fmla="*/ 214 w 226"/>
              <a:gd name="T45" fmla="*/ 30 h 162"/>
              <a:gd name="T46" fmla="*/ 198 w 226"/>
              <a:gd name="T47" fmla="*/ 30 h 162"/>
              <a:gd name="T48" fmla="*/ 190 w 226"/>
              <a:gd name="T49" fmla="*/ 30 h 162"/>
              <a:gd name="T50" fmla="*/ 186 w 226"/>
              <a:gd name="T51" fmla="*/ 32 h 162"/>
              <a:gd name="T52" fmla="*/ 174 w 226"/>
              <a:gd name="T53" fmla="*/ 40 h 162"/>
              <a:gd name="T54" fmla="*/ 168 w 226"/>
              <a:gd name="T55" fmla="*/ 46 h 162"/>
              <a:gd name="T56" fmla="*/ 172 w 226"/>
              <a:gd name="T57" fmla="*/ 52 h 162"/>
              <a:gd name="T58" fmla="*/ 174 w 226"/>
              <a:gd name="T59" fmla="*/ 58 h 162"/>
              <a:gd name="T60" fmla="*/ 172 w 226"/>
              <a:gd name="T61" fmla="*/ 68 h 162"/>
              <a:gd name="T62" fmla="*/ 168 w 226"/>
              <a:gd name="T63" fmla="*/ 78 h 162"/>
              <a:gd name="T64" fmla="*/ 152 w 226"/>
              <a:gd name="T65" fmla="*/ 84 h 162"/>
              <a:gd name="T66" fmla="*/ 148 w 226"/>
              <a:gd name="T67" fmla="*/ 96 h 162"/>
              <a:gd name="T68" fmla="*/ 142 w 226"/>
              <a:gd name="T69" fmla="*/ 100 h 162"/>
              <a:gd name="T70" fmla="*/ 138 w 226"/>
              <a:gd name="T71" fmla="*/ 110 h 162"/>
              <a:gd name="T72" fmla="*/ 138 w 226"/>
              <a:gd name="T73" fmla="*/ 124 h 162"/>
              <a:gd name="T74" fmla="*/ 114 w 226"/>
              <a:gd name="T75" fmla="*/ 124 h 162"/>
              <a:gd name="T76" fmla="*/ 110 w 226"/>
              <a:gd name="T77" fmla="*/ 132 h 162"/>
              <a:gd name="T78" fmla="*/ 94 w 226"/>
              <a:gd name="T79" fmla="*/ 132 h 162"/>
              <a:gd name="T80" fmla="*/ 90 w 226"/>
              <a:gd name="T81" fmla="*/ 138 h 162"/>
              <a:gd name="T82" fmla="*/ 88 w 226"/>
              <a:gd name="T83" fmla="*/ 156 h 162"/>
              <a:gd name="T84" fmla="*/ 78 w 226"/>
              <a:gd name="T85" fmla="*/ 158 h 162"/>
              <a:gd name="T86" fmla="*/ 42 w 226"/>
              <a:gd name="T87" fmla="*/ 162 h 162"/>
              <a:gd name="T88" fmla="*/ 24 w 226"/>
              <a:gd name="T89" fmla="*/ 162 h 162"/>
              <a:gd name="T90" fmla="*/ 18 w 226"/>
              <a:gd name="T91" fmla="*/ 156 h 162"/>
              <a:gd name="T92" fmla="*/ 8 w 226"/>
              <a:gd name="T93" fmla="*/ 160 h 162"/>
              <a:gd name="T94" fmla="*/ 4 w 226"/>
              <a:gd name="T95" fmla="*/ 154 h 162"/>
              <a:gd name="T96" fmla="*/ 18 w 226"/>
              <a:gd name="T97" fmla="*/ 140 h 162"/>
              <a:gd name="T98" fmla="*/ 20 w 226"/>
              <a:gd name="T99" fmla="*/ 128 h 162"/>
              <a:gd name="T100" fmla="*/ 6 w 226"/>
              <a:gd name="T101" fmla="*/ 128 h 162"/>
              <a:gd name="T102" fmla="*/ 4 w 226"/>
              <a:gd name="T103" fmla="*/ 114 h 162"/>
              <a:gd name="T104" fmla="*/ 0 w 226"/>
              <a:gd name="T105" fmla="*/ 104 h 162"/>
              <a:gd name="T106" fmla="*/ 2 w 226"/>
              <a:gd name="T107" fmla="*/ 76 h 162"/>
              <a:gd name="T108" fmla="*/ 12 w 226"/>
              <a:gd name="T109" fmla="*/ 56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26" h="162">
                <a:moveTo>
                  <a:pt x="12" y="56"/>
                </a:moveTo>
                <a:lnTo>
                  <a:pt x="24" y="56"/>
                </a:lnTo>
                <a:lnTo>
                  <a:pt x="34" y="60"/>
                </a:lnTo>
                <a:lnTo>
                  <a:pt x="44" y="48"/>
                </a:lnTo>
                <a:lnTo>
                  <a:pt x="56" y="44"/>
                </a:lnTo>
                <a:lnTo>
                  <a:pt x="68" y="26"/>
                </a:lnTo>
                <a:lnTo>
                  <a:pt x="84" y="20"/>
                </a:lnTo>
                <a:lnTo>
                  <a:pt x="96" y="20"/>
                </a:lnTo>
                <a:lnTo>
                  <a:pt x="116" y="26"/>
                </a:lnTo>
                <a:lnTo>
                  <a:pt x="126" y="30"/>
                </a:lnTo>
                <a:lnTo>
                  <a:pt x="146" y="18"/>
                </a:lnTo>
                <a:lnTo>
                  <a:pt x="154" y="16"/>
                </a:lnTo>
                <a:lnTo>
                  <a:pt x="164" y="0"/>
                </a:lnTo>
                <a:lnTo>
                  <a:pt x="172" y="6"/>
                </a:lnTo>
                <a:lnTo>
                  <a:pt x="174" y="18"/>
                </a:lnTo>
                <a:lnTo>
                  <a:pt x="172" y="26"/>
                </a:lnTo>
                <a:lnTo>
                  <a:pt x="172" y="32"/>
                </a:lnTo>
                <a:lnTo>
                  <a:pt x="182" y="30"/>
                </a:lnTo>
                <a:lnTo>
                  <a:pt x="190" y="26"/>
                </a:lnTo>
                <a:lnTo>
                  <a:pt x="198" y="20"/>
                </a:lnTo>
                <a:lnTo>
                  <a:pt x="226" y="20"/>
                </a:lnTo>
                <a:lnTo>
                  <a:pt x="226" y="28"/>
                </a:lnTo>
                <a:lnTo>
                  <a:pt x="214" y="30"/>
                </a:lnTo>
                <a:lnTo>
                  <a:pt x="198" y="30"/>
                </a:lnTo>
                <a:lnTo>
                  <a:pt x="190" y="30"/>
                </a:lnTo>
                <a:lnTo>
                  <a:pt x="186" y="32"/>
                </a:lnTo>
                <a:lnTo>
                  <a:pt x="174" y="40"/>
                </a:lnTo>
                <a:lnTo>
                  <a:pt x="168" y="46"/>
                </a:lnTo>
                <a:lnTo>
                  <a:pt x="172" y="52"/>
                </a:lnTo>
                <a:lnTo>
                  <a:pt x="174" y="58"/>
                </a:lnTo>
                <a:lnTo>
                  <a:pt x="172" y="68"/>
                </a:lnTo>
                <a:lnTo>
                  <a:pt x="168" y="78"/>
                </a:lnTo>
                <a:lnTo>
                  <a:pt x="152" y="84"/>
                </a:lnTo>
                <a:lnTo>
                  <a:pt x="148" y="96"/>
                </a:lnTo>
                <a:lnTo>
                  <a:pt x="142" y="100"/>
                </a:lnTo>
                <a:lnTo>
                  <a:pt x="138" y="110"/>
                </a:lnTo>
                <a:lnTo>
                  <a:pt x="138" y="124"/>
                </a:lnTo>
                <a:lnTo>
                  <a:pt x="114" y="124"/>
                </a:lnTo>
                <a:lnTo>
                  <a:pt x="110" y="132"/>
                </a:lnTo>
                <a:lnTo>
                  <a:pt x="94" y="132"/>
                </a:lnTo>
                <a:lnTo>
                  <a:pt x="90" y="138"/>
                </a:lnTo>
                <a:lnTo>
                  <a:pt x="88" y="156"/>
                </a:lnTo>
                <a:lnTo>
                  <a:pt x="78" y="158"/>
                </a:lnTo>
                <a:lnTo>
                  <a:pt x="42" y="162"/>
                </a:lnTo>
                <a:lnTo>
                  <a:pt x="24" y="162"/>
                </a:lnTo>
                <a:lnTo>
                  <a:pt x="18" y="156"/>
                </a:lnTo>
                <a:lnTo>
                  <a:pt x="8" y="160"/>
                </a:lnTo>
                <a:lnTo>
                  <a:pt x="4" y="154"/>
                </a:lnTo>
                <a:lnTo>
                  <a:pt x="18" y="140"/>
                </a:lnTo>
                <a:lnTo>
                  <a:pt x="20" y="128"/>
                </a:lnTo>
                <a:lnTo>
                  <a:pt x="6" y="128"/>
                </a:lnTo>
                <a:lnTo>
                  <a:pt x="4" y="114"/>
                </a:lnTo>
                <a:lnTo>
                  <a:pt x="0" y="104"/>
                </a:lnTo>
                <a:lnTo>
                  <a:pt x="2" y="76"/>
                </a:lnTo>
                <a:lnTo>
                  <a:pt x="12" y="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3175" cap="flat">
            <a:solidFill>
              <a:srgbClr val="1A1D24"/>
            </a:solidFill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F101FD-B1F6-E223-3220-0A853E2AEB0F}"/>
              </a:ext>
            </a:extLst>
          </p:cNvPr>
          <p:cNvSpPr txBox="1">
            <a:spLocks/>
          </p:cNvSpPr>
          <p:nvPr/>
        </p:nvSpPr>
        <p:spPr>
          <a:xfrm>
            <a:off x="685034" y="768097"/>
            <a:ext cx="7824168" cy="4768606"/>
          </a:xfrm>
          <a:prstGeom prst="rect">
            <a:avLst/>
          </a:prstGeom>
        </p:spPr>
        <p:txBody>
          <a:bodyPr lIns="96012" tIns="48006" rIns="96012" bIns="48006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entury Gothic"/>
                <a:ea typeface="Tw Cen MT Condensed Extra Bold" charset="0"/>
                <a:cs typeface="Tw Cen MT Condensed Extra Bold" charset="0"/>
              </a:rPr>
              <a:t>УЗБЕКИСТАН</a:t>
            </a: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006AB6"/>
                </a:solidFill>
                <a:effectLst/>
                <a:uLnTx/>
                <a:uFillTx/>
                <a:latin typeface="Century Gothic"/>
                <a:ea typeface="Tw Cen MT Condensed Extra Bold" charset="0"/>
                <a:cs typeface="Tw Cen MT Condensed Extra Bold" charset="0"/>
              </a:rPr>
              <a:t> находится в сердце Центральной Азии и дважды отделён от моря сушей.</a:t>
            </a:r>
            <a:endParaRPr lang="en-US" sz="3200" dirty="0"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3200" b="1" dirty="0">
              <a:solidFill>
                <a:srgbClr val="006AB6"/>
              </a:solidFill>
              <a:latin typeface="Century Gothic"/>
              <a:ea typeface="Tw Cen MT Condensed Extra Bold" charset="0"/>
              <a:cs typeface="Tw Cen MT Condensed Extra Bold" charset="0"/>
            </a:endParaRPr>
          </a:p>
          <a:p>
            <a:pPr>
              <a:defRPr/>
            </a:pPr>
            <a:endParaRPr lang="en-GB" sz="3200" b="1" dirty="0">
              <a:solidFill>
                <a:srgbClr val="006AB6"/>
              </a:solidFill>
              <a:latin typeface="Century Gothic"/>
              <a:ea typeface="Tw Cen MT Condensed Extra Bold" charset="0"/>
              <a:cs typeface="Tw Cen MT Condensed Extra Bold" charset="0"/>
            </a:endParaRPr>
          </a:p>
          <a:p>
            <a:pPr>
              <a:defRPr/>
            </a:pPr>
            <a:r>
              <a:rPr lang="en-GB" sz="2000" b="1" dirty="0">
                <a:solidFill>
                  <a:srgbClr val="006AB6"/>
                </a:solidFill>
                <a:latin typeface="Century Gothic"/>
                <a:ea typeface="Tw Cen MT Condensed Extra Bold" charset="0"/>
                <a:cs typeface="Tw Cen MT Condensed Extra Bold" charset="0"/>
              </a:rPr>
              <a:t>Но! Доступ к интернету </a:t>
            </a:r>
          </a:p>
          <a:p>
            <a:pPr>
              <a:defRPr/>
            </a:pPr>
            <a:r>
              <a:rPr lang="en-GB" sz="2000" b="1" dirty="0">
                <a:solidFill>
                  <a:srgbClr val="006AB6"/>
                </a:solidFill>
                <a:latin typeface="Century Gothic"/>
                <a:ea typeface="Tw Cen MT Condensed Extra Bold" charset="0"/>
                <a:cs typeface="Tw Cen MT Condensed Extra Bold" charset="0"/>
              </a:rPr>
              <a:t>открывает двери к новым </a:t>
            </a:r>
          </a:p>
          <a:p>
            <a:pPr>
              <a:defRPr/>
            </a:pPr>
            <a:r>
              <a:rPr lang="en-GB" sz="2000" b="1" dirty="0">
                <a:solidFill>
                  <a:srgbClr val="006AB6"/>
                </a:solidFill>
                <a:latin typeface="Century Gothic"/>
                <a:ea typeface="Tw Cen MT Condensed Extra Bold" charset="0"/>
                <a:cs typeface="Tw Cen MT Condensed Extra Bold" charset="0"/>
              </a:rPr>
              <a:t>возможностям, в том числе в сфере ИИ</a:t>
            </a:r>
          </a:p>
          <a:p>
            <a:pPr>
              <a:defRPr/>
            </a:pPr>
            <a:endParaRPr lang="en-GB" sz="2000" b="1" dirty="0">
              <a:solidFill>
                <a:srgbClr val="006AB6"/>
              </a:solidFill>
              <a:latin typeface="Century Gothic"/>
              <a:ea typeface="Tw Cen MT Condensed Extra Bold" charset="0"/>
              <a:cs typeface="Tw Cen MT Condensed Extra Bold" charset="0"/>
            </a:endParaRPr>
          </a:p>
          <a:p>
            <a:pPr>
              <a:defRPr/>
            </a:pPr>
            <a:endParaRPr lang="en-GB" sz="2400" b="1" dirty="0">
              <a:solidFill>
                <a:srgbClr val="006AB6"/>
              </a:solidFill>
              <a:latin typeface="Century Gothic"/>
              <a:ea typeface="Tw Cen MT Condensed Extra Bold" charset="0"/>
              <a:cs typeface="Tw Cen MT Condensed Extra Bold" charset="0"/>
            </a:endParaRPr>
          </a:p>
          <a:p>
            <a:pPr>
              <a:defRPr/>
            </a:pPr>
            <a:r>
              <a:rPr lang="ru-RU" sz="2000" b="1" dirty="0">
                <a:solidFill>
                  <a:srgbClr val="006AB6"/>
                </a:solidFill>
                <a:latin typeface="Century Gothic"/>
                <a:ea typeface="Tw Cen MT Condensed Extra Bold" charset="0"/>
                <a:cs typeface="Tw Cen MT Condensed Extra Bold" charset="0"/>
              </a:rPr>
              <a:t>К</a:t>
            </a:r>
            <a:r>
              <a:rPr lang="en-GB" sz="2000" b="1" dirty="0" err="1">
                <a:solidFill>
                  <a:srgbClr val="006AB6"/>
                </a:solidFill>
                <a:latin typeface="Century Gothic"/>
                <a:ea typeface="Tw Cen MT Condensed Extra Bold" charset="0"/>
                <a:cs typeface="Tw Cen MT Condensed Extra Bold" charset="0"/>
              </a:rPr>
              <a:t>ак</a:t>
            </a:r>
            <a:r>
              <a:rPr lang="en-GB" sz="2000" b="1" dirty="0">
                <a:solidFill>
                  <a:srgbClr val="006AB6"/>
                </a:solidFill>
                <a:latin typeface="Century Gothic"/>
                <a:ea typeface="Tw Cen MT Condensed Extra Bold" charset="0"/>
                <a:cs typeface="Tw Cen MT Condensed Extra Bold" charset="0"/>
              </a:rPr>
              <a:t> Узбекистан </a:t>
            </a:r>
          </a:p>
          <a:p>
            <a:pPr>
              <a:defRPr/>
            </a:pPr>
            <a:r>
              <a:rPr lang="en-GB" sz="2000" b="1" dirty="0">
                <a:solidFill>
                  <a:srgbClr val="006AB6"/>
                </a:solidFill>
                <a:latin typeface="Century Gothic"/>
                <a:ea typeface="Tw Cen MT Condensed Extra Bold" charset="0"/>
                <a:cs typeface="Tw Cen MT Condensed Extra Bold" charset="0"/>
              </a:rPr>
              <a:t>выглядит на фоне </a:t>
            </a:r>
            <a:r>
              <a:rPr lang="en-GB" sz="2000" b="1" dirty="0" err="1">
                <a:solidFill>
                  <a:srgbClr val="006AB6"/>
                </a:solidFill>
                <a:latin typeface="Century Gothic"/>
                <a:ea typeface="Tw Cen MT Condensed Extra Bold" charset="0"/>
                <a:cs typeface="Tw Cen MT Condensed Extra Bold" charset="0"/>
              </a:rPr>
              <a:t>остальной</a:t>
            </a:r>
            <a:r>
              <a:rPr lang="en-GB" sz="2000" b="1" dirty="0">
                <a:solidFill>
                  <a:srgbClr val="006AB6"/>
                </a:solidFill>
                <a:latin typeface="Century Gothic"/>
                <a:ea typeface="Tw Cen MT Condensed Extra Bold" charset="0"/>
                <a:cs typeface="Tw Cen MT Condensed Extra Bold" charset="0"/>
              </a:rPr>
              <a:t> </a:t>
            </a:r>
            <a:endParaRPr lang="ru-RU" sz="2000" b="1" dirty="0">
              <a:solidFill>
                <a:srgbClr val="006AB6"/>
              </a:solidFill>
              <a:latin typeface="Century Gothic"/>
              <a:ea typeface="Tw Cen MT Condensed Extra Bold" charset="0"/>
              <a:cs typeface="Tw Cen MT Condensed Extra Bold" charset="0"/>
            </a:endParaRPr>
          </a:p>
          <a:p>
            <a:pPr>
              <a:defRPr/>
            </a:pPr>
            <a:r>
              <a:rPr lang="en-GB" sz="2000" b="1" dirty="0" err="1">
                <a:solidFill>
                  <a:srgbClr val="006AB6"/>
                </a:solidFill>
                <a:latin typeface="Century Gothic"/>
                <a:ea typeface="Tw Cen MT Condensed Extra Bold" charset="0"/>
                <a:cs typeface="Tw Cen MT Condensed Extra Bold" charset="0"/>
              </a:rPr>
              <a:t>Центральной</a:t>
            </a:r>
            <a:r>
              <a:rPr lang="en-GB" sz="2000" b="1" dirty="0">
                <a:solidFill>
                  <a:srgbClr val="006AB6"/>
                </a:solidFill>
                <a:latin typeface="Century Gothic"/>
                <a:ea typeface="Tw Cen MT Condensed Extra Bold" charset="0"/>
                <a:cs typeface="Tw Cen MT Condensed Extra Bold" charset="0"/>
              </a:rPr>
              <a:t> </a:t>
            </a:r>
            <a:r>
              <a:rPr lang="en-GB" sz="2000" b="1" dirty="0" err="1">
                <a:solidFill>
                  <a:srgbClr val="006AB6"/>
                </a:solidFill>
                <a:latin typeface="Century Gothic"/>
                <a:ea typeface="Tw Cen MT Condensed Extra Bold" charset="0"/>
                <a:cs typeface="Tw Cen MT Condensed Extra Bold" charset="0"/>
              </a:rPr>
              <a:t>Азии</a:t>
            </a:r>
            <a:r>
              <a:rPr lang="en-US" sz="2000" b="1" dirty="0">
                <a:solidFill>
                  <a:srgbClr val="006AB6"/>
                </a:solidFill>
                <a:latin typeface="Century Gothic"/>
                <a:ea typeface="Tw Cen MT Condensed Extra Bold" charset="0"/>
                <a:cs typeface="Tw Cen MT Condensed Extra Bold" charset="0"/>
              </a:rPr>
              <a:t>?</a:t>
            </a:r>
            <a:r>
              <a:rPr lang="en-GB" sz="2000" b="1" dirty="0">
                <a:solidFill>
                  <a:srgbClr val="006AB6"/>
                </a:solidFill>
                <a:latin typeface="Century Gothic"/>
                <a:ea typeface="Tw Cen MT Condensed Extra Bold" charset="0"/>
                <a:cs typeface="Tw Cen MT Condensed Extra Bold" charset="0"/>
              </a:rPr>
              <a:t> </a:t>
            </a:r>
          </a:p>
        </p:txBody>
      </p: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DD10F094-9D29-3000-2931-8D7432C78B37}"/>
              </a:ext>
            </a:extLst>
          </p:cNvPr>
          <p:cNvGrpSpPr/>
          <p:nvPr/>
        </p:nvGrpSpPr>
        <p:grpSpPr>
          <a:xfrm>
            <a:off x="5868984" y="1426318"/>
            <a:ext cx="6145967" cy="3887699"/>
            <a:chOff x="3661126" y="1769878"/>
            <a:chExt cx="5465104" cy="3313625"/>
          </a:xfrm>
          <a:solidFill>
            <a:schemeClr val="bg1">
              <a:lumMod val="95000"/>
            </a:schemeClr>
          </a:solidFill>
          <a:effectLst>
            <a:outerShdw blurRad="63500" dist="582821" dir="8880000" sx="84380" sy="84380" algn="ctr" rotWithShape="0">
              <a:prstClr val="black">
                <a:alpha val="40000"/>
              </a:prstClr>
            </a:outerShdw>
          </a:effectLst>
        </p:grpSpPr>
        <p:sp>
          <p:nvSpPr>
            <p:cNvPr id="26" name="Freeform 101">
              <a:extLst>
                <a:ext uri="{FF2B5EF4-FFF2-40B4-BE49-F238E27FC236}">
                  <a16:creationId xmlns:a16="http://schemas.microsoft.com/office/drawing/2014/main" id="{9419972A-B914-6201-8540-CE1BA4E431A9}"/>
                </a:ext>
              </a:extLst>
            </p:cNvPr>
            <p:cNvSpPr>
              <a:spLocks/>
            </p:cNvSpPr>
            <p:nvPr/>
          </p:nvSpPr>
          <p:spPr bwMode="gray">
            <a:xfrm>
              <a:off x="3661126" y="1769878"/>
              <a:ext cx="5465104" cy="2472344"/>
            </a:xfrm>
            <a:custGeom>
              <a:avLst/>
              <a:gdLst>
                <a:gd name="T0" fmla="*/ 94 w 640"/>
                <a:gd name="T1" fmla="*/ 260 h 298"/>
                <a:gd name="T2" fmla="*/ 66 w 640"/>
                <a:gd name="T3" fmla="*/ 234 h 298"/>
                <a:gd name="T4" fmla="*/ 64 w 640"/>
                <a:gd name="T5" fmla="*/ 220 h 298"/>
                <a:gd name="T6" fmla="*/ 76 w 640"/>
                <a:gd name="T7" fmla="*/ 210 h 298"/>
                <a:gd name="T8" fmla="*/ 94 w 640"/>
                <a:gd name="T9" fmla="*/ 208 h 298"/>
                <a:gd name="T10" fmla="*/ 108 w 640"/>
                <a:gd name="T11" fmla="*/ 196 h 298"/>
                <a:gd name="T12" fmla="*/ 82 w 640"/>
                <a:gd name="T13" fmla="*/ 176 h 298"/>
                <a:gd name="T14" fmla="*/ 40 w 640"/>
                <a:gd name="T15" fmla="*/ 188 h 298"/>
                <a:gd name="T16" fmla="*/ 24 w 640"/>
                <a:gd name="T17" fmla="*/ 158 h 298"/>
                <a:gd name="T18" fmla="*/ 0 w 640"/>
                <a:gd name="T19" fmla="*/ 140 h 298"/>
                <a:gd name="T20" fmla="*/ 18 w 640"/>
                <a:gd name="T21" fmla="*/ 102 h 298"/>
                <a:gd name="T22" fmla="*/ 34 w 640"/>
                <a:gd name="T23" fmla="*/ 114 h 298"/>
                <a:gd name="T24" fmla="*/ 60 w 640"/>
                <a:gd name="T25" fmla="*/ 84 h 298"/>
                <a:gd name="T26" fmla="*/ 112 w 640"/>
                <a:gd name="T27" fmla="*/ 84 h 298"/>
                <a:gd name="T28" fmla="*/ 150 w 640"/>
                <a:gd name="T29" fmla="*/ 100 h 298"/>
                <a:gd name="T30" fmla="*/ 190 w 640"/>
                <a:gd name="T31" fmla="*/ 90 h 298"/>
                <a:gd name="T32" fmla="*/ 226 w 640"/>
                <a:gd name="T33" fmla="*/ 98 h 298"/>
                <a:gd name="T34" fmla="*/ 228 w 640"/>
                <a:gd name="T35" fmla="*/ 80 h 298"/>
                <a:gd name="T36" fmla="*/ 220 w 640"/>
                <a:gd name="T37" fmla="*/ 68 h 298"/>
                <a:gd name="T38" fmla="*/ 228 w 640"/>
                <a:gd name="T39" fmla="*/ 52 h 298"/>
                <a:gd name="T40" fmla="*/ 236 w 640"/>
                <a:gd name="T41" fmla="*/ 40 h 298"/>
                <a:gd name="T42" fmla="*/ 254 w 640"/>
                <a:gd name="T43" fmla="*/ 28 h 298"/>
                <a:gd name="T44" fmla="*/ 316 w 640"/>
                <a:gd name="T45" fmla="*/ 10 h 298"/>
                <a:gd name="T46" fmla="*/ 364 w 640"/>
                <a:gd name="T47" fmla="*/ 0 h 298"/>
                <a:gd name="T48" fmla="*/ 388 w 640"/>
                <a:gd name="T49" fmla="*/ 16 h 298"/>
                <a:gd name="T50" fmla="*/ 418 w 640"/>
                <a:gd name="T51" fmla="*/ 28 h 298"/>
                <a:gd name="T52" fmla="*/ 456 w 640"/>
                <a:gd name="T53" fmla="*/ 28 h 298"/>
                <a:gd name="T54" fmla="*/ 480 w 640"/>
                <a:gd name="T55" fmla="*/ 32 h 298"/>
                <a:gd name="T56" fmla="*/ 510 w 640"/>
                <a:gd name="T57" fmla="*/ 60 h 298"/>
                <a:gd name="T58" fmla="*/ 528 w 640"/>
                <a:gd name="T59" fmla="*/ 92 h 298"/>
                <a:gd name="T60" fmla="*/ 540 w 640"/>
                <a:gd name="T61" fmla="*/ 84 h 298"/>
                <a:gd name="T62" fmla="*/ 562 w 640"/>
                <a:gd name="T63" fmla="*/ 96 h 298"/>
                <a:gd name="T64" fmla="*/ 590 w 640"/>
                <a:gd name="T65" fmla="*/ 92 h 298"/>
                <a:gd name="T66" fmla="*/ 614 w 640"/>
                <a:gd name="T67" fmla="*/ 116 h 298"/>
                <a:gd name="T68" fmla="*/ 640 w 640"/>
                <a:gd name="T69" fmla="*/ 132 h 298"/>
                <a:gd name="T70" fmla="*/ 626 w 640"/>
                <a:gd name="T71" fmla="*/ 142 h 298"/>
                <a:gd name="T72" fmla="*/ 622 w 640"/>
                <a:gd name="T73" fmla="*/ 170 h 298"/>
                <a:gd name="T74" fmla="*/ 596 w 640"/>
                <a:gd name="T75" fmla="*/ 172 h 298"/>
                <a:gd name="T76" fmla="*/ 570 w 640"/>
                <a:gd name="T77" fmla="*/ 194 h 298"/>
                <a:gd name="T78" fmla="*/ 548 w 640"/>
                <a:gd name="T79" fmla="*/ 208 h 298"/>
                <a:gd name="T80" fmla="*/ 538 w 640"/>
                <a:gd name="T81" fmla="*/ 232 h 298"/>
                <a:gd name="T82" fmla="*/ 536 w 640"/>
                <a:gd name="T83" fmla="*/ 256 h 298"/>
                <a:gd name="T84" fmla="*/ 526 w 640"/>
                <a:gd name="T85" fmla="*/ 262 h 298"/>
                <a:gd name="T86" fmla="*/ 512 w 640"/>
                <a:gd name="T87" fmla="*/ 254 h 298"/>
                <a:gd name="T88" fmla="*/ 450 w 640"/>
                <a:gd name="T89" fmla="*/ 248 h 298"/>
                <a:gd name="T90" fmla="*/ 430 w 640"/>
                <a:gd name="T91" fmla="*/ 250 h 298"/>
                <a:gd name="T92" fmla="*/ 410 w 640"/>
                <a:gd name="T93" fmla="*/ 258 h 298"/>
                <a:gd name="T94" fmla="*/ 394 w 640"/>
                <a:gd name="T95" fmla="*/ 254 h 298"/>
                <a:gd name="T96" fmla="*/ 376 w 640"/>
                <a:gd name="T97" fmla="*/ 270 h 298"/>
                <a:gd name="T98" fmla="*/ 350 w 640"/>
                <a:gd name="T99" fmla="*/ 298 h 298"/>
                <a:gd name="T100" fmla="*/ 342 w 640"/>
                <a:gd name="T101" fmla="*/ 288 h 298"/>
                <a:gd name="T102" fmla="*/ 320 w 640"/>
                <a:gd name="T103" fmla="*/ 288 h 298"/>
                <a:gd name="T104" fmla="*/ 308 w 640"/>
                <a:gd name="T105" fmla="*/ 264 h 298"/>
                <a:gd name="T106" fmla="*/ 290 w 640"/>
                <a:gd name="T107" fmla="*/ 238 h 298"/>
                <a:gd name="T108" fmla="*/ 244 w 640"/>
                <a:gd name="T109" fmla="*/ 242 h 298"/>
                <a:gd name="T110" fmla="*/ 204 w 640"/>
                <a:gd name="T111" fmla="*/ 210 h 298"/>
                <a:gd name="T112" fmla="*/ 168 w 640"/>
                <a:gd name="T113" fmla="*/ 208 h 298"/>
                <a:gd name="T114" fmla="*/ 150 w 640"/>
                <a:gd name="T115" fmla="*/ 286 h 298"/>
                <a:gd name="T116" fmla="*/ 132 w 640"/>
                <a:gd name="T117" fmla="*/ 270 h 298"/>
                <a:gd name="T118" fmla="*/ 114 w 640"/>
                <a:gd name="T119" fmla="*/ 264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0" h="298">
                  <a:moveTo>
                    <a:pt x="108" y="262"/>
                  </a:moveTo>
                  <a:lnTo>
                    <a:pt x="94" y="260"/>
                  </a:lnTo>
                  <a:lnTo>
                    <a:pt x="78" y="248"/>
                  </a:lnTo>
                  <a:lnTo>
                    <a:pt x="66" y="234"/>
                  </a:lnTo>
                  <a:lnTo>
                    <a:pt x="58" y="224"/>
                  </a:lnTo>
                  <a:lnTo>
                    <a:pt x="64" y="220"/>
                  </a:lnTo>
                  <a:lnTo>
                    <a:pt x="78" y="222"/>
                  </a:lnTo>
                  <a:lnTo>
                    <a:pt x="76" y="210"/>
                  </a:lnTo>
                  <a:lnTo>
                    <a:pt x="82" y="206"/>
                  </a:lnTo>
                  <a:lnTo>
                    <a:pt x="94" y="208"/>
                  </a:lnTo>
                  <a:lnTo>
                    <a:pt x="104" y="210"/>
                  </a:lnTo>
                  <a:lnTo>
                    <a:pt x="108" y="196"/>
                  </a:lnTo>
                  <a:lnTo>
                    <a:pt x="100" y="176"/>
                  </a:lnTo>
                  <a:lnTo>
                    <a:pt x="82" y="176"/>
                  </a:lnTo>
                  <a:lnTo>
                    <a:pt x="64" y="178"/>
                  </a:lnTo>
                  <a:lnTo>
                    <a:pt x="40" y="188"/>
                  </a:lnTo>
                  <a:lnTo>
                    <a:pt x="36" y="174"/>
                  </a:lnTo>
                  <a:lnTo>
                    <a:pt x="24" y="158"/>
                  </a:lnTo>
                  <a:lnTo>
                    <a:pt x="10" y="154"/>
                  </a:lnTo>
                  <a:lnTo>
                    <a:pt x="0" y="140"/>
                  </a:lnTo>
                  <a:lnTo>
                    <a:pt x="6" y="116"/>
                  </a:lnTo>
                  <a:lnTo>
                    <a:pt x="18" y="102"/>
                  </a:lnTo>
                  <a:lnTo>
                    <a:pt x="26" y="118"/>
                  </a:lnTo>
                  <a:lnTo>
                    <a:pt x="34" y="114"/>
                  </a:lnTo>
                  <a:lnTo>
                    <a:pt x="36" y="102"/>
                  </a:lnTo>
                  <a:lnTo>
                    <a:pt x="60" y="84"/>
                  </a:lnTo>
                  <a:lnTo>
                    <a:pt x="76" y="78"/>
                  </a:lnTo>
                  <a:lnTo>
                    <a:pt x="112" y="84"/>
                  </a:lnTo>
                  <a:lnTo>
                    <a:pt x="136" y="98"/>
                  </a:lnTo>
                  <a:lnTo>
                    <a:pt x="150" y="100"/>
                  </a:lnTo>
                  <a:lnTo>
                    <a:pt x="172" y="90"/>
                  </a:lnTo>
                  <a:lnTo>
                    <a:pt x="190" y="90"/>
                  </a:lnTo>
                  <a:lnTo>
                    <a:pt x="200" y="100"/>
                  </a:lnTo>
                  <a:lnTo>
                    <a:pt x="226" y="98"/>
                  </a:lnTo>
                  <a:lnTo>
                    <a:pt x="238" y="88"/>
                  </a:lnTo>
                  <a:lnTo>
                    <a:pt x="228" y="80"/>
                  </a:lnTo>
                  <a:lnTo>
                    <a:pt x="214" y="76"/>
                  </a:lnTo>
                  <a:lnTo>
                    <a:pt x="220" y="68"/>
                  </a:lnTo>
                  <a:lnTo>
                    <a:pt x="226" y="62"/>
                  </a:lnTo>
                  <a:lnTo>
                    <a:pt x="228" y="52"/>
                  </a:lnTo>
                  <a:lnTo>
                    <a:pt x="240" y="48"/>
                  </a:lnTo>
                  <a:lnTo>
                    <a:pt x="236" y="40"/>
                  </a:lnTo>
                  <a:lnTo>
                    <a:pt x="232" y="30"/>
                  </a:lnTo>
                  <a:lnTo>
                    <a:pt x="254" y="28"/>
                  </a:lnTo>
                  <a:lnTo>
                    <a:pt x="280" y="20"/>
                  </a:lnTo>
                  <a:lnTo>
                    <a:pt x="316" y="10"/>
                  </a:lnTo>
                  <a:lnTo>
                    <a:pt x="346" y="4"/>
                  </a:lnTo>
                  <a:lnTo>
                    <a:pt x="364" y="0"/>
                  </a:lnTo>
                  <a:lnTo>
                    <a:pt x="384" y="2"/>
                  </a:lnTo>
                  <a:lnTo>
                    <a:pt x="388" y="16"/>
                  </a:lnTo>
                  <a:lnTo>
                    <a:pt x="398" y="22"/>
                  </a:lnTo>
                  <a:lnTo>
                    <a:pt x="418" y="28"/>
                  </a:lnTo>
                  <a:lnTo>
                    <a:pt x="438" y="38"/>
                  </a:lnTo>
                  <a:lnTo>
                    <a:pt x="456" y="28"/>
                  </a:lnTo>
                  <a:lnTo>
                    <a:pt x="478" y="22"/>
                  </a:lnTo>
                  <a:lnTo>
                    <a:pt x="480" y="32"/>
                  </a:lnTo>
                  <a:lnTo>
                    <a:pt x="498" y="44"/>
                  </a:lnTo>
                  <a:lnTo>
                    <a:pt x="510" y="60"/>
                  </a:lnTo>
                  <a:lnTo>
                    <a:pt x="524" y="84"/>
                  </a:lnTo>
                  <a:lnTo>
                    <a:pt x="528" y="92"/>
                  </a:lnTo>
                  <a:lnTo>
                    <a:pt x="536" y="92"/>
                  </a:lnTo>
                  <a:lnTo>
                    <a:pt x="540" y="84"/>
                  </a:lnTo>
                  <a:lnTo>
                    <a:pt x="550" y="90"/>
                  </a:lnTo>
                  <a:lnTo>
                    <a:pt x="562" y="96"/>
                  </a:lnTo>
                  <a:lnTo>
                    <a:pt x="572" y="94"/>
                  </a:lnTo>
                  <a:lnTo>
                    <a:pt x="590" y="92"/>
                  </a:lnTo>
                  <a:lnTo>
                    <a:pt x="600" y="106"/>
                  </a:lnTo>
                  <a:lnTo>
                    <a:pt x="614" y="116"/>
                  </a:lnTo>
                  <a:lnTo>
                    <a:pt x="636" y="118"/>
                  </a:lnTo>
                  <a:lnTo>
                    <a:pt x="640" y="132"/>
                  </a:lnTo>
                  <a:lnTo>
                    <a:pt x="638" y="142"/>
                  </a:lnTo>
                  <a:lnTo>
                    <a:pt x="626" y="142"/>
                  </a:lnTo>
                  <a:lnTo>
                    <a:pt x="622" y="156"/>
                  </a:lnTo>
                  <a:lnTo>
                    <a:pt x="622" y="170"/>
                  </a:lnTo>
                  <a:lnTo>
                    <a:pt x="612" y="172"/>
                  </a:lnTo>
                  <a:lnTo>
                    <a:pt x="596" y="172"/>
                  </a:lnTo>
                  <a:lnTo>
                    <a:pt x="580" y="170"/>
                  </a:lnTo>
                  <a:lnTo>
                    <a:pt x="570" y="194"/>
                  </a:lnTo>
                  <a:lnTo>
                    <a:pt x="566" y="208"/>
                  </a:lnTo>
                  <a:lnTo>
                    <a:pt x="548" y="208"/>
                  </a:lnTo>
                  <a:lnTo>
                    <a:pt x="536" y="214"/>
                  </a:lnTo>
                  <a:lnTo>
                    <a:pt x="538" y="232"/>
                  </a:lnTo>
                  <a:lnTo>
                    <a:pt x="544" y="248"/>
                  </a:lnTo>
                  <a:lnTo>
                    <a:pt x="536" y="256"/>
                  </a:lnTo>
                  <a:lnTo>
                    <a:pt x="536" y="266"/>
                  </a:lnTo>
                  <a:lnTo>
                    <a:pt x="526" y="262"/>
                  </a:lnTo>
                  <a:lnTo>
                    <a:pt x="518" y="260"/>
                  </a:lnTo>
                  <a:lnTo>
                    <a:pt x="512" y="254"/>
                  </a:lnTo>
                  <a:lnTo>
                    <a:pt x="452" y="256"/>
                  </a:lnTo>
                  <a:lnTo>
                    <a:pt x="450" y="248"/>
                  </a:lnTo>
                  <a:lnTo>
                    <a:pt x="438" y="246"/>
                  </a:lnTo>
                  <a:lnTo>
                    <a:pt x="430" y="250"/>
                  </a:lnTo>
                  <a:lnTo>
                    <a:pt x="428" y="256"/>
                  </a:lnTo>
                  <a:lnTo>
                    <a:pt x="410" y="258"/>
                  </a:lnTo>
                  <a:lnTo>
                    <a:pt x="406" y="254"/>
                  </a:lnTo>
                  <a:lnTo>
                    <a:pt x="394" y="254"/>
                  </a:lnTo>
                  <a:lnTo>
                    <a:pt x="384" y="266"/>
                  </a:lnTo>
                  <a:lnTo>
                    <a:pt x="376" y="270"/>
                  </a:lnTo>
                  <a:lnTo>
                    <a:pt x="352" y="288"/>
                  </a:lnTo>
                  <a:lnTo>
                    <a:pt x="350" y="298"/>
                  </a:lnTo>
                  <a:lnTo>
                    <a:pt x="342" y="298"/>
                  </a:lnTo>
                  <a:lnTo>
                    <a:pt x="342" y="288"/>
                  </a:lnTo>
                  <a:lnTo>
                    <a:pt x="338" y="286"/>
                  </a:lnTo>
                  <a:lnTo>
                    <a:pt x="320" y="288"/>
                  </a:lnTo>
                  <a:lnTo>
                    <a:pt x="318" y="272"/>
                  </a:lnTo>
                  <a:lnTo>
                    <a:pt x="308" y="264"/>
                  </a:lnTo>
                  <a:lnTo>
                    <a:pt x="308" y="256"/>
                  </a:lnTo>
                  <a:lnTo>
                    <a:pt x="290" y="238"/>
                  </a:lnTo>
                  <a:lnTo>
                    <a:pt x="282" y="240"/>
                  </a:lnTo>
                  <a:lnTo>
                    <a:pt x="244" y="242"/>
                  </a:lnTo>
                  <a:lnTo>
                    <a:pt x="230" y="224"/>
                  </a:lnTo>
                  <a:lnTo>
                    <a:pt x="204" y="210"/>
                  </a:lnTo>
                  <a:lnTo>
                    <a:pt x="196" y="204"/>
                  </a:lnTo>
                  <a:lnTo>
                    <a:pt x="168" y="208"/>
                  </a:lnTo>
                  <a:lnTo>
                    <a:pt x="150" y="212"/>
                  </a:lnTo>
                  <a:lnTo>
                    <a:pt x="150" y="286"/>
                  </a:lnTo>
                  <a:lnTo>
                    <a:pt x="140" y="284"/>
                  </a:lnTo>
                  <a:lnTo>
                    <a:pt x="132" y="270"/>
                  </a:lnTo>
                  <a:lnTo>
                    <a:pt x="120" y="262"/>
                  </a:lnTo>
                  <a:lnTo>
                    <a:pt x="114" y="264"/>
                  </a:lnTo>
                  <a:lnTo>
                    <a:pt x="108" y="262"/>
                  </a:lnTo>
                  <a:close/>
                </a:path>
              </a:pathLst>
            </a:custGeom>
            <a:grpFill/>
            <a:ln w="3175" cap="flat">
              <a:solidFill>
                <a:srgbClr val="1A1D24"/>
              </a:solidFill>
              <a:prstDash val="solid"/>
              <a:miter lim="800000"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97">
              <a:extLst>
                <a:ext uri="{FF2B5EF4-FFF2-40B4-BE49-F238E27FC236}">
                  <a16:creationId xmlns:a16="http://schemas.microsoft.com/office/drawing/2014/main" id="{7F8873A3-7CFF-4359-2C47-DB6F10F2598D}"/>
                </a:ext>
              </a:extLst>
            </p:cNvPr>
            <p:cNvSpPr>
              <a:spLocks/>
            </p:cNvSpPr>
            <p:nvPr/>
          </p:nvSpPr>
          <p:spPr bwMode="gray">
            <a:xfrm>
              <a:off x="4480895" y="3898843"/>
              <a:ext cx="1895706" cy="1184660"/>
            </a:xfrm>
            <a:custGeom>
              <a:avLst/>
              <a:gdLst>
                <a:gd name="T0" fmla="*/ 20 w 222"/>
                <a:gd name="T1" fmla="*/ 104 h 138"/>
                <a:gd name="T2" fmla="*/ 18 w 222"/>
                <a:gd name="T3" fmla="*/ 80 h 138"/>
                <a:gd name="T4" fmla="*/ 24 w 222"/>
                <a:gd name="T5" fmla="*/ 72 h 138"/>
                <a:gd name="T6" fmla="*/ 12 w 222"/>
                <a:gd name="T7" fmla="*/ 56 h 138"/>
                <a:gd name="T8" fmla="*/ 8 w 222"/>
                <a:gd name="T9" fmla="*/ 50 h 138"/>
                <a:gd name="T10" fmla="*/ 0 w 222"/>
                <a:gd name="T11" fmla="*/ 52 h 138"/>
                <a:gd name="T12" fmla="*/ 0 w 222"/>
                <a:gd name="T13" fmla="*/ 44 h 138"/>
                <a:gd name="T14" fmla="*/ 6 w 222"/>
                <a:gd name="T15" fmla="*/ 36 h 138"/>
                <a:gd name="T16" fmla="*/ 12 w 222"/>
                <a:gd name="T17" fmla="*/ 40 h 138"/>
                <a:gd name="T18" fmla="*/ 28 w 222"/>
                <a:gd name="T19" fmla="*/ 40 h 138"/>
                <a:gd name="T20" fmla="*/ 34 w 222"/>
                <a:gd name="T21" fmla="*/ 32 h 138"/>
                <a:gd name="T22" fmla="*/ 26 w 222"/>
                <a:gd name="T23" fmla="*/ 24 h 138"/>
                <a:gd name="T24" fmla="*/ 20 w 222"/>
                <a:gd name="T25" fmla="*/ 16 h 138"/>
                <a:gd name="T26" fmla="*/ 14 w 222"/>
                <a:gd name="T27" fmla="*/ 10 h 138"/>
                <a:gd name="T28" fmla="*/ 4 w 222"/>
                <a:gd name="T29" fmla="*/ 14 h 138"/>
                <a:gd name="T30" fmla="*/ 2 w 222"/>
                <a:gd name="T31" fmla="*/ 28 h 138"/>
                <a:gd name="T32" fmla="*/ 0 w 222"/>
                <a:gd name="T33" fmla="*/ 22 h 138"/>
                <a:gd name="T34" fmla="*/ 0 w 222"/>
                <a:gd name="T35" fmla="*/ 12 h 138"/>
                <a:gd name="T36" fmla="*/ 10 w 222"/>
                <a:gd name="T37" fmla="*/ 6 h 138"/>
                <a:gd name="T38" fmla="*/ 24 w 222"/>
                <a:gd name="T39" fmla="*/ 4 h 138"/>
                <a:gd name="T40" fmla="*/ 36 w 222"/>
                <a:gd name="T41" fmla="*/ 12 h 138"/>
                <a:gd name="T42" fmla="*/ 44 w 222"/>
                <a:gd name="T43" fmla="*/ 26 h 138"/>
                <a:gd name="T44" fmla="*/ 54 w 222"/>
                <a:gd name="T45" fmla="*/ 28 h 138"/>
                <a:gd name="T46" fmla="*/ 68 w 222"/>
                <a:gd name="T47" fmla="*/ 26 h 138"/>
                <a:gd name="T48" fmla="*/ 68 w 222"/>
                <a:gd name="T49" fmla="*/ 14 h 138"/>
                <a:gd name="T50" fmla="*/ 96 w 222"/>
                <a:gd name="T51" fmla="*/ 0 h 138"/>
                <a:gd name="T52" fmla="*/ 102 w 222"/>
                <a:gd name="T53" fmla="*/ 6 h 138"/>
                <a:gd name="T54" fmla="*/ 116 w 222"/>
                <a:gd name="T55" fmla="*/ 8 h 138"/>
                <a:gd name="T56" fmla="*/ 118 w 222"/>
                <a:gd name="T57" fmla="*/ 12 h 138"/>
                <a:gd name="T58" fmla="*/ 118 w 222"/>
                <a:gd name="T59" fmla="*/ 28 h 138"/>
                <a:gd name="T60" fmla="*/ 144 w 222"/>
                <a:gd name="T61" fmla="*/ 28 h 138"/>
                <a:gd name="T62" fmla="*/ 158 w 222"/>
                <a:gd name="T63" fmla="*/ 54 h 138"/>
                <a:gd name="T64" fmla="*/ 178 w 222"/>
                <a:gd name="T65" fmla="*/ 66 h 138"/>
                <a:gd name="T66" fmla="*/ 200 w 222"/>
                <a:gd name="T67" fmla="*/ 82 h 138"/>
                <a:gd name="T68" fmla="*/ 212 w 222"/>
                <a:gd name="T69" fmla="*/ 84 h 138"/>
                <a:gd name="T70" fmla="*/ 222 w 222"/>
                <a:gd name="T71" fmla="*/ 90 h 138"/>
                <a:gd name="T72" fmla="*/ 222 w 222"/>
                <a:gd name="T73" fmla="*/ 98 h 138"/>
                <a:gd name="T74" fmla="*/ 210 w 222"/>
                <a:gd name="T75" fmla="*/ 98 h 138"/>
                <a:gd name="T76" fmla="*/ 194 w 222"/>
                <a:gd name="T77" fmla="*/ 104 h 138"/>
                <a:gd name="T78" fmla="*/ 182 w 222"/>
                <a:gd name="T79" fmla="*/ 122 h 138"/>
                <a:gd name="T80" fmla="*/ 170 w 222"/>
                <a:gd name="T81" fmla="*/ 126 h 138"/>
                <a:gd name="T82" fmla="*/ 160 w 222"/>
                <a:gd name="T83" fmla="*/ 138 h 138"/>
                <a:gd name="T84" fmla="*/ 150 w 222"/>
                <a:gd name="T85" fmla="*/ 134 h 138"/>
                <a:gd name="T86" fmla="*/ 138 w 222"/>
                <a:gd name="T87" fmla="*/ 134 h 138"/>
                <a:gd name="T88" fmla="*/ 136 w 222"/>
                <a:gd name="T89" fmla="*/ 112 h 138"/>
                <a:gd name="T90" fmla="*/ 126 w 222"/>
                <a:gd name="T91" fmla="*/ 110 h 138"/>
                <a:gd name="T92" fmla="*/ 68 w 222"/>
                <a:gd name="T93" fmla="*/ 84 h 138"/>
                <a:gd name="T94" fmla="*/ 42 w 222"/>
                <a:gd name="T95" fmla="*/ 88 h 138"/>
                <a:gd name="T96" fmla="*/ 20 w 222"/>
                <a:gd name="T97" fmla="*/ 10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2" h="138">
                  <a:moveTo>
                    <a:pt x="20" y="104"/>
                  </a:moveTo>
                  <a:lnTo>
                    <a:pt x="18" y="80"/>
                  </a:lnTo>
                  <a:lnTo>
                    <a:pt x="24" y="72"/>
                  </a:lnTo>
                  <a:lnTo>
                    <a:pt x="12" y="56"/>
                  </a:lnTo>
                  <a:lnTo>
                    <a:pt x="8" y="50"/>
                  </a:lnTo>
                  <a:lnTo>
                    <a:pt x="0" y="52"/>
                  </a:lnTo>
                  <a:lnTo>
                    <a:pt x="0" y="44"/>
                  </a:lnTo>
                  <a:lnTo>
                    <a:pt x="6" y="36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4" y="32"/>
                  </a:lnTo>
                  <a:lnTo>
                    <a:pt x="26" y="24"/>
                  </a:lnTo>
                  <a:lnTo>
                    <a:pt x="20" y="16"/>
                  </a:lnTo>
                  <a:lnTo>
                    <a:pt x="14" y="10"/>
                  </a:lnTo>
                  <a:lnTo>
                    <a:pt x="4" y="14"/>
                  </a:lnTo>
                  <a:lnTo>
                    <a:pt x="2" y="28"/>
                  </a:lnTo>
                  <a:lnTo>
                    <a:pt x="0" y="22"/>
                  </a:lnTo>
                  <a:lnTo>
                    <a:pt x="0" y="12"/>
                  </a:lnTo>
                  <a:lnTo>
                    <a:pt x="10" y="6"/>
                  </a:lnTo>
                  <a:lnTo>
                    <a:pt x="24" y="4"/>
                  </a:lnTo>
                  <a:lnTo>
                    <a:pt x="36" y="12"/>
                  </a:lnTo>
                  <a:lnTo>
                    <a:pt x="44" y="26"/>
                  </a:lnTo>
                  <a:lnTo>
                    <a:pt x="54" y="28"/>
                  </a:lnTo>
                  <a:lnTo>
                    <a:pt x="68" y="26"/>
                  </a:lnTo>
                  <a:lnTo>
                    <a:pt x="68" y="14"/>
                  </a:lnTo>
                  <a:lnTo>
                    <a:pt x="96" y="0"/>
                  </a:lnTo>
                  <a:lnTo>
                    <a:pt x="102" y="6"/>
                  </a:lnTo>
                  <a:lnTo>
                    <a:pt x="116" y="8"/>
                  </a:lnTo>
                  <a:lnTo>
                    <a:pt x="118" y="12"/>
                  </a:lnTo>
                  <a:lnTo>
                    <a:pt x="118" y="28"/>
                  </a:lnTo>
                  <a:lnTo>
                    <a:pt x="144" y="28"/>
                  </a:lnTo>
                  <a:lnTo>
                    <a:pt x="158" y="54"/>
                  </a:lnTo>
                  <a:lnTo>
                    <a:pt x="178" y="66"/>
                  </a:lnTo>
                  <a:lnTo>
                    <a:pt x="200" y="82"/>
                  </a:lnTo>
                  <a:lnTo>
                    <a:pt x="212" y="84"/>
                  </a:lnTo>
                  <a:lnTo>
                    <a:pt x="222" y="90"/>
                  </a:lnTo>
                  <a:lnTo>
                    <a:pt x="222" y="98"/>
                  </a:lnTo>
                  <a:lnTo>
                    <a:pt x="210" y="98"/>
                  </a:lnTo>
                  <a:lnTo>
                    <a:pt x="194" y="104"/>
                  </a:lnTo>
                  <a:lnTo>
                    <a:pt x="182" y="122"/>
                  </a:lnTo>
                  <a:lnTo>
                    <a:pt x="170" y="126"/>
                  </a:lnTo>
                  <a:lnTo>
                    <a:pt x="160" y="138"/>
                  </a:lnTo>
                  <a:lnTo>
                    <a:pt x="150" y="134"/>
                  </a:lnTo>
                  <a:lnTo>
                    <a:pt x="138" y="134"/>
                  </a:lnTo>
                  <a:lnTo>
                    <a:pt x="136" y="112"/>
                  </a:lnTo>
                  <a:lnTo>
                    <a:pt x="126" y="110"/>
                  </a:lnTo>
                  <a:lnTo>
                    <a:pt x="68" y="84"/>
                  </a:lnTo>
                  <a:lnTo>
                    <a:pt x="42" y="88"/>
                  </a:lnTo>
                  <a:lnTo>
                    <a:pt x="20" y="104"/>
                  </a:lnTo>
                  <a:close/>
                </a:path>
              </a:pathLst>
            </a:custGeom>
            <a:grpFill/>
            <a:ln w="3175" cap="flat">
              <a:solidFill>
                <a:srgbClr val="1A1D24"/>
              </a:solidFill>
              <a:prstDash val="solid"/>
              <a:miter lim="800000"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99">
              <a:extLst>
                <a:ext uri="{FF2B5EF4-FFF2-40B4-BE49-F238E27FC236}">
                  <a16:creationId xmlns:a16="http://schemas.microsoft.com/office/drawing/2014/main" id="{ECC591E2-B170-189A-6F48-11F0A66537AD}"/>
                </a:ext>
              </a:extLst>
            </p:cNvPr>
            <p:cNvSpPr>
              <a:spLocks/>
            </p:cNvSpPr>
            <p:nvPr/>
          </p:nvSpPr>
          <p:spPr bwMode="gray">
            <a:xfrm>
              <a:off x="4942010" y="3435281"/>
              <a:ext cx="2271433" cy="1356354"/>
            </a:xfrm>
            <a:custGeom>
              <a:avLst/>
              <a:gdLst>
                <a:gd name="T0" fmla="*/ 0 w 266"/>
                <a:gd name="T1" fmla="*/ 82 h 158"/>
                <a:gd name="T2" fmla="*/ 0 w 266"/>
                <a:gd name="T3" fmla="*/ 8 h 158"/>
                <a:gd name="T4" fmla="*/ 18 w 266"/>
                <a:gd name="T5" fmla="*/ 4 h 158"/>
                <a:gd name="T6" fmla="*/ 46 w 266"/>
                <a:gd name="T7" fmla="*/ 0 h 158"/>
                <a:gd name="T8" fmla="*/ 54 w 266"/>
                <a:gd name="T9" fmla="*/ 6 h 158"/>
                <a:gd name="T10" fmla="*/ 70 w 266"/>
                <a:gd name="T11" fmla="*/ 16 h 158"/>
                <a:gd name="T12" fmla="*/ 80 w 266"/>
                <a:gd name="T13" fmla="*/ 20 h 158"/>
                <a:gd name="T14" fmla="*/ 94 w 266"/>
                <a:gd name="T15" fmla="*/ 38 h 158"/>
                <a:gd name="T16" fmla="*/ 132 w 266"/>
                <a:gd name="T17" fmla="*/ 36 h 158"/>
                <a:gd name="T18" fmla="*/ 140 w 266"/>
                <a:gd name="T19" fmla="*/ 34 h 158"/>
                <a:gd name="T20" fmla="*/ 158 w 266"/>
                <a:gd name="T21" fmla="*/ 52 h 158"/>
                <a:gd name="T22" fmla="*/ 158 w 266"/>
                <a:gd name="T23" fmla="*/ 60 h 158"/>
                <a:gd name="T24" fmla="*/ 168 w 266"/>
                <a:gd name="T25" fmla="*/ 68 h 158"/>
                <a:gd name="T26" fmla="*/ 170 w 266"/>
                <a:gd name="T27" fmla="*/ 84 h 158"/>
                <a:gd name="T28" fmla="*/ 188 w 266"/>
                <a:gd name="T29" fmla="*/ 82 h 158"/>
                <a:gd name="T30" fmla="*/ 192 w 266"/>
                <a:gd name="T31" fmla="*/ 84 h 158"/>
                <a:gd name="T32" fmla="*/ 192 w 266"/>
                <a:gd name="T33" fmla="*/ 94 h 158"/>
                <a:gd name="T34" fmla="*/ 200 w 266"/>
                <a:gd name="T35" fmla="*/ 94 h 158"/>
                <a:gd name="T36" fmla="*/ 202 w 266"/>
                <a:gd name="T37" fmla="*/ 84 h 158"/>
                <a:gd name="T38" fmla="*/ 214 w 266"/>
                <a:gd name="T39" fmla="*/ 74 h 158"/>
                <a:gd name="T40" fmla="*/ 234 w 266"/>
                <a:gd name="T41" fmla="*/ 62 h 158"/>
                <a:gd name="T42" fmla="*/ 230 w 266"/>
                <a:gd name="T43" fmla="*/ 72 h 158"/>
                <a:gd name="T44" fmla="*/ 228 w 266"/>
                <a:gd name="T45" fmla="*/ 76 h 158"/>
                <a:gd name="T46" fmla="*/ 236 w 266"/>
                <a:gd name="T47" fmla="*/ 80 h 158"/>
                <a:gd name="T48" fmla="*/ 248 w 266"/>
                <a:gd name="T49" fmla="*/ 76 h 158"/>
                <a:gd name="T50" fmla="*/ 258 w 266"/>
                <a:gd name="T51" fmla="*/ 82 h 158"/>
                <a:gd name="T52" fmla="*/ 266 w 266"/>
                <a:gd name="T53" fmla="*/ 90 h 158"/>
                <a:gd name="T54" fmla="*/ 258 w 266"/>
                <a:gd name="T55" fmla="*/ 98 h 158"/>
                <a:gd name="T56" fmla="*/ 248 w 266"/>
                <a:gd name="T57" fmla="*/ 102 h 158"/>
                <a:gd name="T58" fmla="*/ 236 w 266"/>
                <a:gd name="T59" fmla="*/ 102 h 158"/>
                <a:gd name="T60" fmla="*/ 232 w 266"/>
                <a:gd name="T61" fmla="*/ 98 h 158"/>
                <a:gd name="T62" fmla="*/ 234 w 266"/>
                <a:gd name="T63" fmla="*/ 90 h 158"/>
                <a:gd name="T64" fmla="*/ 228 w 266"/>
                <a:gd name="T65" fmla="*/ 88 h 158"/>
                <a:gd name="T66" fmla="*/ 216 w 266"/>
                <a:gd name="T67" fmla="*/ 90 h 158"/>
                <a:gd name="T68" fmla="*/ 212 w 266"/>
                <a:gd name="T69" fmla="*/ 98 h 158"/>
                <a:gd name="T70" fmla="*/ 204 w 266"/>
                <a:gd name="T71" fmla="*/ 102 h 158"/>
                <a:gd name="T72" fmla="*/ 198 w 266"/>
                <a:gd name="T73" fmla="*/ 100 h 158"/>
                <a:gd name="T74" fmla="*/ 200 w 266"/>
                <a:gd name="T75" fmla="*/ 114 h 158"/>
                <a:gd name="T76" fmla="*/ 180 w 266"/>
                <a:gd name="T77" fmla="*/ 114 h 158"/>
                <a:gd name="T78" fmla="*/ 180 w 266"/>
                <a:gd name="T79" fmla="*/ 124 h 158"/>
                <a:gd name="T80" fmla="*/ 192 w 266"/>
                <a:gd name="T81" fmla="*/ 124 h 158"/>
                <a:gd name="T82" fmla="*/ 190 w 266"/>
                <a:gd name="T83" fmla="*/ 138 h 158"/>
                <a:gd name="T84" fmla="*/ 196 w 266"/>
                <a:gd name="T85" fmla="*/ 140 h 158"/>
                <a:gd name="T86" fmla="*/ 188 w 266"/>
                <a:gd name="T87" fmla="*/ 150 h 158"/>
                <a:gd name="T88" fmla="*/ 188 w 266"/>
                <a:gd name="T89" fmla="*/ 158 h 158"/>
                <a:gd name="T90" fmla="*/ 168 w 266"/>
                <a:gd name="T91" fmla="*/ 152 h 158"/>
                <a:gd name="T92" fmla="*/ 168 w 266"/>
                <a:gd name="T93" fmla="*/ 144 h 158"/>
                <a:gd name="T94" fmla="*/ 158 w 266"/>
                <a:gd name="T95" fmla="*/ 138 h 158"/>
                <a:gd name="T96" fmla="*/ 146 w 266"/>
                <a:gd name="T97" fmla="*/ 136 h 158"/>
                <a:gd name="T98" fmla="*/ 104 w 266"/>
                <a:gd name="T99" fmla="*/ 108 h 158"/>
                <a:gd name="T100" fmla="*/ 90 w 266"/>
                <a:gd name="T101" fmla="*/ 82 h 158"/>
                <a:gd name="T102" fmla="*/ 64 w 266"/>
                <a:gd name="T103" fmla="*/ 82 h 158"/>
                <a:gd name="T104" fmla="*/ 64 w 266"/>
                <a:gd name="T105" fmla="*/ 66 h 158"/>
                <a:gd name="T106" fmla="*/ 62 w 266"/>
                <a:gd name="T107" fmla="*/ 62 h 158"/>
                <a:gd name="T108" fmla="*/ 48 w 266"/>
                <a:gd name="T109" fmla="*/ 60 h 158"/>
                <a:gd name="T110" fmla="*/ 42 w 266"/>
                <a:gd name="T111" fmla="*/ 54 h 158"/>
                <a:gd name="T112" fmla="*/ 14 w 266"/>
                <a:gd name="T113" fmla="*/ 68 h 158"/>
                <a:gd name="T114" fmla="*/ 14 w 266"/>
                <a:gd name="T115" fmla="*/ 80 h 158"/>
                <a:gd name="T116" fmla="*/ 0 w 266"/>
                <a:gd name="T117" fmla="*/ 8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66" h="158">
                  <a:moveTo>
                    <a:pt x="0" y="82"/>
                  </a:moveTo>
                  <a:lnTo>
                    <a:pt x="0" y="8"/>
                  </a:lnTo>
                  <a:lnTo>
                    <a:pt x="18" y="4"/>
                  </a:lnTo>
                  <a:lnTo>
                    <a:pt x="46" y="0"/>
                  </a:lnTo>
                  <a:lnTo>
                    <a:pt x="54" y="6"/>
                  </a:lnTo>
                  <a:lnTo>
                    <a:pt x="70" y="16"/>
                  </a:lnTo>
                  <a:lnTo>
                    <a:pt x="80" y="20"/>
                  </a:lnTo>
                  <a:lnTo>
                    <a:pt x="94" y="38"/>
                  </a:lnTo>
                  <a:lnTo>
                    <a:pt x="132" y="36"/>
                  </a:lnTo>
                  <a:lnTo>
                    <a:pt x="140" y="34"/>
                  </a:lnTo>
                  <a:lnTo>
                    <a:pt x="158" y="52"/>
                  </a:lnTo>
                  <a:lnTo>
                    <a:pt x="158" y="60"/>
                  </a:lnTo>
                  <a:lnTo>
                    <a:pt x="168" y="68"/>
                  </a:lnTo>
                  <a:lnTo>
                    <a:pt x="170" y="84"/>
                  </a:lnTo>
                  <a:lnTo>
                    <a:pt x="188" y="82"/>
                  </a:lnTo>
                  <a:lnTo>
                    <a:pt x="192" y="84"/>
                  </a:lnTo>
                  <a:lnTo>
                    <a:pt x="192" y="94"/>
                  </a:lnTo>
                  <a:lnTo>
                    <a:pt x="200" y="94"/>
                  </a:lnTo>
                  <a:lnTo>
                    <a:pt x="202" y="84"/>
                  </a:lnTo>
                  <a:lnTo>
                    <a:pt x="214" y="74"/>
                  </a:lnTo>
                  <a:lnTo>
                    <a:pt x="234" y="62"/>
                  </a:lnTo>
                  <a:lnTo>
                    <a:pt x="230" y="72"/>
                  </a:lnTo>
                  <a:lnTo>
                    <a:pt x="228" y="76"/>
                  </a:lnTo>
                  <a:lnTo>
                    <a:pt x="236" y="80"/>
                  </a:lnTo>
                  <a:lnTo>
                    <a:pt x="248" y="76"/>
                  </a:lnTo>
                  <a:lnTo>
                    <a:pt x="258" y="82"/>
                  </a:lnTo>
                  <a:lnTo>
                    <a:pt x="266" y="90"/>
                  </a:lnTo>
                  <a:lnTo>
                    <a:pt x="258" y="98"/>
                  </a:lnTo>
                  <a:lnTo>
                    <a:pt x="248" y="102"/>
                  </a:lnTo>
                  <a:lnTo>
                    <a:pt x="236" y="102"/>
                  </a:lnTo>
                  <a:lnTo>
                    <a:pt x="232" y="98"/>
                  </a:lnTo>
                  <a:lnTo>
                    <a:pt x="234" y="90"/>
                  </a:lnTo>
                  <a:lnTo>
                    <a:pt x="228" y="88"/>
                  </a:lnTo>
                  <a:lnTo>
                    <a:pt x="216" y="90"/>
                  </a:lnTo>
                  <a:lnTo>
                    <a:pt x="212" y="98"/>
                  </a:lnTo>
                  <a:lnTo>
                    <a:pt x="204" y="102"/>
                  </a:lnTo>
                  <a:lnTo>
                    <a:pt x="198" y="100"/>
                  </a:lnTo>
                  <a:lnTo>
                    <a:pt x="200" y="114"/>
                  </a:lnTo>
                  <a:lnTo>
                    <a:pt x="180" y="114"/>
                  </a:lnTo>
                  <a:lnTo>
                    <a:pt x="180" y="124"/>
                  </a:lnTo>
                  <a:lnTo>
                    <a:pt x="192" y="124"/>
                  </a:lnTo>
                  <a:lnTo>
                    <a:pt x="190" y="138"/>
                  </a:lnTo>
                  <a:lnTo>
                    <a:pt x="196" y="140"/>
                  </a:lnTo>
                  <a:lnTo>
                    <a:pt x="188" y="150"/>
                  </a:lnTo>
                  <a:lnTo>
                    <a:pt x="188" y="158"/>
                  </a:lnTo>
                  <a:lnTo>
                    <a:pt x="168" y="152"/>
                  </a:lnTo>
                  <a:lnTo>
                    <a:pt x="168" y="144"/>
                  </a:lnTo>
                  <a:lnTo>
                    <a:pt x="158" y="138"/>
                  </a:lnTo>
                  <a:lnTo>
                    <a:pt x="146" y="136"/>
                  </a:lnTo>
                  <a:lnTo>
                    <a:pt x="104" y="108"/>
                  </a:lnTo>
                  <a:lnTo>
                    <a:pt x="90" y="82"/>
                  </a:lnTo>
                  <a:lnTo>
                    <a:pt x="64" y="82"/>
                  </a:lnTo>
                  <a:lnTo>
                    <a:pt x="64" y="66"/>
                  </a:lnTo>
                  <a:lnTo>
                    <a:pt x="62" y="62"/>
                  </a:lnTo>
                  <a:lnTo>
                    <a:pt x="48" y="60"/>
                  </a:lnTo>
                  <a:lnTo>
                    <a:pt x="42" y="54"/>
                  </a:lnTo>
                  <a:lnTo>
                    <a:pt x="14" y="68"/>
                  </a:lnTo>
                  <a:lnTo>
                    <a:pt x="14" y="80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0070C0"/>
            </a:solidFill>
            <a:ln w="3175" cap="flat">
              <a:solidFill>
                <a:srgbClr val="1A1D24"/>
              </a:solidFill>
              <a:prstDash val="solid"/>
              <a:miter lim="800000"/>
              <a:headEnd/>
              <a:tailEnd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100">
              <a:extLst>
                <a:ext uri="{FF2B5EF4-FFF2-40B4-BE49-F238E27FC236}">
                  <a16:creationId xmlns:a16="http://schemas.microsoft.com/office/drawing/2014/main" id="{BCE2330F-B765-A9DD-0A7A-DC6445E4717F}"/>
                </a:ext>
              </a:extLst>
            </p:cNvPr>
            <p:cNvSpPr>
              <a:spLocks/>
            </p:cNvSpPr>
            <p:nvPr/>
          </p:nvSpPr>
          <p:spPr bwMode="gray">
            <a:xfrm>
              <a:off x="6888946" y="3795819"/>
              <a:ext cx="1349199" cy="652424"/>
            </a:xfrm>
            <a:custGeom>
              <a:avLst/>
              <a:gdLst>
                <a:gd name="T0" fmla="*/ 6 w 158"/>
                <a:gd name="T1" fmla="*/ 20 h 76"/>
                <a:gd name="T2" fmla="*/ 16 w 158"/>
                <a:gd name="T3" fmla="*/ 8 h 76"/>
                <a:gd name="T4" fmla="*/ 28 w 158"/>
                <a:gd name="T5" fmla="*/ 8 h 76"/>
                <a:gd name="T6" fmla="*/ 32 w 158"/>
                <a:gd name="T7" fmla="*/ 12 h 76"/>
                <a:gd name="T8" fmla="*/ 50 w 158"/>
                <a:gd name="T9" fmla="*/ 10 h 76"/>
                <a:gd name="T10" fmla="*/ 52 w 158"/>
                <a:gd name="T11" fmla="*/ 4 h 76"/>
                <a:gd name="T12" fmla="*/ 60 w 158"/>
                <a:gd name="T13" fmla="*/ 0 h 76"/>
                <a:gd name="T14" fmla="*/ 72 w 158"/>
                <a:gd name="T15" fmla="*/ 2 h 76"/>
                <a:gd name="T16" fmla="*/ 74 w 158"/>
                <a:gd name="T17" fmla="*/ 10 h 76"/>
                <a:gd name="T18" fmla="*/ 134 w 158"/>
                <a:gd name="T19" fmla="*/ 8 h 76"/>
                <a:gd name="T20" fmla="*/ 140 w 158"/>
                <a:gd name="T21" fmla="*/ 14 h 76"/>
                <a:gd name="T22" fmla="*/ 148 w 158"/>
                <a:gd name="T23" fmla="*/ 16 h 76"/>
                <a:gd name="T24" fmla="*/ 158 w 158"/>
                <a:gd name="T25" fmla="*/ 20 h 76"/>
                <a:gd name="T26" fmla="*/ 152 w 158"/>
                <a:gd name="T27" fmla="*/ 24 h 76"/>
                <a:gd name="T28" fmla="*/ 138 w 158"/>
                <a:gd name="T29" fmla="*/ 32 h 76"/>
                <a:gd name="T30" fmla="*/ 126 w 158"/>
                <a:gd name="T31" fmla="*/ 36 h 76"/>
                <a:gd name="T32" fmla="*/ 122 w 158"/>
                <a:gd name="T33" fmla="*/ 44 h 76"/>
                <a:gd name="T34" fmla="*/ 102 w 158"/>
                <a:gd name="T35" fmla="*/ 44 h 76"/>
                <a:gd name="T36" fmla="*/ 98 w 158"/>
                <a:gd name="T37" fmla="*/ 54 h 76"/>
                <a:gd name="T38" fmla="*/ 82 w 158"/>
                <a:gd name="T39" fmla="*/ 58 h 76"/>
                <a:gd name="T40" fmla="*/ 82 w 158"/>
                <a:gd name="T41" fmla="*/ 52 h 76"/>
                <a:gd name="T42" fmla="*/ 68 w 158"/>
                <a:gd name="T43" fmla="*/ 52 h 76"/>
                <a:gd name="T44" fmla="*/ 66 w 158"/>
                <a:gd name="T45" fmla="*/ 58 h 76"/>
                <a:gd name="T46" fmla="*/ 58 w 158"/>
                <a:gd name="T47" fmla="*/ 62 h 76"/>
                <a:gd name="T48" fmla="*/ 54 w 158"/>
                <a:gd name="T49" fmla="*/ 66 h 76"/>
                <a:gd name="T50" fmla="*/ 52 w 158"/>
                <a:gd name="T51" fmla="*/ 76 h 76"/>
                <a:gd name="T52" fmla="*/ 32 w 158"/>
                <a:gd name="T53" fmla="*/ 76 h 76"/>
                <a:gd name="T54" fmla="*/ 18 w 158"/>
                <a:gd name="T55" fmla="*/ 74 h 76"/>
                <a:gd name="T56" fmla="*/ 6 w 158"/>
                <a:gd name="T57" fmla="*/ 74 h 76"/>
                <a:gd name="T58" fmla="*/ 4 w 158"/>
                <a:gd name="T59" fmla="*/ 66 h 76"/>
                <a:gd name="T60" fmla="*/ 2 w 158"/>
                <a:gd name="T61" fmla="*/ 60 h 76"/>
                <a:gd name="T62" fmla="*/ 4 w 158"/>
                <a:gd name="T63" fmla="*/ 56 h 76"/>
                <a:gd name="T64" fmla="*/ 8 w 158"/>
                <a:gd name="T65" fmla="*/ 60 h 76"/>
                <a:gd name="T66" fmla="*/ 20 w 158"/>
                <a:gd name="T67" fmla="*/ 60 h 76"/>
                <a:gd name="T68" fmla="*/ 30 w 158"/>
                <a:gd name="T69" fmla="*/ 56 h 76"/>
                <a:gd name="T70" fmla="*/ 38 w 158"/>
                <a:gd name="T71" fmla="*/ 48 h 76"/>
                <a:gd name="T72" fmla="*/ 30 w 158"/>
                <a:gd name="T73" fmla="*/ 40 h 76"/>
                <a:gd name="T74" fmla="*/ 20 w 158"/>
                <a:gd name="T75" fmla="*/ 34 h 76"/>
                <a:gd name="T76" fmla="*/ 8 w 158"/>
                <a:gd name="T77" fmla="*/ 38 h 76"/>
                <a:gd name="T78" fmla="*/ 0 w 158"/>
                <a:gd name="T79" fmla="*/ 34 h 76"/>
                <a:gd name="T80" fmla="*/ 2 w 158"/>
                <a:gd name="T81" fmla="*/ 30 h 76"/>
                <a:gd name="T82" fmla="*/ 6 w 158"/>
                <a:gd name="T83" fmla="*/ 2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58" h="76">
                  <a:moveTo>
                    <a:pt x="6" y="20"/>
                  </a:moveTo>
                  <a:lnTo>
                    <a:pt x="16" y="8"/>
                  </a:lnTo>
                  <a:lnTo>
                    <a:pt x="28" y="8"/>
                  </a:lnTo>
                  <a:lnTo>
                    <a:pt x="32" y="12"/>
                  </a:lnTo>
                  <a:lnTo>
                    <a:pt x="50" y="10"/>
                  </a:lnTo>
                  <a:lnTo>
                    <a:pt x="52" y="4"/>
                  </a:lnTo>
                  <a:lnTo>
                    <a:pt x="60" y="0"/>
                  </a:lnTo>
                  <a:lnTo>
                    <a:pt x="72" y="2"/>
                  </a:lnTo>
                  <a:lnTo>
                    <a:pt x="74" y="10"/>
                  </a:lnTo>
                  <a:lnTo>
                    <a:pt x="134" y="8"/>
                  </a:lnTo>
                  <a:lnTo>
                    <a:pt x="140" y="14"/>
                  </a:lnTo>
                  <a:lnTo>
                    <a:pt x="148" y="16"/>
                  </a:lnTo>
                  <a:lnTo>
                    <a:pt x="158" y="20"/>
                  </a:lnTo>
                  <a:lnTo>
                    <a:pt x="152" y="24"/>
                  </a:lnTo>
                  <a:lnTo>
                    <a:pt x="138" y="32"/>
                  </a:lnTo>
                  <a:lnTo>
                    <a:pt x="126" y="36"/>
                  </a:lnTo>
                  <a:lnTo>
                    <a:pt x="122" y="44"/>
                  </a:lnTo>
                  <a:lnTo>
                    <a:pt x="102" y="44"/>
                  </a:lnTo>
                  <a:lnTo>
                    <a:pt x="98" y="54"/>
                  </a:lnTo>
                  <a:lnTo>
                    <a:pt x="82" y="58"/>
                  </a:lnTo>
                  <a:lnTo>
                    <a:pt x="82" y="52"/>
                  </a:lnTo>
                  <a:lnTo>
                    <a:pt x="68" y="52"/>
                  </a:lnTo>
                  <a:lnTo>
                    <a:pt x="66" y="58"/>
                  </a:lnTo>
                  <a:lnTo>
                    <a:pt x="58" y="62"/>
                  </a:lnTo>
                  <a:lnTo>
                    <a:pt x="54" y="66"/>
                  </a:lnTo>
                  <a:lnTo>
                    <a:pt x="52" y="76"/>
                  </a:lnTo>
                  <a:lnTo>
                    <a:pt x="32" y="76"/>
                  </a:lnTo>
                  <a:lnTo>
                    <a:pt x="18" y="74"/>
                  </a:lnTo>
                  <a:lnTo>
                    <a:pt x="6" y="74"/>
                  </a:lnTo>
                  <a:lnTo>
                    <a:pt x="4" y="66"/>
                  </a:lnTo>
                  <a:lnTo>
                    <a:pt x="2" y="60"/>
                  </a:lnTo>
                  <a:lnTo>
                    <a:pt x="4" y="56"/>
                  </a:lnTo>
                  <a:lnTo>
                    <a:pt x="8" y="60"/>
                  </a:lnTo>
                  <a:lnTo>
                    <a:pt x="20" y="60"/>
                  </a:lnTo>
                  <a:lnTo>
                    <a:pt x="30" y="56"/>
                  </a:lnTo>
                  <a:lnTo>
                    <a:pt x="38" y="48"/>
                  </a:lnTo>
                  <a:lnTo>
                    <a:pt x="30" y="40"/>
                  </a:lnTo>
                  <a:lnTo>
                    <a:pt x="20" y="34"/>
                  </a:lnTo>
                  <a:lnTo>
                    <a:pt x="8" y="38"/>
                  </a:lnTo>
                  <a:lnTo>
                    <a:pt x="0" y="34"/>
                  </a:lnTo>
                  <a:lnTo>
                    <a:pt x="2" y="30"/>
                  </a:lnTo>
                  <a:lnTo>
                    <a:pt x="6" y="20"/>
                  </a:lnTo>
                  <a:close/>
                </a:path>
              </a:pathLst>
            </a:custGeom>
            <a:grpFill/>
            <a:ln w="3175" cap="flat">
              <a:solidFill>
                <a:srgbClr val="1A1D24"/>
              </a:solidFill>
              <a:prstDash val="solid"/>
              <a:miter lim="800000"/>
              <a:headEnd/>
              <a:tailEnd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98">
              <a:extLst>
                <a:ext uri="{FF2B5EF4-FFF2-40B4-BE49-F238E27FC236}">
                  <a16:creationId xmlns:a16="http://schemas.microsoft.com/office/drawing/2014/main" id="{445020FF-E3C9-CDF1-A847-44EFA429E486}"/>
                </a:ext>
              </a:extLst>
            </p:cNvPr>
            <p:cNvSpPr>
              <a:spLocks/>
            </p:cNvSpPr>
            <p:nvPr/>
          </p:nvSpPr>
          <p:spPr bwMode="gray">
            <a:xfrm>
              <a:off x="6479066" y="4190715"/>
              <a:ext cx="1007630" cy="652424"/>
            </a:xfrm>
            <a:custGeom>
              <a:avLst/>
              <a:gdLst>
                <a:gd name="T0" fmla="*/ 24 w 118"/>
                <a:gd name="T1" fmla="*/ 14 h 76"/>
                <a:gd name="T2" fmla="*/ 32 w 118"/>
                <a:gd name="T3" fmla="*/ 10 h 76"/>
                <a:gd name="T4" fmla="*/ 36 w 118"/>
                <a:gd name="T5" fmla="*/ 2 h 76"/>
                <a:gd name="T6" fmla="*/ 48 w 118"/>
                <a:gd name="T7" fmla="*/ 0 h 76"/>
                <a:gd name="T8" fmla="*/ 54 w 118"/>
                <a:gd name="T9" fmla="*/ 2 h 76"/>
                <a:gd name="T10" fmla="*/ 52 w 118"/>
                <a:gd name="T11" fmla="*/ 8 h 76"/>
                <a:gd name="T12" fmla="*/ 50 w 118"/>
                <a:gd name="T13" fmla="*/ 14 h 76"/>
                <a:gd name="T14" fmla="*/ 52 w 118"/>
                <a:gd name="T15" fmla="*/ 20 h 76"/>
                <a:gd name="T16" fmla="*/ 54 w 118"/>
                <a:gd name="T17" fmla="*/ 28 h 76"/>
                <a:gd name="T18" fmla="*/ 66 w 118"/>
                <a:gd name="T19" fmla="*/ 28 h 76"/>
                <a:gd name="T20" fmla="*/ 80 w 118"/>
                <a:gd name="T21" fmla="*/ 30 h 76"/>
                <a:gd name="T22" fmla="*/ 100 w 118"/>
                <a:gd name="T23" fmla="*/ 30 h 76"/>
                <a:gd name="T24" fmla="*/ 98 w 118"/>
                <a:gd name="T25" fmla="*/ 36 h 76"/>
                <a:gd name="T26" fmla="*/ 100 w 118"/>
                <a:gd name="T27" fmla="*/ 44 h 76"/>
                <a:gd name="T28" fmla="*/ 106 w 118"/>
                <a:gd name="T29" fmla="*/ 46 h 76"/>
                <a:gd name="T30" fmla="*/ 118 w 118"/>
                <a:gd name="T31" fmla="*/ 44 h 76"/>
                <a:gd name="T32" fmla="*/ 118 w 118"/>
                <a:gd name="T33" fmla="*/ 64 h 76"/>
                <a:gd name="T34" fmla="*/ 90 w 118"/>
                <a:gd name="T35" fmla="*/ 64 h 76"/>
                <a:gd name="T36" fmla="*/ 80 w 118"/>
                <a:gd name="T37" fmla="*/ 70 h 76"/>
                <a:gd name="T38" fmla="*/ 64 w 118"/>
                <a:gd name="T39" fmla="*/ 76 h 76"/>
                <a:gd name="T40" fmla="*/ 64 w 118"/>
                <a:gd name="T41" fmla="*/ 70 h 76"/>
                <a:gd name="T42" fmla="*/ 66 w 118"/>
                <a:gd name="T43" fmla="*/ 62 h 76"/>
                <a:gd name="T44" fmla="*/ 64 w 118"/>
                <a:gd name="T45" fmla="*/ 50 h 76"/>
                <a:gd name="T46" fmla="*/ 56 w 118"/>
                <a:gd name="T47" fmla="*/ 44 h 76"/>
                <a:gd name="T48" fmla="*/ 46 w 118"/>
                <a:gd name="T49" fmla="*/ 60 h 76"/>
                <a:gd name="T50" fmla="*/ 38 w 118"/>
                <a:gd name="T51" fmla="*/ 62 h 76"/>
                <a:gd name="T52" fmla="*/ 18 w 118"/>
                <a:gd name="T53" fmla="*/ 74 h 76"/>
                <a:gd name="T54" fmla="*/ 8 w 118"/>
                <a:gd name="T55" fmla="*/ 70 h 76"/>
                <a:gd name="T56" fmla="*/ 8 w 118"/>
                <a:gd name="T57" fmla="*/ 62 h 76"/>
                <a:gd name="T58" fmla="*/ 16 w 118"/>
                <a:gd name="T59" fmla="*/ 52 h 76"/>
                <a:gd name="T60" fmla="*/ 10 w 118"/>
                <a:gd name="T61" fmla="*/ 50 h 76"/>
                <a:gd name="T62" fmla="*/ 12 w 118"/>
                <a:gd name="T63" fmla="*/ 36 h 76"/>
                <a:gd name="T64" fmla="*/ 0 w 118"/>
                <a:gd name="T65" fmla="*/ 36 h 76"/>
                <a:gd name="T66" fmla="*/ 0 w 118"/>
                <a:gd name="T67" fmla="*/ 26 h 76"/>
                <a:gd name="T68" fmla="*/ 20 w 118"/>
                <a:gd name="T69" fmla="*/ 26 h 76"/>
                <a:gd name="T70" fmla="*/ 18 w 118"/>
                <a:gd name="T71" fmla="*/ 12 h 76"/>
                <a:gd name="T72" fmla="*/ 24 w 118"/>
                <a:gd name="T73" fmla="*/ 1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8" h="76">
                  <a:moveTo>
                    <a:pt x="24" y="14"/>
                  </a:moveTo>
                  <a:lnTo>
                    <a:pt x="32" y="10"/>
                  </a:lnTo>
                  <a:lnTo>
                    <a:pt x="36" y="2"/>
                  </a:lnTo>
                  <a:lnTo>
                    <a:pt x="48" y="0"/>
                  </a:lnTo>
                  <a:lnTo>
                    <a:pt x="54" y="2"/>
                  </a:lnTo>
                  <a:lnTo>
                    <a:pt x="52" y="8"/>
                  </a:lnTo>
                  <a:lnTo>
                    <a:pt x="50" y="14"/>
                  </a:lnTo>
                  <a:lnTo>
                    <a:pt x="52" y="20"/>
                  </a:lnTo>
                  <a:lnTo>
                    <a:pt x="54" y="28"/>
                  </a:lnTo>
                  <a:lnTo>
                    <a:pt x="66" y="28"/>
                  </a:lnTo>
                  <a:lnTo>
                    <a:pt x="80" y="30"/>
                  </a:lnTo>
                  <a:lnTo>
                    <a:pt x="100" y="30"/>
                  </a:lnTo>
                  <a:lnTo>
                    <a:pt x="98" y="36"/>
                  </a:lnTo>
                  <a:lnTo>
                    <a:pt x="100" y="44"/>
                  </a:lnTo>
                  <a:lnTo>
                    <a:pt x="106" y="46"/>
                  </a:lnTo>
                  <a:lnTo>
                    <a:pt x="118" y="44"/>
                  </a:lnTo>
                  <a:lnTo>
                    <a:pt x="118" y="64"/>
                  </a:lnTo>
                  <a:lnTo>
                    <a:pt x="90" y="64"/>
                  </a:lnTo>
                  <a:lnTo>
                    <a:pt x="80" y="70"/>
                  </a:lnTo>
                  <a:lnTo>
                    <a:pt x="64" y="76"/>
                  </a:lnTo>
                  <a:lnTo>
                    <a:pt x="64" y="70"/>
                  </a:lnTo>
                  <a:lnTo>
                    <a:pt x="66" y="62"/>
                  </a:lnTo>
                  <a:lnTo>
                    <a:pt x="64" y="50"/>
                  </a:lnTo>
                  <a:lnTo>
                    <a:pt x="56" y="44"/>
                  </a:lnTo>
                  <a:lnTo>
                    <a:pt x="46" y="60"/>
                  </a:lnTo>
                  <a:lnTo>
                    <a:pt x="38" y="62"/>
                  </a:lnTo>
                  <a:lnTo>
                    <a:pt x="18" y="74"/>
                  </a:lnTo>
                  <a:lnTo>
                    <a:pt x="8" y="70"/>
                  </a:lnTo>
                  <a:lnTo>
                    <a:pt x="8" y="62"/>
                  </a:lnTo>
                  <a:lnTo>
                    <a:pt x="16" y="52"/>
                  </a:lnTo>
                  <a:lnTo>
                    <a:pt x="10" y="50"/>
                  </a:lnTo>
                  <a:lnTo>
                    <a:pt x="12" y="36"/>
                  </a:lnTo>
                  <a:lnTo>
                    <a:pt x="0" y="36"/>
                  </a:lnTo>
                  <a:lnTo>
                    <a:pt x="0" y="26"/>
                  </a:lnTo>
                  <a:lnTo>
                    <a:pt x="20" y="26"/>
                  </a:lnTo>
                  <a:lnTo>
                    <a:pt x="18" y="12"/>
                  </a:lnTo>
                  <a:lnTo>
                    <a:pt x="24" y="14"/>
                  </a:lnTo>
                  <a:close/>
                </a:path>
              </a:pathLst>
            </a:custGeom>
            <a:grpFill/>
            <a:ln w="3175" cap="flat">
              <a:solidFill>
                <a:srgbClr val="1A1D24"/>
              </a:solidFill>
              <a:prstDash val="solid"/>
              <a:miter lim="800000"/>
              <a:headEnd/>
              <a:tailEnd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32" name="Picture 7">
            <a:extLst>
              <a:ext uri="{FF2B5EF4-FFF2-40B4-BE49-F238E27FC236}">
                <a16:creationId xmlns:a16="http://schemas.microsoft.com/office/drawing/2014/main" id="{8E08E9A7-2B1C-B7BC-F057-B7EBF47669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964" t="26552" r="29954" b="38392"/>
          <a:stretch/>
        </p:blipFill>
        <p:spPr>
          <a:xfrm>
            <a:off x="8041839" y="4210254"/>
            <a:ext cx="764031" cy="6053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51867B-DA2F-0545-3F06-3A2CF8249E10}"/>
              </a:ext>
            </a:extLst>
          </p:cNvPr>
          <p:cNvSpPr txBox="1"/>
          <p:nvPr/>
        </p:nvSpPr>
        <p:spPr>
          <a:xfrm>
            <a:off x="8514741" y="3151450"/>
            <a:ext cx="1329154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chemeClr val="bg1">
                    <a:lumMod val="49000"/>
                  </a:schemeClr>
                </a:solidFill>
                <a:latin typeface="Century Gothic"/>
              </a:rPr>
              <a:t>Казахстан</a:t>
            </a:r>
            <a:endParaRPr lang="ru-RU" sz="1200">
              <a:solidFill>
                <a:schemeClr val="bg1">
                  <a:lumMod val="49000"/>
                </a:schemeClr>
              </a:solidFill>
              <a:latin typeface="Century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D738A5-6902-A89A-9835-4B014D5E1453}"/>
              </a:ext>
            </a:extLst>
          </p:cNvPr>
          <p:cNvSpPr txBox="1"/>
          <p:nvPr/>
        </p:nvSpPr>
        <p:spPr>
          <a:xfrm>
            <a:off x="9646052" y="4099798"/>
            <a:ext cx="948865" cy="4078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00">
                <a:solidFill>
                  <a:schemeClr val="bg1">
                    <a:lumMod val="49000"/>
                  </a:schemeClr>
                </a:solidFill>
                <a:latin typeface="Century Gothic"/>
              </a:rPr>
              <a:t>Кыргызская</a:t>
            </a:r>
            <a:r>
              <a:rPr lang="en-US" sz="1050">
                <a:solidFill>
                  <a:schemeClr val="bg1">
                    <a:lumMod val="49000"/>
                  </a:schemeClr>
                </a:solidFill>
                <a:latin typeface="Century Gothic"/>
              </a:rPr>
              <a:t> </a:t>
            </a:r>
            <a:r>
              <a:rPr lang="en-US" sz="1000">
                <a:solidFill>
                  <a:schemeClr val="bg1">
                    <a:lumMod val="49000"/>
                  </a:schemeClr>
                </a:solidFill>
                <a:latin typeface="Century Gothic"/>
              </a:rPr>
              <a:t>Республика</a:t>
            </a:r>
            <a:endParaRPr lang="ru-RU" sz="1000">
              <a:solidFill>
                <a:schemeClr val="bg1">
                  <a:lumMod val="49000"/>
                </a:schemeClr>
              </a:solidFill>
              <a:latin typeface="Century Gothic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9AF6B8-D5E7-67A8-DE13-EA061090912C}"/>
              </a:ext>
            </a:extLst>
          </p:cNvPr>
          <p:cNvSpPr txBox="1"/>
          <p:nvPr/>
        </p:nvSpPr>
        <p:spPr>
          <a:xfrm>
            <a:off x="8137872" y="5642606"/>
            <a:ext cx="1329154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chemeClr val="bg1">
                    <a:lumMod val="49000"/>
                  </a:schemeClr>
                </a:solidFill>
                <a:latin typeface="Century Gothic"/>
              </a:rPr>
              <a:t>Афганистан</a:t>
            </a:r>
            <a:endParaRPr lang="ru-RU" sz="1200">
              <a:solidFill>
                <a:schemeClr val="bg1">
                  <a:lumMod val="49000"/>
                </a:schemeClr>
              </a:solidFill>
              <a:latin typeface="Century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AE8BFD-C026-DF9F-E383-574187E8289A}"/>
              </a:ext>
            </a:extLst>
          </p:cNvPr>
          <p:cNvSpPr txBox="1"/>
          <p:nvPr/>
        </p:nvSpPr>
        <p:spPr>
          <a:xfrm>
            <a:off x="8980713" y="4723819"/>
            <a:ext cx="1329154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50">
                <a:solidFill>
                  <a:schemeClr val="bg1">
                    <a:lumMod val="49000"/>
                  </a:schemeClr>
                </a:solidFill>
                <a:latin typeface="Century Gothic"/>
              </a:rPr>
              <a:t>Таджикистан</a:t>
            </a:r>
            <a:endParaRPr lang="ru-RU" sz="1050">
              <a:solidFill>
                <a:schemeClr val="bg1">
                  <a:lumMod val="49000"/>
                </a:schemeClr>
              </a:solidFill>
              <a:latin typeface="Century Gothic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0EE85-30A6-5EAD-1E72-EA7A95D1BB4B}"/>
              </a:ext>
            </a:extLst>
          </p:cNvPr>
          <p:cNvSpPr txBox="1"/>
          <p:nvPr/>
        </p:nvSpPr>
        <p:spPr>
          <a:xfrm>
            <a:off x="6859076" y="4680462"/>
            <a:ext cx="1329154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chemeClr val="bg1">
                    <a:lumMod val="49000"/>
                  </a:schemeClr>
                </a:solidFill>
                <a:latin typeface="Century Gothic"/>
              </a:rPr>
              <a:t>Туркменистан</a:t>
            </a:r>
            <a:endParaRPr lang="ru-RU" sz="1200">
              <a:solidFill>
                <a:schemeClr val="bg1">
                  <a:lumMod val="49000"/>
                </a:schemeClr>
              </a:solidFill>
              <a:latin typeface="Century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798F69-E931-7172-5264-D108C07F20BB}"/>
              </a:ext>
            </a:extLst>
          </p:cNvPr>
          <p:cNvSpPr txBox="1"/>
          <p:nvPr/>
        </p:nvSpPr>
        <p:spPr>
          <a:xfrm>
            <a:off x="7663734" y="3989199"/>
            <a:ext cx="132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  <a:latin typeface="Century Gothic" panose="020B0502020202020204" pitchFamily="34" charset="0"/>
              </a:rPr>
              <a:t>Узбекистан</a:t>
            </a:r>
            <a:endParaRPr lang="ru-RU" sz="120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34536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50353-0875-AA48-809B-DC6100ACA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2E3D1BC-E8F6-44B0-82EB-F5B69BEF41F4}"/>
              </a:ext>
            </a:extLst>
          </p:cNvPr>
          <p:cNvGraphicFramePr>
            <a:graphicFrameLocks/>
          </p:cNvGraphicFramePr>
          <p:nvPr/>
        </p:nvGraphicFramePr>
        <p:xfrm>
          <a:off x="6005778" y="2489388"/>
          <a:ext cx="5919522" cy="38438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42963-B349-A16E-49AD-1C45DAA8F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686CF34-C42F-E71E-149C-4509171C2AA0}"/>
              </a:ext>
            </a:extLst>
          </p:cNvPr>
          <p:cNvCxnSpPr>
            <a:cxnSpLocks/>
          </p:cNvCxnSpPr>
          <p:nvPr/>
        </p:nvCxnSpPr>
        <p:spPr>
          <a:xfrm>
            <a:off x="285750" y="969232"/>
            <a:ext cx="11639550" cy="0"/>
          </a:xfrm>
          <a:prstGeom prst="line">
            <a:avLst/>
          </a:prstGeom>
          <a:noFill/>
          <a:ln w="38100" cap="flat" cmpd="sng" algn="ctr">
            <a:solidFill>
              <a:schemeClr val="accent5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A7089EB-3729-B5C2-042E-57FE220F53D0}"/>
              </a:ext>
            </a:extLst>
          </p:cNvPr>
          <p:cNvSpPr txBox="1"/>
          <p:nvPr/>
        </p:nvSpPr>
        <p:spPr>
          <a:xfrm>
            <a:off x="186003" y="262780"/>
            <a:ext cx="11639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b="1" dirty="0">
                <a:solidFill>
                  <a:srgbClr val="003366"/>
                </a:solidFill>
                <a:latin typeface="Georgia" pitchFamily="34" charset="0"/>
              </a:rPr>
              <a:t>Внедрение ИИ: </a:t>
            </a:r>
            <a:r>
              <a:rPr lang="en-US" sz="2000" b="1" dirty="0">
                <a:solidFill>
                  <a:srgbClr val="FF0000"/>
                </a:solidFill>
                <a:latin typeface="Georgia" pitchFamily="34" charset="0"/>
              </a:rPr>
              <a:t>ChatGPT </a:t>
            </a:r>
            <a:r>
              <a:rPr lang="en-US" sz="2000" b="1" dirty="0">
                <a:solidFill>
                  <a:srgbClr val="003366"/>
                </a:solidFill>
                <a:latin typeface="Georgia" pitchFamily="34" charset="0"/>
              </a:rPr>
              <a:t>выявляет глобальные разрывы — 25% интернет-пользователей в странах с высоким доходом против 10% в “ECA”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784D28-4A73-19B8-B0ED-932DE626313F}"/>
              </a:ext>
            </a:extLst>
          </p:cNvPr>
          <p:cNvSpPr txBox="1"/>
          <p:nvPr/>
        </p:nvSpPr>
        <p:spPr>
          <a:xfrm>
            <a:off x="235456" y="1009194"/>
            <a:ext cx="117637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В </a:t>
            </a:r>
            <a:r>
              <a:rPr lang="en-US" sz="1400" dirty="0" err="1">
                <a:solidFill>
                  <a:schemeClr val="tx2"/>
                </a:solidFill>
              </a:rPr>
              <a:t>апреле</a:t>
            </a:r>
            <a:r>
              <a:rPr lang="en-US" sz="1400" dirty="0">
                <a:solidFill>
                  <a:schemeClr val="tx2"/>
                </a:solidFill>
              </a:rPr>
              <a:t> 2025 г. ChatGPT </a:t>
            </a:r>
            <a:r>
              <a:rPr lang="en-US" sz="1400" dirty="0" err="1">
                <a:solidFill>
                  <a:schemeClr val="tx2"/>
                </a:solidFill>
              </a:rPr>
              <a:t>пользовались</a:t>
            </a:r>
            <a:r>
              <a:rPr lang="en-US" sz="1400" dirty="0">
                <a:solidFill>
                  <a:schemeClr val="tx2"/>
                </a:solidFill>
              </a:rPr>
              <a:t> 25% </a:t>
            </a:r>
            <a:r>
              <a:rPr lang="en-US" sz="1400" dirty="0" err="1">
                <a:solidFill>
                  <a:schemeClr val="tx2"/>
                </a:solidFill>
              </a:rPr>
              <a:t>интернет-пользователей</a:t>
            </a:r>
            <a:r>
              <a:rPr lang="en-US" sz="1400" dirty="0">
                <a:solidFill>
                  <a:schemeClr val="tx2"/>
                </a:solidFill>
              </a:rPr>
              <a:t> в </a:t>
            </a:r>
            <a:r>
              <a:rPr lang="en-US" sz="1400" dirty="0" err="1">
                <a:solidFill>
                  <a:schemeClr val="tx2"/>
                </a:solidFill>
              </a:rPr>
              <a:t>странах</a:t>
            </a:r>
            <a:r>
              <a:rPr lang="en-US" sz="1400" dirty="0">
                <a:solidFill>
                  <a:schemeClr val="tx2"/>
                </a:solidFill>
              </a:rPr>
              <a:t> с </a:t>
            </a:r>
            <a:r>
              <a:rPr lang="en-US" sz="1400" dirty="0" err="1">
                <a:solidFill>
                  <a:schemeClr val="tx2"/>
                </a:solidFill>
              </a:rPr>
              <a:t>высоким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доходом</a:t>
            </a:r>
            <a:r>
              <a:rPr lang="en-US" sz="1400" dirty="0">
                <a:solidFill>
                  <a:schemeClr val="tx2"/>
                </a:solidFill>
              </a:rPr>
              <a:t> (HIC) </a:t>
            </a:r>
            <a:r>
              <a:rPr lang="en-US" sz="1400" dirty="0" err="1">
                <a:solidFill>
                  <a:schemeClr val="tx2"/>
                </a:solidFill>
              </a:rPr>
              <a:t>против</a:t>
            </a:r>
            <a:r>
              <a:rPr lang="en-US" sz="1400" dirty="0">
                <a:solidFill>
                  <a:schemeClr val="tx2"/>
                </a:solidFill>
              </a:rPr>
              <a:t> 10% в </a:t>
            </a:r>
            <a:r>
              <a:rPr lang="en-US" sz="1400" dirty="0" err="1">
                <a:solidFill>
                  <a:schemeClr val="tx2"/>
                </a:solidFill>
              </a:rPr>
              <a:t>регионе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Европы</a:t>
            </a:r>
            <a:r>
              <a:rPr lang="en-US" sz="1400" dirty="0">
                <a:solidFill>
                  <a:schemeClr val="tx2"/>
                </a:solidFill>
              </a:rPr>
              <a:t> и </a:t>
            </a:r>
            <a:r>
              <a:rPr lang="en-US" sz="1400" dirty="0" err="1">
                <a:solidFill>
                  <a:schemeClr val="tx2"/>
                </a:solidFill>
              </a:rPr>
              <a:t>Центральной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Азии</a:t>
            </a:r>
            <a:r>
              <a:rPr lang="en-US" sz="1400" dirty="0">
                <a:solidFill>
                  <a:schemeClr val="tx2"/>
                </a:solidFill>
              </a:rPr>
              <a:t> — </a:t>
            </a:r>
            <a:r>
              <a:rPr lang="en-US" sz="1400" dirty="0" err="1">
                <a:solidFill>
                  <a:schemeClr val="tx2"/>
                </a:solidFill>
              </a:rPr>
              <a:t>существенный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разрыв</a:t>
            </a:r>
            <a:r>
              <a:rPr lang="en-US" sz="1400" dirty="0">
                <a:solidFill>
                  <a:schemeClr val="tx2"/>
                </a:solidFill>
              </a:rPr>
              <a:t> в </a:t>
            </a:r>
            <a:r>
              <a:rPr lang="en-US" sz="1400" dirty="0" err="1">
                <a:solidFill>
                  <a:schemeClr val="tx2"/>
                </a:solidFill>
              </a:rPr>
              <a:t>вовлечённости</a:t>
            </a:r>
            <a:r>
              <a:rPr lang="en-US" sz="1400" dirty="0">
                <a:solidFill>
                  <a:schemeClr val="tx2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2"/>
                </a:solidFill>
              </a:rPr>
              <a:t>Внутри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региона</a:t>
            </a:r>
            <a:r>
              <a:rPr lang="en-US" sz="1400" dirty="0">
                <a:solidFill>
                  <a:schemeClr val="tx2"/>
                </a:solidFill>
              </a:rPr>
              <a:t> ECA </a:t>
            </a:r>
            <a:r>
              <a:rPr lang="en-US" sz="1400" dirty="0" err="1">
                <a:solidFill>
                  <a:schemeClr val="tx2"/>
                </a:solidFill>
              </a:rPr>
              <a:t>лидирует</a:t>
            </a:r>
            <a:r>
              <a:rPr lang="en-US" sz="1400" dirty="0">
                <a:solidFill>
                  <a:schemeClr val="tx2"/>
                </a:solidFill>
              </a:rPr>
              <a:t> Сербия (28%), </a:t>
            </a:r>
            <a:r>
              <a:rPr lang="en-US" sz="1400" dirty="0" err="1">
                <a:solidFill>
                  <a:schemeClr val="tx2"/>
                </a:solidFill>
              </a:rPr>
              <a:t>опережая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средний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уровень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стран</a:t>
            </a:r>
            <a:r>
              <a:rPr lang="en-US" sz="1400" dirty="0">
                <a:solidFill>
                  <a:schemeClr val="tx2"/>
                </a:solidFill>
              </a:rPr>
              <a:t> с </a:t>
            </a:r>
            <a:r>
              <a:rPr lang="en-US" sz="1400" dirty="0" err="1">
                <a:solidFill>
                  <a:schemeClr val="tx2"/>
                </a:solidFill>
              </a:rPr>
              <a:t>высоким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доходом</a:t>
            </a:r>
            <a:r>
              <a:rPr lang="en-US" sz="1400" dirty="0">
                <a:solidFill>
                  <a:schemeClr val="tx2"/>
                </a:solidFill>
              </a:rPr>
              <a:t>; </a:t>
            </a:r>
            <a:r>
              <a:rPr lang="en-US" sz="1400" dirty="0" err="1">
                <a:solidFill>
                  <a:schemeClr val="tx2"/>
                </a:solidFill>
              </a:rPr>
              <a:t>заметное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распространение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отмечается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также</a:t>
            </a:r>
            <a:r>
              <a:rPr lang="en-US" sz="1400" dirty="0">
                <a:solidFill>
                  <a:schemeClr val="tx2"/>
                </a:solidFill>
              </a:rPr>
              <a:t> в </a:t>
            </a:r>
            <a:r>
              <a:rPr lang="en-US" sz="1400" dirty="0" err="1">
                <a:solidFill>
                  <a:schemeClr val="tx2"/>
                </a:solidFill>
              </a:rPr>
              <a:t>Грузии</a:t>
            </a:r>
            <a:r>
              <a:rPr lang="en-US" sz="1400" dirty="0">
                <a:solidFill>
                  <a:schemeClr val="tx2"/>
                </a:solidFill>
              </a:rPr>
              <a:t>, </a:t>
            </a:r>
            <a:r>
              <a:rPr lang="en-US" sz="1400" dirty="0" err="1">
                <a:solidFill>
                  <a:schemeClr val="tx2"/>
                </a:solidFill>
              </a:rPr>
              <a:t>Украине</a:t>
            </a:r>
            <a:r>
              <a:rPr lang="en-US" sz="1400" dirty="0">
                <a:solidFill>
                  <a:schemeClr val="tx2"/>
                </a:solidFill>
              </a:rPr>
              <a:t>, </a:t>
            </a:r>
            <a:r>
              <a:rPr lang="en-US" sz="1400" dirty="0" err="1">
                <a:solidFill>
                  <a:schemeClr val="tx2"/>
                </a:solidFill>
              </a:rPr>
              <a:t>Молдове</a:t>
            </a:r>
            <a:r>
              <a:rPr lang="en-US" sz="1400" dirty="0">
                <a:solidFill>
                  <a:schemeClr val="tx2"/>
                </a:solidFill>
              </a:rPr>
              <a:t>, </a:t>
            </a:r>
            <a:r>
              <a:rPr lang="en-US" sz="1400" dirty="0" err="1">
                <a:solidFill>
                  <a:schemeClr val="tx2"/>
                </a:solidFill>
              </a:rPr>
              <a:t>Турции</a:t>
            </a:r>
            <a:r>
              <a:rPr lang="en-US" sz="1400" dirty="0">
                <a:solidFill>
                  <a:schemeClr val="tx2"/>
                </a:solidFill>
              </a:rPr>
              <a:t> и </a:t>
            </a:r>
            <a:r>
              <a:rPr lang="en-US" sz="1400" dirty="0" err="1">
                <a:solidFill>
                  <a:schemeClr val="tx2"/>
                </a:solidFill>
              </a:rPr>
              <a:t>Черногории</a:t>
            </a:r>
            <a:r>
              <a:rPr lang="en-US" sz="1400" dirty="0">
                <a:solidFill>
                  <a:schemeClr val="tx2"/>
                </a:solidFill>
              </a:rPr>
              <a:t>. </a:t>
            </a:r>
            <a:r>
              <a:rPr lang="en-US" sz="1400" dirty="0" err="1">
                <a:solidFill>
                  <a:schemeClr val="tx2"/>
                </a:solidFill>
              </a:rPr>
              <a:t>При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этом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страны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Центральной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Азии</a:t>
            </a:r>
            <a:r>
              <a:rPr lang="en-US" sz="1400" dirty="0">
                <a:solidFill>
                  <a:schemeClr val="tx2"/>
                </a:solidFill>
              </a:rPr>
              <a:t> — </a:t>
            </a:r>
            <a:r>
              <a:rPr lang="en-US" sz="1400" dirty="0" err="1">
                <a:solidFill>
                  <a:schemeClr val="tx2"/>
                </a:solidFill>
              </a:rPr>
              <a:t>Узбекистан</a:t>
            </a:r>
            <a:r>
              <a:rPr lang="en-US" sz="1400" dirty="0">
                <a:solidFill>
                  <a:schemeClr val="tx2"/>
                </a:solidFill>
              </a:rPr>
              <a:t>, </a:t>
            </a:r>
            <a:r>
              <a:rPr lang="en-US" sz="1400" dirty="0" err="1">
                <a:solidFill>
                  <a:schemeClr val="tx2"/>
                </a:solidFill>
              </a:rPr>
              <a:t>Кыргызская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Республика</a:t>
            </a:r>
            <a:r>
              <a:rPr lang="en-US" sz="1400" dirty="0">
                <a:solidFill>
                  <a:schemeClr val="tx2"/>
                </a:solidFill>
              </a:rPr>
              <a:t> и </a:t>
            </a:r>
            <a:r>
              <a:rPr lang="en-US" sz="1400" dirty="0" err="1">
                <a:solidFill>
                  <a:schemeClr val="tx2"/>
                </a:solidFill>
              </a:rPr>
              <a:t>Казахстан</a:t>
            </a:r>
            <a:r>
              <a:rPr lang="en-US" sz="1400" dirty="0">
                <a:solidFill>
                  <a:schemeClr val="tx2"/>
                </a:solidFill>
              </a:rPr>
              <a:t> — </a:t>
            </a:r>
            <a:r>
              <a:rPr lang="en-US" sz="1400" dirty="0" err="1">
                <a:solidFill>
                  <a:schemeClr val="tx2"/>
                </a:solidFill>
              </a:rPr>
              <a:t>остаются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значительно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ниже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среднего</a:t>
            </a:r>
            <a:r>
              <a:rPr lang="en-US" sz="1400" dirty="0">
                <a:solidFill>
                  <a:schemeClr val="tx2"/>
                </a:solidFill>
              </a:rPr>
              <a:t> по </a:t>
            </a:r>
            <a:r>
              <a:rPr lang="en-US" sz="1400" dirty="0" err="1">
                <a:solidFill>
                  <a:schemeClr val="tx2"/>
                </a:solidFill>
              </a:rPr>
              <a:t>региону</a:t>
            </a:r>
            <a:r>
              <a:rPr lang="en-US" sz="1400" dirty="0">
                <a:solidFill>
                  <a:schemeClr val="tx2"/>
                </a:solidFill>
              </a:rPr>
              <a:t>, </a:t>
            </a:r>
            <a:r>
              <a:rPr lang="en-US" sz="1400" dirty="0" err="1">
                <a:solidFill>
                  <a:schemeClr val="tx2"/>
                </a:solidFill>
              </a:rPr>
              <a:t>что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подчёркивает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неравномерность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внедрения</a:t>
            </a:r>
            <a:r>
              <a:rPr lang="en-US" sz="1400" dirty="0">
                <a:solidFill>
                  <a:schemeClr val="tx2"/>
                </a:solidFill>
              </a:rPr>
              <a:t> 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519E4C-109D-1371-F619-B98211463232}"/>
              </a:ext>
            </a:extLst>
          </p:cNvPr>
          <p:cNvSpPr txBox="1"/>
          <p:nvPr/>
        </p:nvSpPr>
        <p:spPr>
          <a:xfrm>
            <a:off x="49756" y="6442172"/>
            <a:ext cx="113257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Примечание: названия регионов на рисунках относятся к странам с низким и средним доходом в соответствующем регионе. Все страны с высоким</a:t>
            </a:r>
            <a:r>
              <a:rPr lang="en-US" sz="1100"/>
              <a:t> доходом отнесены к группе «HIC».</a:t>
            </a:r>
            <a:endParaRPr lang="en-US" sz="11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F8A43E-C9F8-7F25-D09C-0DE33D08A8EF}"/>
              </a:ext>
            </a:extLst>
          </p:cNvPr>
          <p:cNvSpPr txBox="1"/>
          <p:nvPr/>
        </p:nvSpPr>
        <p:spPr>
          <a:xfrm>
            <a:off x="10741062" y="6215152"/>
            <a:ext cx="1268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/>
              <a:t>Источник: </a:t>
            </a:r>
            <a:r>
              <a:rPr lang="en-US" sz="1200" i="1" err="1"/>
              <a:t>SemRush</a:t>
            </a:r>
            <a:endParaRPr lang="en-US" sz="1200" i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EB7DF5-4F79-2ACB-DA6A-C8F673C0B7D7}"/>
              </a:ext>
            </a:extLst>
          </p:cNvPr>
          <p:cNvSpPr txBox="1"/>
          <p:nvPr/>
        </p:nvSpPr>
        <p:spPr>
          <a:xfrm>
            <a:off x="6761329" y="2489388"/>
            <a:ext cx="4409062" cy="35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68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rgbClr val="FF0000"/>
                </a:solidFill>
              </a:rPr>
              <a:t>Пользователи ChatGPT на интернет-пользователя,</a:t>
            </a:r>
            <a:r>
              <a:rPr lang="en-US" baseline="0" dirty="0">
                <a:solidFill>
                  <a:srgbClr val="FF0000"/>
                </a:solidFill>
              </a:rPr>
              <a:t> 2025 г.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E58B9E2-41D3-3B3C-4CB9-175375A698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5437839"/>
              </p:ext>
            </p:extLst>
          </p:nvPr>
        </p:nvGraphicFramePr>
        <p:xfrm>
          <a:off x="235456" y="2456433"/>
          <a:ext cx="58521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459982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A4C17-387E-AD46-3EB5-B4ECCAE2A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91F3F-BD9F-F2C8-AA36-F70C0A4FE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A4B5C-24E4-4229-B59B-FA89392FCE1E}" type="slidenum">
              <a:rPr lang="en-US" smtClean="0"/>
              <a:t>4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2C3A2A-D5DC-0429-FE92-D7D74A1C438F}"/>
              </a:ext>
            </a:extLst>
          </p:cNvPr>
          <p:cNvCxnSpPr>
            <a:cxnSpLocks/>
          </p:cNvCxnSpPr>
          <p:nvPr/>
        </p:nvCxnSpPr>
        <p:spPr>
          <a:xfrm>
            <a:off x="285750" y="969232"/>
            <a:ext cx="11639550" cy="0"/>
          </a:xfrm>
          <a:prstGeom prst="line">
            <a:avLst/>
          </a:prstGeom>
          <a:noFill/>
          <a:ln w="38100" cap="flat" cmpd="sng" algn="ctr">
            <a:solidFill>
              <a:schemeClr val="accent5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A041F1E-F364-B4F0-5C01-8C9E451AA0E1}"/>
              </a:ext>
            </a:extLst>
          </p:cNvPr>
          <p:cNvSpPr txBox="1"/>
          <p:nvPr/>
        </p:nvSpPr>
        <p:spPr>
          <a:xfrm>
            <a:off x="266700" y="120661"/>
            <a:ext cx="11639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b="1" dirty="0">
                <a:solidFill>
                  <a:srgbClr val="FF0000"/>
                </a:solidFill>
                <a:latin typeface="Georgia" pitchFamily="34" charset="0"/>
              </a:rPr>
              <a:t>Спрос на цифровые навыки </a:t>
            </a:r>
            <a:r>
              <a:rPr lang="en-US" sz="2000" b="1" dirty="0">
                <a:solidFill>
                  <a:srgbClr val="003366"/>
                </a:solidFill>
                <a:latin typeface="Georgia" pitchFamily="34" charset="0"/>
              </a:rPr>
              <a:t>в вакансиях региона ECA остаётся умеренным: лидируют Сербия и Туркменистан, а навыки в области ИИ и генеративного ИИ пока только формируются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022A3D-5529-6A24-0BB6-8C3C891F1B29}"/>
              </a:ext>
            </a:extLst>
          </p:cNvPr>
          <p:cNvSpPr txBox="1"/>
          <p:nvPr/>
        </p:nvSpPr>
        <p:spPr>
          <a:xfrm>
            <a:off x="266700" y="1013795"/>
            <a:ext cx="117637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2"/>
                </a:solidFill>
              </a:rPr>
              <a:t>Спрос на цифровые навыки в вакансиях остаётся умеренным в большинстве стран региона ECA — как правило, около или ниже 10%. Сербия (32%) и Туркменистан (19%) заметно выделяются более высокой долей вакансий, требующих как минимум среднего уровня цифровых навыков в 2024 г., что говорит о более высоком спросе на цифрово подготовленных работников.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2"/>
                </a:solidFill>
              </a:rPr>
              <a:t>Спрос на навыки в области ИИ также ограничен — как правило, ниже 3%; самые высокие доли в Узбекистане (2,9%), Сербии (2,8%) и Кыргызской Республике (2,5%). Навыки генеративного ИИ упоминаются редко — менее чем в 0,5% вакансий по региону.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784DC8-B1EA-F2DF-8AC4-755CD2DA0C16}"/>
              </a:ext>
            </a:extLst>
          </p:cNvPr>
          <p:cNvSpPr txBox="1"/>
          <p:nvPr/>
        </p:nvSpPr>
        <p:spPr>
          <a:xfrm>
            <a:off x="10178903" y="6135519"/>
            <a:ext cx="1909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/>
              <a:t>Источник: </a:t>
            </a:r>
            <a:r>
              <a:rPr lang="en-US" sz="1200" i="1" err="1"/>
              <a:t>Lightcast</a:t>
            </a:r>
            <a:endParaRPr lang="en-US" sz="1200" i="1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BB3D8660-D514-D502-D20F-A46DC9A0DFD5}"/>
              </a:ext>
            </a:extLst>
          </p:cNvPr>
          <p:cNvGraphicFramePr>
            <a:graphicFrameLocks/>
          </p:cNvGraphicFramePr>
          <p:nvPr/>
        </p:nvGraphicFramePr>
        <p:xfrm>
          <a:off x="475510" y="2181660"/>
          <a:ext cx="6004118" cy="44446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A1C637F-CE5B-8F5F-B7BA-3A1BA475C4F7}"/>
              </a:ext>
            </a:extLst>
          </p:cNvPr>
          <p:cNvSpPr txBox="1"/>
          <p:nvPr/>
        </p:nvSpPr>
        <p:spPr>
          <a:xfrm>
            <a:off x="1655503" y="2185521"/>
            <a:ext cx="4346591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68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Вакансии</a:t>
            </a:r>
            <a:r>
              <a:rPr lang="en-US" dirty="0"/>
              <a:t> с </a:t>
            </a:r>
            <a:r>
              <a:rPr lang="ru-RU" dirty="0"/>
              <a:t>требованием </a:t>
            </a:r>
            <a:r>
              <a:rPr lang="en-US" dirty="0" err="1"/>
              <a:t>средни</a:t>
            </a:r>
            <a:r>
              <a:rPr lang="ru-RU" dirty="0"/>
              <a:t>х</a:t>
            </a:r>
            <a:r>
              <a:rPr lang="en-US" dirty="0"/>
              <a:t> и </a:t>
            </a:r>
            <a:r>
              <a:rPr lang="en-US" dirty="0" err="1">
                <a:solidFill>
                  <a:srgbClr val="FF0000"/>
                </a:solidFill>
              </a:rPr>
              <a:t>продвинуты</a:t>
            </a:r>
            <a:r>
              <a:rPr lang="ru-RU" dirty="0">
                <a:solidFill>
                  <a:srgbClr val="FF0000"/>
                </a:solidFill>
              </a:rPr>
              <a:t>х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уровне</a:t>
            </a:r>
            <a:r>
              <a:rPr lang="ru-RU" dirty="0">
                <a:solidFill>
                  <a:srgbClr val="FF0000"/>
                </a:solidFill>
              </a:rPr>
              <a:t>й</a:t>
            </a:r>
            <a:r>
              <a:rPr lang="en-US" dirty="0">
                <a:solidFill>
                  <a:srgbClr val="FF0000"/>
                </a:solidFill>
              </a:rPr>
              <a:t> цифровых навыков</a:t>
            </a:r>
            <a:r>
              <a:rPr lang="en-US" dirty="0"/>
              <a:t>, 2024 г.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9C77E226-FA51-AC2A-9D10-4B37A63FEF37}"/>
              </a:ext>
            </a:extLst>
          </p:cNvPr>
          <p:cNvGraphicFramePr>
            <a:graphicFrameLocks/>
          </p:cNvGraphicFramePr>
          <p:nvPr/>
        </p:nvGraphicFramePr>
        <p:xfrm>
          <a:off x="6230090" y="2181660"/>
          <a:ext cx="5769076" cy="42308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AE17F25B-D375-A5C3-F761-B48EF8721900}"/>
              </a:ext>
            </a:extLst>
          </p:cNvPr>
          <p:cNvSpPr txBox="1"/>
          <p:nvPr/>
        </p:nvSpPr>
        <p:spPr>
          <a:xfrm>
            <a:off x="6230090" y="2244326"/>
            <a:ext cx="6138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68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800" b="0" i="0" u="none" strike="noStrike" kern="1200" spc="0" baseline="0" dirty="0">
                <a:solidFill>
                  <a:sysClr val="windowText" lastClr="000000"/>
                </a:solidFill>
              </a:rPr>
              <a:t>Вакансии с навыками </a:t>
            </a:r>
            <a:r>
              <a:rPr lang="en-US" sz="1800" b="0" i="0" u="none" strike="noStrike" kern="1200" spc="0" baseline="0" dirty="0">
                <a:solidFill>
                  <a:srgbClr val="FF0000"/>
                </a:solidFill>
              </a:rPr>
              <a:t>ИИ и генеративного ИИ</a:t>
            </a:r>
            <a:r>
              <a:rPr lang="en-US" sz="1800" b="0" i="0" u="none" strike="noStrike" kern="1200" spc="0" baseline="0" dirty="0">
                <a:solidFill>
                  <a:sysClr val="windowText" lastClr="000000"/>
                </a:solidFill>
              </a:rPr>
              <a:t>, 2024 г.</a:t>
            </a:r>
          </a:p>
        </p:txBody>
      </p:sp>
    </p:spTree>
    <p:extLst>
      <p:ext uri="{BB962C8B-B14F-4D97-AF65-F5344CB8AC3E}">
        <p14:creationId xmlns:p14="http://schemas.microsoft.com/office/powerpoint/2010/main" val="727940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7083E-3EBB-41EF-8B4E-D1793C00B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AE1AB-1C99-0BBA-BE54-115877A5B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43C4F13-8D8D-9BAF-79B1-4468888233C5}"/>
              </a:ext>
            </a:extLst>
          </p:cNvPr>
          <p:cNvCxnSpPr>
            <a:cxnSpLocks/>
          </p:cNvCxnSpPr>
          <p:nvPr/>
        </p:nvCxnSpPr>
        <p:spPr>
          <a:xfrm>
            <a:off x="285750" y="969232"/>
            <a:ext cx="11639550" cy="0"/>
          </a:xfrm>
          <a:prstGeom prst="line">
            <a:avLst/>
          </a:prstGeom>
          <a:noFill/>
          <a:ln w="38100" cap="flat" cmpd="sng" algn="ctr">
            <a:solidFill>
              <a:schemeClr val="accent5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0DAEE6E-9EBF-7CA6-C6DA-1F52ACF3C76B}"/>
              </a:ext>
            </a:extLst>
          </p:cNvPr>
          <p:cNvSpPr txBox="1"/>
          <p:nvPr/>
        </p:nvSpPr>
        <p:spPr>
          <a:xfrm>
            <a:off x="276225" y="58022"/>
            <a:ext cx="1163955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b="1" dirty="0">
                <a:solidFill>
                  <a:srgbClr val="FF0000"/>
                </a:solidFill>
                <a:latin typeface="Georgia" pitchFamily="34" charset="0"/>
              </a:rPr>
              <a:t>Инновации в </a:t>
            </a:r>
            <a:r>
              <a:rPr lang="en-US" sz="2000" b="1" dirty="0" err="1">
                <a:solidFill>
                  <a:srgbClr val="FF0000"/>
                </a:solidFill>
                <a:latin typeface="Georgia" pitchFamily="34" charset="0"/>
              </a:rPr>
              <a:t>сфере</a:t>
            </a:r>
            <a:r>
              <a:rPr lang="en-US" sz="2000" b="1" dirty="0">
                <a:solidFill>
                  <a:srgbClr val="FF0000"/>
                </a:solidFill>
                <a:latin typeface="Georgia" pitchFamily="34" charset="0"/>
              </a:rPr>
              <a:t> ИИ</a:t>
            </a:r>
            <a:r>
              <a:rPr lang="en-US" sz="2000" b="1" dirty="0">
                <a:solidFill>
                  <a:srgbClr val="003366"/>
                </a:solidFill>
                <a:latin typeface="Georgia" pitchFamily="34" charset="0"/>
              </a:rPr>
              <a:t>: менее 1% мировых ИИ-стартапов и 0,1% </a:t>
            </a:r>
            <a:r>
              <a:rPr lang="en-US" sz="2000" b="1" dirty="0" err="1">
                <a:solidFill>
                  <a:srgbClr val="003366"/>
                </a:solidFill>
                <a:latin typeface="Georgia" pitchFamily="34" charset="0"/>
              </a:rPr>
              <a:t>венчурного</a:t>
            </a:r>
            <a:r>
              <a:rPr lang="en-US" sz="2000" b="1" dirty="0">
                <a:solidFill>
                  <a:srgbClr val="003366"/>
                </a:solidFill>
                <a:latin typeface="Georgia" pitchFamily="34" charset="0"/>
              </a:rPr>
              <a:t> </a:t>
            </a:r>
            <a:r>
              <a:rPr lang="en-US" sz="2000" b="1" dirty="0" err="1">
                <a:solidFill>
                  <a:srgbClr val="003366"/>
                </a:solidFill>
                <a:latin typeface="Georgia" pitchFamily="34" charset="0"/>
              </a:rPr>
              <a:t>финансирования</a:t>
            </a:r>
            <a:endParaRPr lang="en-US" sz="2000" b="1" dirty="0">
              <a:solidFill>
                <a:srgbClr val="003366"/>
              </a:solidFill>
              <a:latin typeface="Georgia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983F6D-01AF-49C3-0A65-AB94262E303E}"/>
              </a:ext>
            </a:extLst>
          </p:cNvPr>
          <p:cNvSpPr txBox="1"/>
          <p:nvPr/>
        </p:nvSpPr>
        <p:spPr>
          <a:xfrm>
            <a:off x="235456" y="1118748"/>
            <a:ext cx="117637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2"/>
                </a:solidFill>
              </a:rPr>
              <a:t>На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регион</a:t>
            </a:r>
            <a:r>
              <a:rPr lang="en-US" sz="1400" dirty="0">
                <a:solidFill>
                  <a:schemeClr val="tx2"/>
                </a:solidFill>
              </a:rPr>
              <a:t> ECA </a:t>
            </a:r>
            <a:r>
              <a:rPr lang="en-US" sz="1400" dirty="0" err="1">
                <a:solidFill>
                  <a:schemeClr val="tx2"/>
                </a:solidFill>
              </a:rPr>
              <a:t>приходится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всего</a:t>
            </a:r>
            <a:r>
              <a:rPr lang="en-US" sz="1400" dirty="0">
                <a:solidFill>
                  <a:schemeClr val="tx2"/>
                </a:solidFill>
              </a:rPr>
              <a:t> 0,9% </a:t>
            </a:r>
            <a:r>
              <a:rPr lang="en-US" sz="1400" dirty="0" err="1">
                <a:solidFill>
                  <a:schemeClr val="tx2"/>
                </a:solidFill>
              </a:rPr>
              <a:t>мировых</a:t>
            </a:r>
            <a:r>
              <a:rPr lang="en-US" sz="1400" dirty="0">
                <a:solidFill>
                  <a:schemeClr val="tx2"/>
                </a:solidFill>
              </a:rPr>
              <a:t> ИИ-</a:t>
            </a:r>
            <a:r>
              <a:rPr lang="en-US" sz="1400" dirty="0" err="1">
                <a:solidFill>
                  <a:schemeClr val="tx2"/>
                </a:solidFill>
              </a:rPr>
              <a:t>стартапов</a:t>
            </a:r>
            <a:r>
              <a:rPr lang="en-US" sz="1400" dirty="0">
                <a:solidFill>
                  <a:schemeClr val="tx2"/>
                </a:solidFill>
              </a:rPr>
              <a:t> и 0,1% </a:t>
            </a:r>
            <a:r>
              <a:rPr lang="en-US" sz="1400" dirty="0" err="1">
                <a:solidFill>
                  <a:schemeClr val="tx2"/>
                </a:solidFill>
              </a:rPr>
              <a:t>мирового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венчурного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финансирования</a:t>
            </a:r>
            <a:r>
              <a:rPr lang="en-US" sz="1400" dirty="0">
                <a:solidFill>
                  <a:schemeClr val="tx2"/>
                </a:solidFill>
              </a:rPr>
              <a:t>, </a:t>
            </a:r>
            <a:r>
              <a:rPr lang="en-US" sz="1400" dirty="0" err="1">
                <a:solidFill>
                  <a:schemeClr val="tx2"/>
                </a:solidFill>
              </a:rPr>
              <a:t>что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подчёркивает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ограниченную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роль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региона</a:t>
            </a:r>
            <a:r>
              <a:rPr lang="en-US" sz="1400" dirty="0">
                <a:solidFill>
                  <a:schemeClr val="tx2"/>
                </a:solidFill>
              </a:rPr>
              <a:t> в </a:t>
            </a:r>
            <a:r>
              <a:rPr lang="en-US" sz="1400" dirty="0" err="1">
                <a:solidFill>
                  <a:schemeClr val="tx2"/>
                </a:solidFill>
              </a:rPr>
              <a:t>глобальной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экосистеме</a:t>
            </a:r>
            <a:r>
              <a:rPr lang="en-US" sz="1400" dirty="0">
                <a:solidFill>
                  <a:schemeClr val="tx2"/>
                </a:solidFill>
              </a:rPr>
              <a:t> ИИ-</a:t>
            </a:r>
            <a:r>
              <a:rPr lang="en-US" sz="1400" dirty="0" err="1">
                <a:solidFill>
                  <a:schemeClr val="tx2"/>
                </a:solidFill>
              </a:rPr>
              <a:t>стартапов</a:t>
            </a:r>
            <a:r>
              <a:rPr lang="en-US" sz="1400" dirty="0">
                <a:solidFill>
                  <a:schemeClr val="tx2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2"/>
                </a:solidFill>
              </a:rPr>
              <a:t>Финансирование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ещё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более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неравномерно</a:t>
            </a:r>
            <a:r>
              <a:rPr lang="en-US" sz="1400" dirty="0">
                <a:solidFill>
                  <a:schemeClr val="tx2"/>
                </a:solidFill>
              </a:rPr>
              <a:t>: </a:t>
            </a:r>
            <a:r>
              <a:rPr lang="en-US" sz="1400" dirty="0" err="1">
                <a:solidFill>
                  <a:schemeClr val="tx2"/>
                </a:solidFill>
              </a:rPr>
              <a:t>доминирует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Турция</a:t>
            </a:r>
            <a:r>
              <a:rPr lang="en-US" sz="1400" dirty="0">
                <a:solidFill>
                  <a:schemeClr val="tx2"/>
                </a:solidFill>
              </a:rPr>
              <a:t> (880 </a:t>
            </a:r>
            <a:r>
              <a:rPr lang="en-US" sz="1400" dirty="0" err="1">
                <a:solidFill>
                  <a:schemeClr val="tx2"/>
                </a:solidFill>
              </a:rPr>
              <a:t>млн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долл</a:t>
            </a:r>
            <a:r>
              <a:rPr lang="en-US" sz="1400" dirty="0">
                <a:solidFill>
                  <a:schemeClr val="tx2"/>
                </a:solidFill>
              </a:rPr>
              <a:t>., </a:t>
            </a:r>
            <a:r>
              <a:rPr lang="en-US" sz="1400" dirty="0" err="1">
                <a:solidFill>
                  <a:schemeClr val="tx2"/>
                </a:solidFill>
              </a:rPr>
              <a:t>более</a:t>
            </a:r>
            <a:r>
              <a:rPr lang="en-US" sz="1400" dirty="0">
                <a:solidFill>
                  <a:schemeClr val="tx2"/>
                </a:solidFill>
              </a:rPr>
              <a:t> 90% </a:t>
            </a:r>
            <a:r>
              <a:rPr lang="en-US" sz="1400" dirty="0" err="1">
                <a:solidFill>
                  <a:schemeClr val="tx2"/>
                </a:solidFill>
              </a:rPr>
              <a:t>регионального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объёма</a:t>
            </a:r>
            <a:r>
              <a:rPr lang="en-US" sz="1400" dirty="0">
                <a:solidFill>
                  <a:schemeClr val="tx2"/>
                </a:solidFill>
              </a:rPr>
              <a:t>), </a:t>
            </a:r>
            <a:r>
              <a:rPr lang="en-US" sz="1400" dirty="0" err="1">
                <a:solidFill>
                  <a:schemeClr val="tx2"/>
                </a:solidFill>
              </a:rPr>
              <a:t>далее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Украина</a:t>
            </a:r>
            <a:r>
              <a:rPr lang="en-US" sz="1400" dirty="0">
                <a:solidFill>
                  <a:schemeClr val="tx2"/>
                </a:solidFill>
              </a:rPr>
              <a:t> (14,6 </a:t>
            </a:r>
            <a:r>
              <a:rPr lang="en-US" sz="1400" dirty="0" err="1">
                <a:solidFill>
                  <a:schemeClr val="tx2"/>
                </a:solidFill>
              </a:rPr>
              <a:t>млн</a:t>
            </a:r>
            <a:r>
              <a:rPr lang="en-US" sz="1400" dirty="0">
                <a:solidFill>
                  <a:schemeClr val="tx2"/>
                </a:solidFill>
              </a:rPr>
              <a:t>) и </a:t>
            </a:r>
            <a:r>
              <a:rPr lang="en-US" sz="1400" dirty="0" err="1">
                <a:solidFill>
                  <a:schemeClr val="tx2"/>
                </a:solidFill>
              </a:rPr>
              <a:t>Армения</a:t>
            </a:r>
            <a:r>
              <a:rPr lang="en-US" sz="1400" dirty="0">
                <a:solidFill>
                  <a:schemeClr val="tx2"/>
                </a:solidFill>
              </a:rPr>
              <a:t> (12,3 </a:t>
            </a:r>
            <a:r>
              <a:rPr lang="en-US" sz="1400" dirty="0" err="1">
                <a:solidFill>
                  <a:schemeClr val="tx2"/>
                </a:solidFill>
              </a:rPr>
              <a:t>млн</a:t>
            </a:r>
            <a:r>
              <a:rPr lang="en-US" sz="1400" dirty="0">
                <a:solidFill>
                  <a:schemeClr val="tx2"/>
                </a:solidFill>
              </a:rPr>
              <a:t>); </a:t>
            </a:r>
            <a:r>
              <a:rPr lang="en-US" sz="1400" dirty="0" err="1">
                <a:solidFill>
                  <a:schemeClr val="tx2"/>
                </a:solidFill>
              </a:rPr>
              <a:t>большинство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остальных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получают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менее</a:t>
            </a:r>
            <a:r>
              <a:rPr lang="en-US" sz="1400" dirty="0">
                <a:solidFill>
                  <a:schemeClr val="tx2"/>
                </a:solidFill>
              </a:rPr>
              <a:t> 1 </a:t>
            </a:r>
            <a:r>
              <a:rPr lang="en-US" sz="1400" dirty="0" err="1">
                <a:solidFill>
                  <a:schemeClr val="tx2"/>
                </a:solidFill>
              </a:rPr>
              <a:t>млн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долл</a:t>
            </a:r>
            <a:r>
              <a:rPr lang="en-US" sz="1400" dirty="0">
                <a:solidFill>
                  <a:schemeClr val="tx2"/>
                </a:solidFill>
              </a:rPr>
              <a:t>. — </a:t>
            </a:r>
            <a:r>
              <a:rPr lang="en-US" sz="1400" dirty="0" err="1">
                <a:solidFill>
                  <a:schemeClr val="tx2"/>
                </a:solidFill>
              </a:rPr>
              <a:t>ранняя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стадия</a:t>
            </a:r>
            <a:r>
              <a:rPr lang="en-US" sz="1400" dirty="0">
                <a:solidFill>
                  <a:schemeClr val="tx2"/>
                </a:solidFill>
              </a:rPr>
              <a:t> и </a:t>
            </a:r>
            <a:r>
              <a:rPr lang="en-US" sz="1400" dirty="0" err="1">
                <a:solidFill>
                  <a:schemeClr val="tx2"/>
                </a:solidFill>
              </a:rPr>
              <a:t>фрагментированность</a:t>
            </a:r>
            <a:r>
              <a:rPr lang="en-US" sz="1400" dirty="0">
                <a:solidFill>
                  <a:schemeClr val="tx2"/>
                </a:solidFill>
              </a:rPr>
              <a:t> ИИ-</a:t>
            </a:r>
            <a:r>
              <a:rPr lang="en-US" sz="1400" dirty="0" err="1">
                <a:solidFill>
                  <a:schemeClr val="tx2"/>
                </a:solidFill>
              </a:rPr>
              <a:t>экосистем</a:t>
            </a:r>
            <a:r>
              <a:rPr lang="en-US" sz="1400" dirty="0">
                <a:solidFill>
                  <a:schemeClr val="tx2"/>
                </a:solidFill>
              </a:rPr>
              <a:t>.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70B264E3-BF60-4282-A579-FD0C7A1BBB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2036350"/>
              </p:ext>
            </p:extLst>
          </p:nvPr>
        </p:nvGraphicFramePr>
        <p:xfrm>
          <a:off x="446970" y="2547419"/>
          <a:ext cx="5723362" cy="38510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684BCC20-7B93-4DA7-9074-4E4DDDC4F1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9766966"/>
              </p:ext>
            </p:extLst>
          </p:nvPr>
        </p:nvGraphicFramePr>
        <p:xfrm>
          <a:off x="6346943" y="2502568"/>
          <a:ext cx="5486400" cy="38510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C3404D4-9C03-06D6-2DA5-168F86D7C92D}"/>
              </a:ext>
            </a:extLst>
          </p:cNvPr>
          <p:cNvSpPr txBox="1"/>
          <p:nvPr/>
        </p:nvSpPr>
        <p:spPr>
          <a:xfrm>
            <a:off x="10426996" y="6215152"/>
            <a:ext cx="15829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/>
              <a:t>Источник: CB Insights </a:t>
            </a:r>
          </a:p>
        </p:txBody>
      </p:sp>
    </p:spTree>
    <p:extLst>
      <p:ext uri="{BB962C8B-B14F-4D97-AF65-F5344CB8AC3E}">
        <p14:creationId xmlns:p14="http://schemas.microsoft.com/office/powerpoint/2010/main" val="467710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C5A4FA0D-3AC8-6C1D-27AC-06D6DF60379F}"/>
              </a:ext>
            </a:extLst>
          </p:cNvPr>
          <p:cNvGrpSpPr/>
          <p:nvPr/>
        </p:nvGrpSpPr>
        <p:grpSpPr>
          <a:xfrm>
            <a:off x="655713" y="183713"/>
            <a:ext cx="10880573" cy="1378020"/>
            <a:chOff x="1803431" y="815615"/>
            <a:chExt cx="10880573" cy="1378020"/>
          </a:xfrm>
        </p:grpSpPr>
        <p:sp>
          <p:nvSpPr>
            <p:cNvPr id="12" name="Rectangle 3">
              <a:extLst>
                <a:ext uri="{FF2B5EF4-FFF2-40B4-BE49-F238E27FC236}">
                  <a16:creationId xmlns:a16="http://schemas.microsoft.com/office/drawing/2014/main" id="{F17044CD-82CD-C65F-67AC-516C765FCE21}"/>
                </a:ext>
              </a:extLst>
            </p:cNvPr>
            <p:cNvSpPr/>
            <p:nvPr/>
          </p:nvSpPr>
          <p:spPr>
            <a:xfrm>
              <a:off x="1803431" y="1023135"/>
              <a:ext cx="10880573" cy="1170500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boto Condensed"/>
                <a:ea typeface="+mn-ea"/>
                <a:cs typeface="Roboto Condensed"/>
              </a:endParaRPr>
            </a:p>
          </p:txBody>
        </p:sp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26C13206-F370-1D32-4A32-CB291D1A32D1}"/>
                </a:ext>
              </a:extLst>
            </p:cNvPr>
            <p:cNvSpPr txBox="1">
              <a:spLocks/>
            </p:cNvSpPr>
            <p:nvPr/>
          </p:nvSpPr>
          <p:spPr>
            <a:xfrm>
              <a:off x="2026589" y="1161383"/>
              <a:ext cx="9275903" cy="815955"/>
            </a:xfrm>
            <a:prstGeom prst="rect">
              <a:avLst/>
            </a:prstGeom>
          </p:spPr>
          <p:txBody>
            <a:bodyPr lIns="96012" tIns="48006" rIns="96012" bIns="48006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GB" sz="2800" b="1" dirty="0">
                  <a:solidFill>
                    <a:srgbClr val="D97706"/>
                  </a:solidFill>
                  <a:latin typeface="Avenir Book" panose="02000503020000020003" pitchFamily="2" charset="0"/>
                  <a:ea typeface="Tw Cen MT Condensed Extra Bold" charset="0"/>
                  <a:cs typeface="Tw Cen MT Condensed Extra Bold" charset="0"/>
                </a:rPr>
                <a:t>Экосистемы ИИ в Центральной Азии </a:t>
              </a:r>
              <a:r>
                <a:rPr lang="en-GB" sz="2800" b="1" dirty="0">
                  <a:solidFill>
                    <a:schemeClr val="bg1"/>
                  </a:solidFill>
                  <a:latin typeface="Avenir Book" panose="02000503020000020003" pitchFamily="2" charset="0"/>
                  <a:ea typeface="Tw Cen MT Condensed Extra Bold" charset="0"/>
                  <a:cs typeface="Tw Cen MT Condensed Extra Bold" charset="0"/>
                </a:rPr>
                <a:t>растут</a:t>
              </a:r>
            </a:p>
          </p:txBody>
        </p:sp>
        <p:pic>
          <p:nvPicPr>
            <p:cNvPr id="14" name="Picture 7">
              <a:extLst>
                <a:ext uri="{FF2B5EF4-FFF2-40B4-BE49-F238E27FC236}">
                  <a16:creationId xmlns:a16="http://schemas.microsoft.com/office/drawing/2014/main" id="{ADFE5C3E-31E4-25E7-EB99-E672E4C80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302492" y="815615"/>
              <a:ext cx="1369020" cy="1369020"/>
            </a:xfrm>
            <a:prstGeom prst="rect">
              <a:avLst/>
            </a:prstGeom>
          </p:spPr>
        </p:pic>
      </p:grpSp>
      <p:sp>
        <p:nvSpPr>
          <p:cNvPr id="2" name="Freeform 101">
            <a:extLst>
              <a:ext uri="{FF2B5EF4-FFF2-40B4-BE49-F238E27FC236}">
                <a16:creationId xmlns:a16="http://schemas.microsoft.com/office/drawing/2014/main" id="{2AF94056-DA4E-4EDB-5CC5-8984D0CE22D9}"/>
              </a:ext>
            </a:extLst>
          </p:cNvPr>
          <p:cNvSpPr>
            <a:spLocks/>
          </p:cNvSpPr>
          <p:nvPr/>
        </p:nvSpPr>
        <p:spPr bwMode="gray">
          <a:xfrm>
            <a:off x="690791" y="2058711"/>
            <a:ext cx="1917524" cy="867464"/>
          </a:xfrm>
          <a:custGeom>
            <a:avLst/>
            <a:gdLst>
              <a:gd name="T0" fmla="*/ 94 w 640"/>
              <a:gd name="T1" fmla="*/ 260 h 298"/>
              <a:gd name="T2" fmla="*/ 66 w 640"/>
              <a:gd name="T3" fmla="*/ 234 h 298"/>
              <a:gd name="T4" fmla="*/ 64 w 640"/>
              <a:gd name="T5" fmla="*/ 220 h 298"/>
              <a:gd name="T6" fmla="*/ 76 w 640"/>
              <a:gd name="T7" fmla="*/ 210 h 298"/>
              <a:gd name="T8" fmla="*/ 94 w 640"/>
              <a:gd name="T9" fmla="*/ 208 h 298"/>
              <a:gd name="T10" fmla="*/ 108 w 640"/>
              <a:gd name="T11" fmla="*/ 196 h 298"/>
              <a:gd name="T12" fmla="*/ 82 w 640"/>
              <a:gd name="T13" fmla="*/ 176 h 298"/>
              <a:gd name="T14" fmla="*/ 40 w 640"/>
              <a:gd name="T15" fmla="*/ 188 h 298"/>
              <a:gd name="T16" fmla="*/ 24 w 640"/>
              <a:gd name="T17" fmla="*/ 158 h 298"/>
              <a:gd name="T18" fmla="*/ 0 w 640"/>
              <a:gd name="T19" fmla="*/ 140 h 298"/>
              <a:gd name="T20" fmla="*/ 18 w 640"/>
              <a:gd name="T21" fmla="*/ 102 h 298"/>
              <a:gd name="T22" fmla="*/ 34 w 640"/>
              <a:gd name="T23" fmla="*/ 114 h 298"/>
              <a:gd name="T24" fmla="*/ 60 w 640"/>
              <a:gd name="T25" fmla="*/ 84 h 298"/>
              <a:gd name="T26" fmla="*/ 112 w 640"/>
              <a:gd name="T27" fmla="*/ 84 h 298"/>
              <a:gd name="T28" fmla="*/ 150 w 640"/>
              <a:gd name="T29" fmla="*/ 100 h 298"/>
              <a:gd name="T30" fmla="*/ 190 w 640"/>
              <a:gd name="T31" fmla="*/ 90 h 298"/>
              <a:gd name="T32" fmla="*/ 226 w 640"/>
              <a:gd name="T33" fmla="*/ 98 h 298"/>
              <a:gd name="T34" fmla="*/ 228 w 640"/>
              <a:gd name="T35" fmla="*/ 80 h 298"/>
              <a:gd name="T36" fmla="*/ 220 w 640"/>
              <a:gd name="T37" fmla="*/ 68 h 298"/>
              <a:gd name="T38" fmla="*/ 228 w 640"/>
              <a:gd name="T39" fmla="*/ 52 h 298"/>
              <a:gd name="T40" fmla="*/ 236 w 640"/>
              <a:gd name="T41" fmla="*/ 40 h 298"/>
              <a:gd name="T42" fmla="*/ 254 w 640"/>
              <a:gd name="T43" fmla="*/ 28 h 298"/>
              <a:gd name="T44" fmla="*/ 316 w 640"/>
              <a:gd name="T45" fmla="*/ 10 h 298"/>
              <a:gd name="T46" fmla="*/ 364 w 640"/>
              <a:gd name="T47" fmla="*/ 0 h 298"/>
              <a:gd name="T48" fmla="*/ 388 w 640"/>
              <a:gd name="T49" fmla="*/ 16 h 298"/>
              <a:gd name="T50" fmla="*/ 418 w 640"/>
              <a:gd name="T51" fmla="*/ 28 h 298"/>
              <a:gd name="T52" fmla="*/ 456 w 640"/>
              <a:gd name="T53" fmla="*/ 28 h 298"/>
              <a:gd name="T54" fmla="*/ 480 w 640"/>
              <a:gd name="T55" fmla="*/ 32 h 298"/>
              <a:gd name="T56" fmla="*/ 510 w 640"/>
              <a:gd name="T57" fmla="*/ 60 h 298"/>
              <a:gd name="T58" fmla="*/ 528 w 640"/>
              <a:gd name="T59" fmla="*/ 92 h 298"/>
              <a:gd name="T60" fmla="*/ 540 w 640"/>
              <a:gd name="T61" fmla="*/ 84 h 298"/>
              <a:gd name="T62" fmla="*/ 562 w 640"/>
              <a:gd name="T63" fmla="*/ 96 h 298"/>
              <a:gd name="T64" fmla="*/ 590 w 640"/>
              <a:gd name="T65" fmla="*/ 92 h 298"/>
              <a:gd name="T66" fmla="*/ 614 w 640"/>
              <a:gd name="T67" fmla="*/ 116 h 298"/>
              <a:gd name="T68" fmla="*/ 640 w 640"/>
              <a:gd name="T69" fmla="*/ 132 h 298"/>
              <a:gd name="T70" fmla="*/ 626 w 640"/>
              <a:gd name="T71" fmla="*/ 142 h 298"/>
              <a:gd name="T72" fmla="*/ 622 w 640"/>
              <a:gd name="T73" fmla="*/ 170 h 298"/>
              <a:gd name="T74" fmla="*/ 596 w 640"/>
              <a:gd name="T75" fmla="*/ 172 h 298"/>
              <a:gd name="T76" fmla="*/ 570 w 640"/>
              <a:gd name="T77" fmla="*/ 194 h 298"/>
              <a:gd name="T78" fmla="*/ 548 w 640"/>
              <a:gd name="T79" fmla="*/ 208 h 298"/>
              <a:gd name="T80" fmla="*/ 538 w 640"/>
              <a:gd name="T81" fmla="*/ 232 h 298"/>
              <a:gd name="T82" fmla="*/ 536 w 640"/>
              <a:gd name="T83" fmla="*/ 256 h 298"/>
              <a:gd name="T84" fmla="*/ 526 w 640"/>
              <a:gd name="T85" fmla="*/ 262 h 298"/>
              <a:gd name="T86" fmla="*/ 512 w 640"/>
              <a:gd name="T87" fmla="*/ 254 h 298"/>
              <a:gd name="T88" fmla="*/ 450 w 640"/>
              <a:gd name="T89" fmla="*/ 248 h 298"/>
              <a:gd name="T90" fmla="*/ 430 w 640"/>
              <a:gd name="T91" fmla="*/ 250 h 298"/>
              <a:gd name="T92" fmla="*/ 410 w 640"/>
              <a:gd name="T93" fmla="*/ 258 h 298"/>
              <a:gd name="T94" fmla="*/ 394 w 640"/>
              <a:gd name="T95" fmla="*/ 254 h 298"/>
              <a:gd name="T96" fmla="*/ 376 w 640"/>
              <a:gd name="T97" fmla="*/ 270 h 298"/>
              <a:gd name="T98" fmla="*/ 350 w 640"/>
              <a:gd name="T99" fmla="*/ 298 h 298"/>
              <a:gd name="T100" fmla="*/ 342 w 640"/>
              <a:gd name="T101" fmla="*/ 288 h 298"/>
              <a:gd name="T102" fmla="*/ 320 w 640"/>
              <a:gd name="T103" fmla="*/ 288 h 298"/>
              <a:gd name="T104" fmla="*/ 308 w 640"/>
              <a:gd name="T105" fmla="*/ 264 h 298"/>
              <a:gd name="T106" fmla="*/ 290 w 640"/>
              <a:gd name="T107" fmla="*/ 238 h 298"/>
              <a:gd name="T108" fmla="*/ 244 w 640"/>
              <a:gd name="T109" fmla="*/ 242 h 298"/>
              <a:gd name="T110" fmla="*/ 204 w 640"/>
              <a:gd name="T111" fmla="*/ 210 h 298"/>
              <a:gd name="T112" fmla="*/ 168 w 640"/>
              <a:gd name="T113" fmla="*/ 208 h 298"/>
              <a:gd name="T114" fmla="*/ 150 w 640"/>
              <a:gd name="T115" fmla="*/ 286 h 298"/>
              <a:gd name="T116" fmla="*/ 132 w 640"/>
              <a:gd name="T117" fmla="*/ 270 h 298"/>
              <a:gd name="T118" fmla="*/ 114 w 640"/>
              <a:gd name="T119" fmla="*/ 264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640" h="298">
                <a:moveTo>
                  <a:pt x="108" y="262"/>
                </a:moveTo>
                <a:lnTo>
                  <a:pt x="94" y="260"/>
                </a:lnTo>
                <a:lnTo>
                  <a:pt x="78" y="248"/>
                </a:lnTo>
                <a:lnTo>
                  <a:pt x="66" y="234"/>
                </a:lnTo>
                <a:lnTo>
                  <a:pt x="58" y="224"/>
                </a:lnTo>
                <a:lnTo>
                  <a:pt x="64" y="220"/>
                </a:lnTo>
                <a:lnTo>
                  <a:pt x="78" y="222"/>
                </a:lnTo>
                <a:lnTo>
                  <a:pt x="76" y="210"/>
                </a:lnTo>
                <a:lnTo>
                  <a:pt x="82" y="206"/>
                </a:lnTo>
                <a:lnTo>
                  <a:pt x="94" y="208"/>
                </a:lnTo>
                <a:lnTo>
                  <a:pt x="104" y="210"/>
                </a:lnTo>
                <a:lnTo>
                  <a:pt x="108" y="196"/>
                </a:lnTo>
                <a:lnTo>
                  <a:pt x="100" y="176"/>
                </a:lnTo>
                <a:lnTo>
                  <a:pt x="82" y="176"/>
                </a:lnTo>
                <a:lnTo>
                  <a:pt x="64" y="178"/>
                </a:lnTo>
                <a:lnTo>
                  <a:pt x="40" y="188"/>
                </a:lnTo>
                <a:lnTo>
                  <a:pt x="36" y="174"/>
                </a:lnTo>
                <a:lnTo>
                  <a:pt x="24" y="158"/>
                </a:lnTo>
                <a:lnTo>
                  <a:pt x="10" y="154"/>
                </a:lnTo>
                <a:lnTo>
                  <a:pt x="0" y="140"/>
                </a:lnTo>
                <a:lnTo>
                  <a:pt x="6" y="116"/>
                </a:lnTo>
                <a:lnTo>
                  <a:pt x="18" y="102"/>
                </a:lnTo>
                <a:lnTo>
                  <a:pt x="26" y="118"/>
                </a:lnTo>
                <a:lnTo>
                  <a:pt x="34" y="114"/>
                </a:lnTo>
                <a:lnTo>
                  <a:pt x="36" y="102"/>
                </a:lnTo>
                <a:lnTo>
                  <a:pt x="60" y="84"/>
                </a:lnTo>
                <a:lnTo>
                  <a:pt x="76" y="78"/>
                </a:lnTo>
                <a:lnTo>
                  <a:pt x="112" y="84"/>
                </a:lnTo>
                <a:lnTo>
                  <a:pt x="136" y="98"/>
                </a:lnTo>
                <a:lnTo>
                  <a:pt x="150" y="100"/>
                </a:lnTo>
                <a:lnTo>
                  <a:pt x="172" y="90"/>
                </a:lnTo>
                <a:lnTo>
                  <a:pt x="190" y="90"/>
                </a:lnTo>
                <a:lnTo>
                  <a:pt x="200" y="100"/>
                </a:lnTo>
                <a:lnTo>
                  <a:pt x="226" y="98"/>
                </a:lnTo>
                <a:lnTo>
                  <a:pt x="238" y="88"/>
                </a:lnTo>
                <a:lnTo>
                  <a:pt x="228" y="80"/>
                </a:lnTo>
                <a:lnTo>
                  <a:pt x="214" y="76"/>
                </a:lnTo>
                <a:lnTo>
                  <a:pt x="220" y="68"/>
                </a:lnTo>
                <a:lnTo>
                  <a:pt x="226" y="62"/>
                </a:lnTo>
                <a:lnTo>
                  <a:pt x="228" y="52"/>
                </a:lnTo>
                <a:lnTo>
                  <a:pt x="240" y="48"/>
                </a:lnTo>
                <a:lnTo>
                  <a:pt x="236" y="40"/>
                </a:lnTo>
                <a:lnTo>
                  <a:pt x="232" y="30"/>
                </a:lnTo>
                <a:lnTo>
                  <a:pt x="254" y="28"/>
                </a:lnTo>
                <a:lnTo>
                  <a:pt x="280" y="20"/>
                </a:lnTo>
                <a:lnTo>
                  <a:pt x="316" y="10"/>
                </a:lnTo>
                <a:lnTo>
                  <a:pt x="346" y="4"/>
                </a:lnTo>
                <a:lnTo>
                  <a:pt x="364" y="0"/>
                </a:lnTo>
                <a:lnTo>
                  <a:pt x="384" y="2"/>
                </a:lnTo>
                <a:lnTo>
                  <a:pt x="388" y="16"/>
                </a:lnTo>
                <a:lnTo>
                  <a:pt x="398" y="22"/>
                </a:lnTo>
                <a:lnTo>
                  <a:pt x="418" y="28"/>
                </a:lnTo>
                <a:lnTo>
                  <a:pt x="438" y="38"/>
                </a:lnTo>
                <a:lnTo>
                  <a:pt x="456" y="28"/>
                </a:lnTo>
                <a:lnTo>
                  <a:pt x="478" y="22"/>
                </a:lnTo>
                <a:lnTo>
                  <a:pt x="480" y="32"/>
                </a:lnTo>
                <a:lnTo>
                  <a:pt x="498" y="44"/>
                </a:lnTo>
                <a:lnTo>
                  <a:pt x="510" y="60"/>
                </a:lnTo>
                <a:lnTo>
                  <a:pt x="524" y="84"/>
                </a:lnTo>
                <a:lnTo>
                  <a:pt x="528" y="92"/>
                </a:lnTo>
                <a:lnTo>
                  <a:pt x="536" y="92"/>
                </a:lnTo>
                <a:lnTo>
                  <a:pt x="540" y="84"/>
                </a:lnTo>
                <a:lnTo>
                  <a:pt x="550" y="90"/>
                </a:lnTo>
                <a:lnTo>
                  <a:pt x="562" y="96"/>
                </a:lnTo>
                <a:lnTo>
                  <a:pt x="572" y="94"/>
                </a:lnTo>
                <a:lnTo>
                  <a:pt x="590" y="92"/>
                </a:lnTo>
                <a:lnTo>
                  <a:pt x="600" y="106"/>
                </a:lnTo>
                <a:lnTo>
                  <a:pt x="614" y="116"/>
                </a:lnTo>
                <a:lnTo>
                  <a:pt x="636" y="118"/>
                </a:lnTo>
                <a:lnTo>
                  <a:pt x="640" y="132"/>
                </a:lnTo>
                <a:lnTo>
                  <a:pt x="638" y="142"/>
                </a:lnTo>
                <a:lnTo>
                  <a:pt x="626" y="142"/>
                </a:lnTo>
                <a:lnTo>
                  <a:pt x="622" y="156"/>
                </a:lnTo>
                <a:lnTo>
                  <a:pt x="622" y="170"/>
                </a:lnTo>
                <a:lnTo>
                  <a:pt x="612" y="172"/>
                </a:lnTo>
                <a:lnTo>
                  <a:pt x="596" y="172"/>
                </a:lnTo>
                <a:lnTo>
                  <a:pt x="580" y="170"/>
                </a:lnTo>
                <a:lnTo>
                  <a:pt x="570" y="194"/>
                </a:lnTo>
                <a:lnTo>
                  <a:pt x="566" y="208"/>
                </a:lnTo>
                <a:lnTo>
                  <a:pt x="548" y="208"/>
                </a:lnTo>
                <a:lnTo>
                  <a:pt x="536" y="214"/>
                </a:lnTo>
                <a:lnTo>
                  <a:pt x="538" y="232"/>
                </a:lnTo>
                <a:lnTo>
                  <a:pt x="544" y="248"/>
                </a:lnTo>
                <a:lnTo>
                  <a:pt x="536" y="256"/>
                </a:lnTo>
                <a:lnTo>
                  <a:pt x="536" y="266"/>
                </a:lnTo>
                <a:lnTo>
                  <a:pt x="526" y="262"/>
                </a:lnTo>
                <a:lnTo>
                  <a:pt x="518" y="260"/>
                </a:lnTo>
                <a:lnTo>
                  <a:pt x="512" y="254"/>
                </a:lnTo>
                <a:lnTo>
                  <a:pt x="452" y="256"/>
                </a:lnTo>
                <a:lnTo>
                  <a:pt x="450" y="248"/>
                </a:lnTo>
                <a:lnTo>
                  <a:pt x="438" y="246"/>
                </a:lnTo>
                <a:lnTo>
                  <a:pt x="430" y="250"/>
                </a:lnTo>
                <a:lnTo>
                  <a:pt x="428" y="256"/>
                </a:lnTo>
                <a:lnTo>
                  <a:pt x="410" y="258"/>
                </a:lnTo>
                <a:lnTo>
                  <a:pt x="406" y="254"/>
                </a:lnTo>
                <a:lnTo>
                  <a:pt x="394" y="254"/>
                </a:lnTo>
                <a:lnTo>
                  <a:pt x="384" y="266"/>
                </a:lnTo>
                <a:lnTo>
                  <a:pt x="376" y="270"/>
                </a:lnTo>
                <a:lnTo>
                  <a:pt x="352" y="288"/>
                </a:lnTo>
                <a:lnTo>
                  <a:pt x="350" y="298"/>
                </a:lnTo>
                <a:lnTo>
                  <a:pt x="342" y="298"/>
                </a:lnTo>
                <a:lnTo>
                  <a:pt x="342" y="288"/>
                </a:lnTo>
                <a:lnTo>
                  <a:pt x="338" y="286"/>
                </a:lnTo>
                <a:lnTo>
                  <a:pt x="320" y="288"/>
                </a:lnTo>
                <a:lnTo>
                  <a:pt x="318" y="272"/>
                </a:lnTo>
                <a:lnTo>
                  <a:pt x="308" y="264"/>
                </a:lnTo>
                <a:lnTo>
                  <a:pt x="308" y="256"/>
                </a:lnTo>
                <a:lnTo>
                  <a:pt x="290" y="238"/>
                </a:lnTo>
                <a:lnTo>
                  <a:pt x="282" y="240"/>
                </a:lnTo>
                <a:lnTo>
                  <a:pt x="244" y="242"/>
                </a:lnTo>
                <a:lnTo>
                  <a:pt x="230" y="224"/>
                </a:lnTo>
                <a:lnTo>
                  <a:pt x="204" y="210"/>
                </a:lnTo>
                <a:lnTo>
                  <a:pt x="196" y="204"/>
                </a:lnTo>
                <a:lnTo>
                  <a:pt x="168" y="208"/>
                </a:lnTo>
                <a:lnTo>
                  <a:pt x="150" y="212"/>
                </a:lnTo>
                <a:lnTo>
                  <a:pt x="150" y="286"/>
                </a:lnTo>
                <a:lnTo>
                  <a:pt x="140" y="284"/>
                </a:lnTo>
                <a:lnTo>
                  <a:pt x="132" y="270"/>
                </a:lnTo>
                <a:lnTo>
                  <a:pt x="120" y="262"/>
                </a:lnTo>
                <a:lnTo>
                  <a:pt x="114" y="264"/>
                </a:lnTo>
                <a:lnTo>
                  <a:pt x="108" y="26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3175" cap="flat">
            <a:solidFill>
              <a:srgbClr val="1A1D24"/>
            </a:solidFill>
            <a:prstDash val="solid"/>
            <a:miter lim="800000"/>
            <a:headEnd/>
            <a:tailEnd/>
          </a:ln>
          <a:effectLst>
            <a:outerShdw blurRad="50800" dist="38100" dir="5400000" sx="93000" sy="93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669CCC-2D78-810A-2544-1CD07FCE2AB1}"/>
              </a:ext>
            </a:extLst>
          </p:cNvPr>
          <p:cNvSpPr txBox="1"/>
          <p:nvPr/>
        </p:nvSpPr>
        <p:spPr>
          <a:xfrm>
            <a:off x="464457" y="3573667"/>
            <a:ext cx="2648135" cy="30931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b="1" dirty="0">
                <a:latin typeface="Avenir Book" panose="02000503020000020003" pitchFamily="2" charset="0"/>
              </a:rPr>
              <a:t>Крупнейший ИИ-хаб региона</a:t>
            </a:r>
            <a:r>
              <a:rPr lang="en-US" sz="1300" dirty="0">
                <a:latin typeface="Avenir Book" panose="02000503020000020003" pitchFamily="2" charset="0"/>
              </a:rPr>
              <a:t> — более 300 графических процессоров NVIDIA и действующие суверенные вычислительные платформы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b="1" dirty="0">
                <a:latin typeface="Avenir Book" panose="02000503020000020003" pitchFamily="2" charset="0"/>
              </a:rPr>
              <a:t>Прочная база данных</a:t>
            </a:r>
            <a:r>
              <a:rPr lang="en-US" sz="1300" dirty="0">
                <a:latin typeface="Avenir Book" panose="02000503020000020003" pitchFamily="2" charset="0"/>
              </a:rPr>
              <a:t> — национальное «озеро данных» с 87 наборами данных и продвинутая цифровизация государственных услуг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b="1" dirty="0">
                <a:latin typeface="Avenir Book" panose="02000503020000020003" pitchFamily="2" charset="0"/>
              </a:rPr>
              <a:t>Зреющая стартап-экосистема</a:t>
            </a:r>
            <a:r>
              <a:rPr lang="en-US" sz="1300" dirty="0">
                <a:latin typeface="Avenir Book" panose="02000503020000020003" pitchFamily="2" charset="0"/>
              </a:rPr>
              <a:t> — рост, ведомый спросом, программы подготовки ИИ-специалистов и первый национальный «единорог» (</a:t>
            </a:r>
            <a:r>
              <a:rPr lang="en-US" sz="1300" dirty="0" err="1">
                <a:latin typeface="Avenir Book" panose="02000503020000020003" pitchFamily="2" charset="0"/>
              </a:rPr>
              <a:t>Higgsfield</a:t>
            </a:r>
            <a:r>
              <a:rPr lang="en-US" sz="1300" dirty="0">
                <a:latin typeface="Avenir Book" panose="02000503020000020003" pitchFamily="2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A37C27-DF39-308C-24C3-B57AD8EA1F82}"/>
              </a:ext>
            </a:extLst>
          </p:cNvPr>
          <p:cNvSpPr txBox="1"/>
          <p:nvPr/>
        </p:nvSpPr>
        <p:spPr>
          <a:xfrm>
            <a:off x="3422711" y="3573667"/>
            <a:ext cx="2648135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Avenir Book" panose="02000503020000020003" pitchFamily="2" charset="0"/>
              </a:rPr>
              <a:t>Чёткое национальное видение</a:t>
            </a:r>
            <a:r>
              <a:rPr lang="en-US" sz="1300" dirty="0">
                <a:latin typeface="Avenir Book" panose="02000503020000020003" pitchFamily="2" charset="0"/>
              </a:rPr>
              <a:t> — Стратегия ИИ до 2030 г. с приоритетными отраслями и масштабным развитием навыков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Avenir Book" panose="02000503020000020003" pitchFamily="2" charset="0"/>
              </a:rPr>
              <a:t>Инвестиции в инфраструктуру мирового уровня</a:t>
            </a:r>
            <a:r>
              <a:rPr lang="en-US" sz="1300" dirty="0">
                <a:latin typeface="Avenir Book" panose="02000503020000020003" pitchFamily="2" charset="0"/>
              </a:rPr>
              <a:t> — крупные центры обработки данных (~500 МВт)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Avenir Book" panose="02000503020000020003" pitchFamily="2" charset="0"/>
              </a:rPr>
              <a:t>Растущий стартап-ландшафт</a:t>
            </a:r>
            <a:r>
              <a:rPr lang="en-US" sz="1300" dirty="0">
                <a:latin typeface="Avenir Book" panose="02000503020000020003" pitchFamily="2" charset="0"/>
              </a:rPr>
              <a:t> — заметный отраслевой рост (финтех, электронная коммерция) и стратегические партнёрства с частным сектором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300" dirty="0">
              <a:solidFill>
                <a:srgbClr val="111827"/>
              </a:solidFill>
              <a:latin typeface="Avenir Book" panose="02000503020000020003" pitchFamily="2" charset="0"/>
            </a:endParaRPr>
          </a:p>
        </p:txBody>
      </p:sp>
      <p:sp>
        <p:nvSpPr>
          <p:cNvPr id="6" name="Freeform 99">
            <a:extLst>
              <a:ext uri="{FF2B5EF4-FFF2-40B4-BE49-F238E27FC236}">
                <a16:creationId xmlns:a16="http://schemas.microsoft.com/office/drawing/2014/main" id="{8A346430-D4C2-2754-7A69-660EA25008FC}"/>
              </a:ext>
            </a:extLst>
          </p:cNvPr>
          <p:cNvSpPr>
            <a:spLocks/>
          </p:cNvSpPr>
          <p:nvPr/>
        </p:nvSpPr>
        <p:spPr bwMode="gray">
          <a:xfrm>
            <a:off x="3755324" y="1891311"/>
            <a:ext cx="1704967" cy="1018096"/>
          </a:xfrm>
          <a:custGeom>
            <a:avLst/>
            <a:gdLst>
              <a:gd name="T0" fmla="*/ 0 w 266"/>
              <a:gd name="T1" fmla="*/ 82 h 158"/>
              <a:gd name="T2" fmla="*/ 0 w 266"/>
              <a:gd name="T3" fmla="*/ 8 h 158"/>
              <a:gd name="T4" fmla="*/ 18 w 266"/>
              <a:gd name="T5" fmla="*/ 4 h 158"/>
              <a:gd name="T6" fmla="*/ 46 w 266"/>
              <a:gd name="T7" fmla="*/ 0 h 158"/>
              <a:gd name="T8" fmla="*/ 54 w 266"/>
              <a:gd name="T9" fmla="*/ 6 h 158"/>
              <a:gd name="T10" fmla="*/ 70 w 266"/>
              <a:gd name="T11" fmla="*/ 16 h 158"/>
              <a:gd name="T12" fmla="*/ 80 w 266"/>
              <a:gd name="T13" fmla="*/ 20 h 158"/>
              <a:gd name="T14" fmla="*/ 94 w 266"/>
              <a:gd name="T15" fmla="*/ 38 h 158"/>
              <a:gd name="T16" fmla="*/ 132 w 266"/>
              <a:gd name="T17" fmla="*/ 36 h 158"/>
              <a:gd name="T18" fmla="*/ 140 w 266"/>
              <a:gd name="T19" fmla="*/ 34 h 158"/>
              <a:gd name="T20" fmla="*/ 158 w 266"/>
              <a:gd name="T21" fmla="*/ 52 h 158"/>
              <a:gd name="T22" fmla="*/ 158 w 266"/>
              <a:gd name="T23" fmla="*/ 60 h 158"/>
              <a:gd name="T24" fmla="*/ 168 w 266"/>
              <a:gd name="T25" fmla="*/ 68 h 158"/>
              <a:gd name="T26" fmla="*/ 170 w 266"/>
              <a:gd name="T27" fmla="*/ 84 h 158"/>
              <a:gd name="T28" fmla="*/ 188 w 266"/>
              <a:gd name="T29" fmla="*/ 82 h 158"/>
              <a:gd name="T30" fmla="*/ 192 w 266"/>
              <a:gd name="T31" fmla="*/ 84 h 158"/>
              <a:gd name="T32" fmla="*/ 192 w 266"/>
              <a:gd name="T33" fmla="*/ 94 h 158"/>
              <a:gd name="T34" fmla="*/ 200 w 266"/>
              <a:gd name="T35" fmla="*/ 94 h 158"/>
              <a:gd name="T36" fmla="*/ 202 w 266"/>
              <a:gd name="T37" fmla="*/ 84 h 158"/>
              <a:gd name="T38" fmla="*/ 214 w 266"/>
              <a:gd name="T39" fmla="*/ 74 h 158"/>
              <a:gd name="T40" fmla="*/ 234 w 266"/>
              <a:gd name="T41" fmla="*/ 62 h 158"/>
              <a:gd name="T42" fmla="*/ 230 w 266"/>
              <a:gd name="T43" fmla="*/ 72 h 158"/>
              <a:gd name="T44" fmla="*/ 228 w 266"/>
              <a:gd name="T45" fmla="*/ 76 h 158"/>
              <a:gd name="T46" fmla="*/ 236 w 266"/>
              <a:gd name="T47" fmla="*/ 80 h 158"/>
              <a:gd name="T48" fmla="*/ 248 w 266"/>
              <a:gd name="T49" fmla="*/ 76 h 158"/>
              <a:gd name="T50" fmla="*/ 258 w 266"/>
              <a:gd name="T51" fmla="*/ 82 h 158"/>
              <a:gd name="T52" fmla="*/ 266 w 266"/>
              <a:gd name="T53" fmla="*/ 90 h 158"/>
              <a:gd name="T54" fmla="*/ 258 w 266"/>
              <a:gd name="T55" fmla="*/ 98 h 158"/>
              <a:gd name="T56" fmla="*/ 248 w 266"/>
              <a:gd name="T57" fmla="*/ 102 h 158"/>
              <a:gd name="T58" fmla="*/ 236 w 266"/>
              <a:gd name="T59" fmla="*/ 102 h 158"/>
              <a:gd name="T60" fmla="*/ 232 w 266"/>
              <a:gd name="T61" fmla="*/ 98 h 158"/>
              <a:gd name="T62" fmla="*/ 234 w 266"/>
              <a:gd name="T63" fmla="*/ 90 h 158"/>
              <a:gd name="T64" fmla="*/ 228 w 266"/>
              <a:gd name="T65" fmla="*/ 88 h 158"/>
              <a:gd name="T66" fmla="*/ 216 w 266"/>
              <a:gd name="T67" fmla="*/ 90 h 158"/>
              <a:gd name="T68" fmla="*/ 212 w 266"/>
              <a:gd name="T69" fmla="*/ 98 h 158"/>
              <a:gd name="T70" fmla="*/ 204 w 266"/>
              <a:gd name="T71" fmla="*/ 102 h 158"/>
              <a:gd name="T72" fmla="*/ 198 w 266"/>
              <a:gd name="T73" fmla="*/ 100 h 158"/>
              <a:gd name="T74" fmla="*/ 200 w 266"/>
              <a:gd name="T75" fmla="*/ 114 h 158"/>
              <a:gd name="T76" fmla="*/ 180 w 266"/>
              <a:gd name="T77" fmla="*/ 114 h 158"/>
              <a:gd name="T78" fmla="*/ 180 w 266"/>
              <a:gd name="T79" fmla="*/ 124 h 158"/>
              <a:gd name="T80" fmla="*/ 192 w 266"/>
              <a:gd name="T81" fmla="*/ 124 h 158"/>
              <a:gd name="T82" fmla="*/ 190 w 266"/>
              <a:gd name="T83" fmla="*/ 138 h 158"/>
              <a:gd name="T84" fmla="*/ 196 w 266"/>
              <a:gd name="T85" fmla="*/ 140 h 158"/>
              <a:gd name="T86" fmla="*/ 188 w 266"/>
              <a:gd name="T87" fmla="*/ 150 h 158"/>
              <a:gd name="T88" fmla="*/ 188 w 266"/>
              <a:gd name="T89" fmla="*/ 158 h 158"/>
              <a:gd name="T90" fmla="*/ 168 w 266"/>
              <a:gd name="T91" fmla="*/ 152 h 158"/>
              <a:gd name="T92" fmla="*/ 168 w 266"/>
              <a:gd name="T93" fmla="*/ 144 h 158"/>
              <a:gd name="T94" fmla="*/ 158 w 266"/>
              <a:gd name="T95" fmla="*/ 138 h 158"/>
              <a:gd name="T96" fmla="*/ 146 w 266"/>
              <a:gd name="T97" fmla="*/ 136 h 158"/>
              <a:gd name="T98" fmla="*/ 104 w 266"/>
              <a:gd name="T99" fmla="*/ 108 h 158"/>
              <a:gd name="T100" fmla="*/ 90 w 266"/>
              <a:gd name="T101" fmla="*/ 82 h 158"/>
              <a:gd name="T102" fmla="*/ 64 w 266"/>
              <a:gd name="T103" fmla="*/ 82 h 158"/>
              <a:gd name="T104" fmla="*/ 64 w 266"/>
              <a:gd name="T105" fmla="*/ 66 h 158"/>
              <a:gd name="T106" fmla="*/ 62 w 266"/>
              <a:gd name="T107" fmla="*/ 62 h 158"/>
              <a:gd name="T108" fmla="*/ 48 w 266"/>
              <a:gd name="T109" fmla="*/ 60 h 158"/>
              <a:gd name="T110" fmla="*/ 42 w 266"/>
              <a:gd name="T111" fmla="*/ 54 h 158"/>
              <a:gd name="T112" fmla="*/ 14 w 266"/>
              <a:gd name="T113" fmla="*/ 68 h 158"/>
              <a:gd name="T114" fmla="*/ 14 w 266"/>
              <a:gd name="T115" fmla="*/ 80 h 158"/>
              <a:gd name="T116" fmla="*/ 0 w 266"/>
              <a:gd name="T117" fmla="*/ 82 h 1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66" h="158">
                <a:moveTo>
                  <a:pt x="0" y="82"/>
                </a:moveTo>
                <a:lnTo>
                  <a:pt x="0" y="8"/>
                </a:lnTo>
                <a:lnTo>
                  <a:pt x="18" y="4"/>
                </a:lnTo>
                <a:lnTo>
                  <a:pt x="46" y="0"/>
                </a:lnTo>
                <a:lnTo>
                  <a:pt x="54" y="6"/>
                </a:lnTo>
                <a:lnTo>
                  <a:pt x="70" y="16"/>
                </a:lnTo>
                <a:lnTo>
                  <a:pt x="80" y="20"/>
                </a:lnTo>
                <a:lnTo>
                  <a:pt x="94" y="38"/>
                </a:lnTo>
                <a:lnTo>
                  <a:pt x="132" y="36"/>
                </a:lnTo>
                <a:lnTo>
                  <a:pt x="140" y="34"/>
                </a:lnTo>
                <a:lnTo>
                  <a:pt x="158" y="52"/>
                </a:lnTo>
                <a:lnTo>
                  <a:pt x="158" y="60"/>
                </a:lnTo>
                <a:lnTo>
                  <a:pt x="168" y="68"/>
                </a:lnTo>
                <a:lnTo>
                  <a:pt x="170" y="84"/>
                </a:lnTo>
                <a:lnTo>
                  <a:pt x="188" y="82"/>
                </a:lnTo>
                <a:lnTo>
                  <a:pt x="192" y="84"/>
                </a:lnTo>
                <a:lnTo>
                  <a:pt x="192" y="94"/>
                </a:lnTo>
                <a:lnTo>
                  <a:pt x="200" y="94"/>
                </a:lnTo>
                <a:lnTo>
                  <a:pt x="202" y="84"/>
                </a:lnTo>
                <a:lnTo>
                  <a:pt x="214" y="74"/>
                </a:lnTo>
                <a:lnTo>
                  <a:pt x="234" y="62"/>
                </a:lnTo>
                <a:lnTo>
                  <a:pt x="230" y="72"/>
                </a:lnTo>
                <a:lnTo>
                  <a:pt x="228" y="76"/>
                </a:lnTo>
                <a:lnTo>
                  <a:pt x="236" y="80"/>
                </a:lnTo>
                <a:lnTo>
                  <a:pt x="248" y="76"/>
                </a:lnTo>
                <a:lnTo>
                  <a:pt x="258" y="82"/>
                </a:lnTo>
                <a:lnTo>
                  <a:pt x="266" y="90"/>
                </a:lnTo>
                <a:lnTo>
                  <a:pt x="258" y="98"/>
                </a:lnTo>
                <a:lnTo>
                  <a:pt x="248" y="102"/>
                </a:lnTo>
                <a:lnTo>
                  <a:pt x="236" y="102"/>
                </a:lnTo>
                <a:lnTo>
                  <a:pt x="232" y="98"/>
                </a:lnTo>
                <a:lnTo>
                  <a:pt x="234" y="90"/>
                </a:lnTo>
                <a:lnTo>
                  <a:pt x="228" y="88"/>
                </a:lnTo>
                <a:lnTo>
                  <a:pt x="216" y="90"/>
                </a:lnTo>
                <a:lnTo>
                  <a:pt x="212" y="98"/>
                </a:lnTo>
                <a:lnTo>
                  <a:pt x="204" y="102"/>
                </a:lnTo>
                <a:lnTo>
                  <a:pt x="198" y="100"/>
                </a:lnTo>
                <a:lnTo>
                  <a:pt x="200" y="114"/>
                </a:lnTo>
                <a:lnTo>
                  <a:pt x="180" y="114"/>
                </a:lnTo>
                <a:lnTo>
                  <a:pt x="180" y="124"/>
                </a:lnTo>
                <a:lnTo>
                  <a:pt x="192" y="124"/>
                </a:lnTo>
                <a:lnTo>
                  <a:pt x="190" y="138"/>
                </a:lnTo>
                <a:lnTo>
                  <a:pt x="196" y="140"/>
                </a:lnTo>
                <a:lnTo>
                  <a:pt x="188" y="150"/>
                </a:lnTo>
                <a:lnTo>
                  <a:pt x="188" y="158"/>
                </a:lnTo>
                <a:lnTo>
                  <a:pt x="168" y="152"/>
                </a:lnTo>
                <a:lnTo>
                  <a:pt x="168" y="144"/>
                </a:lnTo>
                <a:lnTo>
                  <a:pt x="158" y="138"/>
                </a:lnTo>
                <a:lnTo>
                  <a:pt x="146" y="136"/>
                </a:lnTo>
                <a:lnTo>
                  <a:pt x="104" y="108"/>
                </a:lnTo>
                <a:lnTo>
                  <a:pt x="90" y="82"/>
                </a:lnTo>
                <a:lnTo>
                  <a:pt x="64" y="82"/>
                </a:lnTo>
                <a:lnTo>
                  <a:pt x="64" y="66"/>
                </a:lnTo>
                <a:lnTo>
                  <a:pt x="62" y="62"/>
                </a:lnTo>
                <a:lnTo>
                  <a:pt x="48" y="60"/>
                </a:lnTo>
                <a:lnTo>
                  <a:pt x="42" y="54"/>
                </a:lnTo>
                <a:lnTo>
                  <a:pt x="14" y="68"/>
                </a:lnTo>
                <a:lnTo>
                  <a:pt x="14" y="80"/>
                </a:lnTo>
                <a:lnTo>
                  <a:pt x="0" y="8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3175" cap="flat">
            <a:solidFill>
              <a:srgbClr val="1A1D24"/>
            </a:solidFill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 100">
            <a:extLst>
              <a:ext uri="{FF2B5EF4-FFF2-40B4-BE49-F238E27FC236}">
                <a16:creationId xmlns:a16="http://schemas.microsoft.com/office/drawing/2014/main" id="{10425C54-5B4C-947F-73C9-E4C7A6181CB0}"/>
              </a:ext>
            </a:extLst>
          </p:cNvPr>
          <p:cNvSpPr>
            <a:spLocks/>
          </p:cNvSpPr>
          <p:nvPr/>
        </p:nvSpPr>
        <p:spPr bwMode="gray">
          <a:xfrm>
            <a:off x="10048034" y="2069695"/>
            <a:ext cx="1361853" cy="739572"/>
          </a:xfrm>
          <a:custGeom>
            <a:avLst/>
            <a:gdLst>
              <a:gd name="T0" fmla="*/ 6 w 158"/>
              <a:gd name="T1" fmla="*/ 20 h 76"/>
              <a:gd name="T2" fmla="*/ 16 w 158"/>
              <a:gd name="T3" fmla="*/ 8 h 76"/>
              <a:gd name="T4" fmla="*/ 28 w 158"/>
              <a:gd name="T5" fmla="*/ 8 h 76"/>
              <a:gd name="T6" fmla="*/ 32 w 158"/>
              <a:gd name="T7" fmla="*/ 12 h 76"/>
              <a:gd name="T8" fmla="*/ 50 w 158"/>
              <a:gd name="T9" fmla="*/ 10 h 76"/>
              <a:gd name="T10" fmla="*/ 52 w 158"/>
              <a:gd name="T11" fmla="*/ 4 h 76"/>
              <a:gd name="T12" fmla="*/ 60 w 158"/>
              <a:gd name="T13" fmla="*/ 0 h 76"/>
              <a:gd name="T14" fmla="*/ 72 w 158"/>
              <a:gd name="T15" fmla="*/ 2 h 76"/>
              <a:gd name="T16" fmla="*/ 74 w 158"/>
              <a:gd name="T17" fmla="*/ 10 h 76"/>
              <a:gd name="T18" fmla="*/ 134 w 158"/>
              <a:gd name="T19" fmla="*/ 8 h 76"/>
              <a:gd name="T20" fmla="*/ 140 w 158"/>
              <a:gd name="T21" fmla="*/ 14 h 76"/>
              <a:gd name="T22" fmla="*/ 148 w 158"/>
              <a:gd name="T23" fmla="*/ 16 h 76"/>
              <a:gd name="T24" fmla="*/ 158 w 158"/>
              <a:gd name="T25" fmla="*/ 20 h 76"/>
              <a:gd name="T26" fmla="*/ 152 w 158"/>
              <a:gd name="T27" fmla="*/ 24 h 76"/>
              <a:gd name="T28" fmla="*/ 138 w 158"/>
              <a:gd name="T29" fmla="*/ 32 h 76"/>
              <a:gd name="T30" fmla="*/ 126 w 158"/>
              <a:gd name="T31" fmla="*/ 36 h 76"/>
              <a:gd name="T32" fmla="*/ 122 w 158"/>
              <a:gd name="T33" fmla="*/ 44 h 76"/>
              <a:gd name="T34" fmla="*/ 102 w 158"/>
              <a:gd name="T35" fmla="*/ 44 h 76"/>
              <a:gd name="T36" fmla="*/ 98 w 158"/>
              <a:gd name="T37" fmla="*/ 54 h 76"/>
              <a:gd name="T38" fmla="*/ 82 w 158"/>
              <a:gd name="T39" fmla="*/ 58 h 76"/>
              <a:gd name="T40" fmla="*/ 82 w 158"/>
              <a:gd name="T41" fmla="*/ 52 h 76"/>
              <a:gd name="T42" fmla="*/ 68 w 158"/>
              <a:gd name="T43" fmla="*/ 52 h 76"/>
              <a:gd name="T44" fmla="*/ 66 w 158"/>
              <a:gd name="T45" fmla="*/ 58 h 76"/>
              <a:gd name="T46" fmla="*/ 58 w 158"/>
              <a:gd name="T47" fmla="*/ 62 h 76"/>
              <a:gd name="T48" fmla="*/ 54 w 158"/>
              <a:gd name="T49" fmla="*/ 66 h 76"/>
              <a:gd name="T50" fmla="*/ 52 w 158"/>
              <a:gd name="T51" fmla="*/ 76 h 76"/>
              <a:gd name="T52" fmla="*/ 32 w 158"/>
              <a:gd name="T53" fmla="*/ 76 h 76"/>
              <a:gd name="T54" fmla="*/ 18 w 158"/>
              <a:gd name="T55" fmla="*/ 74 h 76"/>
              <a:gd name="T56" fmla="*/ 6 w 158"/>
              <a:gd name="T57" fmla="*/ 74 h 76"/>
              <a:gd name="T58" fmla="*/ 4 w 158"/>
              <a:gd name="T59" fmla="*/ 66 h 76"/>
              <a:gd name="T60" fmla="*/ 2 w 158"/>
              <a:gd name="T61" fmla="*/ 60 h 76"/>
              <a:gd name="T62" fmla="*/ 4 w 158"/>
              <a:gd name="T63" fmla="*/ 56 h 76"/>
              <a:gd name="T64" fmla="*/ 8 w 158"/>
              <a:gd name="T65" fmla="*/ 60 h 76"/>
              <a:gd name="T66" fmla="*/ 20 w 158"/>
              <a:gd name="T67" fmla="*/ 60 h 76"/>
              <a:gd name="T68" fmla="*/ 30 w 158"/>
              <a:gd name="T69" fmla="*/ 56 h 76"/>
              <a:gd name="T70" fmla="*/ 38 w 158"/>
              <a:gd name="T71" fmla="*/ 48 h 76"/>
              <a:gd name="T72" fmla="*/ 30 w 158"/>
              <a:gd name="T73" fmla="*/ 40 h 76"/>
              <a:gd name="T74" fmla="*/ 20 w 158"/>
              <a:gd name="T75" fmla="*/ 34 h 76"/>
              <a:gd name="T76" fmla="*/ 8 w 158"/>
              <a:gd name="T77" fmla="*/ 38 h 76"/>
              <a:gd name="T78" fmla="*/ 0 w 158"/>
              <a:gd name="T79" fmla="*/ 34 h 76"/>
              <a:gd name="T80" fmla="*/ 2 w 158"/>
              <a:gd name="T81" fmla="*/ 30 h 76"/>
              <a:gd name="T82" fmla="*/ 6 w 158"/>
              <a:gd name="T83" fmla="*/ 20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58" h="76">
                <a:moveTo>
                  <a:pt x="6" y="20"/>
                </a:moveTo>
                <a:lnTo>
                  <a:pt x="16" y="8"/>
                </a:lnTo>
                <a:lnTo>
                  <a:pt x="28" y="8"/>
                </a:lnTo>
                <a:lnTo>
                  <a:pt x="32" y="12"/>
                </a:lnTo>
                <a:lnTo>
                  <a:pt x="50" y="10"/>
                </a:lnTo>
                <a:lnTo>
                  <a:pt x="52" y="4"/>
                </a:lnTo>
                <a:lnTo>
                  <a:pt x="60" y="0"/>
                </a:lnTo>
                <a:lnTo>
                  <a:pt x="72" y="2"/>
                </a:lnTo>
                <a:lnTo>
                  <a:pt x="74" y="10"/>
                </a:lnTo>
                <a:lnTo>
                  <a:pt x="134" y="8"/>
                </a:lnTo>
                <a:lnTo>
                  <a:pt x="140" y="14"/>
                </a:lnTo>
                <a:lnTo>
                  <a:pt x="148" y="16"/>
                </a:lnTo>
                <a:lnTo>
                  <a:pt x="158" y="20"/>
                </a:lnTo>
                <a:lnTo>
                  <a:pt x="152" y="24"/>
                </a:lnTo>
                <a:lnTo>
                  <a:pt x="138" y="32"/>
                </a:lnTo>
                <a:lnTo>
                  <a:pt x="126" y="36"/>
                </a:lnTo>
                <a:lnTo>
                  <a:pt x="122" y="44"/>
                </a:lnTo>
                <a:lnTo>
                  <a:pt x="102" y="44"/>
                </a:lnTo>
                <a:lnTo>
                  <a:pt x="98" y="54"/>
                </a:lnTo>
                <a:lnTo>
                  <a:pt x="82" y="58"/>
                </a:lnTo>
                <a:lnTo>
                  <a:pt x="82" y="52"/>
                </a:lnTo>
                <a:lnTo>
                  <a:pt x="68" y="52"/>
                </a:lnTo>
                <a:lnTo>
                  <a:pt x="66" y="58"/>
                </a:lnTo>
                <a:lnTo>
                  <a:pt x="58" y="62"/>
                </a:lnTo>
                <a:lnTo>
                  <a:pt x="54" y="66"/>
                </a:lnTo>
                <a:lnTo>
                  <a:pt x="52" y="76"/>
                </a:lnTo>
                <a:lnTo>
                  <a:pt x="32" y="76"/>
                </a:lnTo>
                <a:lnTo>
                  <a:pt x="18" y="74"/>
                </a:lnTo>
                <a:lnTo>
                  <a:pt x="6" y="74"/>
                </a:lnTo>
                <a:lnTo>
                  <a:pt x="4" y="66"/>
                </a:lnTo>
                <a:lnTo>
                  <a:pt x="2" y="60"/>
                </a:lnTo>
                <a:lnTo>
                  <a:pt x="4" y="56"/>
                </a:lnTo>
                <a:lnTo>
                  <a:pt x="8" y="60"/>
                </a:lnTo>
                <a:lnTo>
                  <a:pt x="20" y="60"/>
                </a:lnTo>
                <a:lnTo>
                  <a:pt x="30" y="56"/>
                </a:lnTo>
                <a:lnTo>
                  <a:pt x="38" y="48"/>
                </a:lnTo>
                <a:lnTo>
                  <a:pt x="30" y="40"/>
                </a:lnTo>
                <a:lnTo>
                  <a:pt x="20" y="34"/>
                </a:lnTo>
                <a:lnTo>
                  <a:pt x="8" y="38"/>
                </a:lnTo>
                <a:lnTo>
                  <a:pt x="0" y="34"/>
                </a:lnTo>
                <a:lnTo>
                  <a:pt x="2" y="30"/>
                </a:lnTo>
                <a:lnTo>
                  <a:pt x="6" y="2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3175" cap="flat">
            <a:solidFill>
              <a:srgbClr val="1A1D24"/>
            </a:solidFill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 98">
            <a:extLst>
              <a:ext uri="{FF2B5EF4-FFF2-40B4-BE49-F238E27FC236}">
                <a16:creationId xmlns:a16="http://schemas.microsoft.com/office/drawing/2014/main" id="{39E38144-6407-5C17-11E5-D63322FC44D3}"/>
              </a:ext>
            </a:extLst>
          </p:cNvPr>
          <p:cNvSpPr>
            <a:spLocks/>
          </p:cNvSpPr>
          <p:nvPr/>
        </p:nvSpPr>
        <p:spPr bwMode="gray">
          <a:xfrm>
            <a:off x="7072996" y="2027629"/>
            <a:ext cx="1361853" cy="881778"/>
          </a:xfrm>
          <a:custGeom>
            <a:avLst/>
            <a:gdLst>
              <a:gd name="T0" fmla="*/ 24 w 118"/>
              <a:gd name="T1" fmla="*/ 14 h 76"/>
              <a:gd name="T2" fmla="*/ 32 w 118"/>
              <a:gd name="T3" fmla="*/ 10 h 76"/>
              <a:gd name="T4" fmla="*/ 36 w 118"/>
              <a:gd name="T5" fmla="*/ 2 h 76"/>
              <a:gd name="T6" fmla="*/ 48 w 118"/>
              <a:gd name="T7" fmla="*/ 0 h 76"/>
              <a:gd name="T8" fmla="*/ 54 w 118"/>
              <a:gd name="T9" fmla="*/ 2 h 76"/>
              <a:gd name="T10" fmla="*/ 52 w 118"/>
              <a:gd name="T11" fmla="*/ 8 h 76"/>
              <a:gd name="T12" fmla="*/ 50 w 118"/>
              <a:gd name="T13" fmla="*/ 14 h 76"/>
              <a:gd name="T14" fmla="*/ 52 w 118"/>
              <a:gd name="T15" fmla="*/ 20 h 76"/>
              <a:gd name="T16" fmla="*/ 54 w 118"/>
              <a:gd name="T17" fmla="*/ 28 h 76"/>
              <a:gd name="T18" fmla="*/ 66 w 118"/>
              <a:gd name="T19" fmla="*/ 28 h 76"/>
              <a:gd name="T20" fmla="*/ 80 w 118"/>
              <a:gd name="T21" fmla="*/ 30 h 76"/>
              <a:gd name="T22" fmla="*/ 100 w 118"/>
              <a:gd name="T23" fmla="*/ 30 h 76"/>
              <a:gd name="T24" fmla="*/ 98 w 118"/>
              <a:gd name="T25" fmla="*/ 36 h 76"/>
              <a:gd name="T26" fmla="*/ 100 w 118"/>
              <a:gd name="T27" fmla="*/ 44 h 76"/>
              <a:gd name="T28" fmla="*/ 106 w 118"/>
              <a:gd name="T29" fmla="*/ 46 h 76"/>
              <a:gd name="T30" fmla="*/ 118 w 118"/>
              <a:gd name="T31" fmla="*/ 44 h 76"/>
              <a:gd name="T32" fmla="*/ 118 w 118"/>
              <a:gd name="T33" fmla="*/ 64 h 76"/>
              <a:gd name="T34" fmla="*/ 90 w 118"/>
              <a:gd name="T35" fmla="*/ 64 h 76"/>
              <a:gd name="T36" fmla="*/ 80 w 118"/>
              <a:gd name="T37" fmla="*/ 70 h 76"/>
              <a:gd name="T38" fmla="*/ 64 w 118"/>
              <a:gd name="T39" fmla="*/ 76 h 76"/>
              <a:gd name="T40" fmla="*/ 64 w 118"/>
              <a:gd name="T41" fmla="*/ 70 h 76"/>
              <a:gd name="T42" fmla="*/ 66 w 118"/>
              <a:gd name="T43" fmla="*/ 62 h 76"/>
              <a:gd name="T44" fmla="*/ 64 w 118"/>
              <a:gd name="T45" fmla="*/ 50 h 76"/>
              <a:gd name="T46" fmla="*/ 56 w 118"/>
              <a:gd name="T47" fmla="*/ 44 h 76"/>
              <a:gd name="T48" fmla="*/ 46 w 118"/>
              <a:gd name="T49" fmla="*/ 60 h 76"/>
              <a:gd name="T50" fmla="*/ 38 w 118"/>
              <a:gd name="T51" fmla="*/ 62 h 76"/>
              <a:gd name="T52" fmla="*/ 18 w 118"/>
              <a:gd name="T53" fmla="*/ 74 h 76"/>
              <a:gd name="T54" fmla="*/ 8 w 118"/>
              <a:gd name="T55" fmla="*/ 70 h 76"/>
              <a:gd name="T56" fmla="*/ 8 w 118"/>
              <a:gd name="T57" fmla="*/ 62 h 76"/>
              <a:gd name="T58" fmla="*/ 16 w 118"/>
              <a:gd name="T59" fmla="*/ 52 h 76"/>
              <a:gd name="T60" fmla="*/ 10 w 118"/>
              <a:gd name="T61" fmla="*/ 50 h 76"/>
              <a:gd name="T62" fmla="*/ 12 w 118"/>
              <a:gd name="T63" fmla="*/ 36 h 76"/>
              <a:gd name="T64" fmla="*/ 0 w 118"/>
              <a:gd name="T65" fmla="*/ 36 h 76"/>
              <a:gd name="T66" fmla="*/ 0 w 118"/>
              <a:gd name="T67" fmla="*/ 26 h 76"/>
              <a:gd name="T68" fmla="*/ 20 w 118"/>
              <a:gd name="T69" fmla="*/ 26 h 76"/>
              <a:gd name="T70" fmla="*/ 18 w 118"/>
              <a:gd name="T71" fmla="*/ 12 h 76"/>
              <a:gd name="T72" fmla="*/ 24 w 118"/>
              <a:gd name="T73" fmla="*/ 14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18" h="76">
                <a:moveTo>
                  <a:pt x="24" y="14"/>
                </a:moveTo>
                <a:lnTo>
                  <a:pt x="32" y="10"/>
                </a:lnTo>
                <a:lnTo>
                  <a:pt x="36" y="2"/>
                </a:lnTo>
                <a:lnTo>
                  <a:pt x="48" y="0"/>
                </a:lnTo>
                <a:lnTo>
                  <a:pt x="54" y="2"/>
                </a:lnTo>
                <a:lnTo>
                  <a:pt x="52" y="8"/>
                </a:lnTo>
                <a:lnTo>
                  <a:pt x="50" y="14"/>
                </a:lnTo>
                <a:lnTo>
                  <a:pt x="52" y="20"/>
                </a:lnTo>
                <a:lnTo>
                  <a:pt x="54" y="28"/>
                </a:lnTo>
                <a:lnTo>
                  <a:pt x="66" y="28"/>
                </a:lnTo>
                <a:lnTo>
                  <a:pt x="80" y="30"/>
                </a:lnTo>
                <a:lnTo>
                  <a:pt x="100" y="30"/>
                </a:lnTo>
                <a:lnTo>
                  <a:pt x="98" y="36"/>
                </a:lnTo>
                <a:lnTo>
                  <a:pt x="100" y="44"/>
                </a:lnTo>
                <a:lnTo>
                  <a:pt x="106" y="46"/>
                </a:lnTo>
                <a:lnTo>
                  <a:pt x="118" y="44"/>
                </a:lnTo>
                <a:lnTo>
                  <a:pt x="118" y="64"/>
                </a:lnTo>
                <a:lnTo>
                  <a:pt x="90" y="64"/>
                </a:lnTo>
                <a:lnTo>
                  <a:pt x="80" y="70"/>
                </a:lnTo>
                <a:lnTo>
                  <a:pt x="64" y="76"/>
                </a:lnTo>
                <a:lnTo>
                  <a:pt x="64" y="70"/>
                </a:lnTo>
                <a:lnTo>
                  <a:pt x="66" y="62"/>
                </a:lnTo>
                <a:lnTo>
                  <a:pt x="64" y="50"/>
                </a:lnTo>
                <a:lnTo>
                  <a:pt x="56" y="44"/>
                </a:lnTo>
                <a:lnTo>
                  <a:pt x="46" y="60"/>
                </a:lnTo>
                <a:lnTo>
                  <a:pt x="38" y="62"/>
                </a:lnTo>
                <a:lnTo>
                  <a:pt x="18" y="74"/>
                </a:lnTo>
                <a:lnTo>
                  <a:pt x="8" y="70"/>
                </a:lnTo>
                <a:lnTo>
                  <a:pt x="8" y="62"/>
                </a:lnTo>
                <a:lnTo>
                  <a:pt x="16" y="52"/>
                </a:lnTo>
                <a:lnTo>
                  <a:pt x="10" y="50"/>
                </a:lnTo>
                <a:lnTo>
                  <a:pt x="12" y="36"/>
                </a:lnTo>
                <a:lnTo>
                  <a:pt x="0" y="36"/>
                </a:lnTo>
                <a:lnTo>
                  <a:pt x="0" y="26"/>
                </a:lnTo>
                <a:lnTo>
                  <a:pt x="20" y="26"/>
                </a:lnTo>
                <a:lnTo>
                  <a:pt x="18" y="12"/>
                </a:lnTo>
                <a:lnTo>
                  <a:pt x="24" y="1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3175" cap="flat">
            <a:solidFill>
              <a:srgbClr val="1A1D24"/>
            </a:solidFill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C10D4C-F64C-99F1-BD30-82A4C2D74242}"/>
              </a:ext>
            </a:extLst>
          </p:cNvPr>
          <p:cNvSpPr txBox="1"/>
          <p:nvPr/>
        </p:nvSpPr>
        <p:spPr>
          <a:xfrm>
            <a:off x="6568826" y="3573667"/>
            <a:ext cx="2648135" cy="28931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b="1" dirty="0">
                <a:latin typeface="Avenir Book" panose="02000503020000020003" pitchFamily="2" charset="0"/>
              </a:rPr>
              <a:t>Дальновидное управление в сфере ИИ</a:t>
            </a:r>
            <a:r>
              <a:rPr lang="en-US" sz="1300" dirty="0">
                <a:latin typeface="Avenir Book" panose="02000503020000020003" pitchFamily="2" charset="0"/>
              </a:rPr>
              <a:t> — Национальная стратегия ИИ до 2040 г., специальный Совет по ИИ и инициатива Особой зоны ИИ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b="1" dirty="0">
                <a:latin typeface="Avenir Book" panose="02000503020000020003" pitchFamily="2" charset="0"/>
              </a:rPr>
              <a:t>Первые успехи прикладного ИИ</a:t>
            </a:r>
            <a:r>
              <a:rPr lang="en-US" sz="1300" dirty="0">
                <a:latin typeface="Avenir Book" panose="02000503020000020003" pitchFamily="2" charset="0"/>
              </a:rPr>
              <a:t> — в финтехе и государственных услугах, включая образовательную инициативу Project Soro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b="1" dirty="0">
                <a:latin typeface="Avenir Book" panose="02000503020000020003" pitchFamily="2" charset="0"/>
              </a:rPr>
              <a:t>Формирование суверенных возможностей</a:t>
            </a:r>
            <a:r>
              <a:rPr lang="en-US" sz="1300" dirty="0">
                <a:latin typeface="Avenir Book" panose="02000503020000020003" pitchFamily="2" charset="0"/>
              </a:rPr>
              <a:t> — создание ЦОД уровня Tier III и первая большая языковая модель на таджикском языке (</a:t>
            </a:r>
            <a:r>
              <a:rPr lang="en-US" sz="1300" dirty="0" err="1">
                <a:latin typeface="Avenir Book" panose="02000503020000020003" pitchFamily="2" charset="0"/>
              </a:rPr>
              <a:t>SoroLLM</a:t>
            </a:r>
            <a:r>
              <a:rPr lang="en-US" sz="1300" dirty="0">
                <a:latin typeface="Avenir Book" panose="02000503020000020003" pitchFamily="2" charset="0"/>
              </a:rPr>
              <a:t>)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52EE42B5-4616-DCF2-8ABF-B2DD4382FDEB}"/>
              </a:ext>
            </a:extLst>
          </p:cNvPr>
          <p:cNvCxnSpPr>
            <a:cxnSpLocks/>
          </p:cNvCxnSpPr>
          <p:nvPr/>
        </p:nvCxnSpPr>
        <p:spPr>
          <a:xfrm>
            <a:off x="3108210" y="1754717"/>
            <a:ext cx="0" cy="1154690"/>
          </a:xfrm>
          <a:prstGeom prst="line">
            <a:avLst/>
          </a:prstGeom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85A94D9-6474-E1EF-5318-8DF9D5A6F206}"/>
              </a:ext>
            </a:extLst>
          </p:cNvPr>
          <p:cNvSpPr txBox="1"/>
          <p:nvPr/>
        </p:nvSpPr>
        <p:spPr>
          <a:xfrm>
            <a:off x="9395115" y="3429000"/>
            <a:ext cx="2648135" cy="30931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300" b="1" dirty="0">
                <a:latin typeface="Avenir Book" panose="02000503020000020003" pitchFamily="2" charset="0"/>
              </a:rPr>
              <a:t>Н</a:t>
            </a:r>
            <a:r>
              <a:rPr lang="en-US" sz="1300" b="1" dirty="0" err="1">
                <a:latin typeface="Avenir Book" panose="02000503020000020003" pitchFamily="2" charset="0"/>
              </a:rPr>
              <a:t>ормативная</a:t>
            </a:r>
            <a:r>
              <a:rPr lang="en-US" sz="1300" b="1" dirty="0">
                <a:latin typeface="Avenir Book" panose="02000503020000020003" pitchFamily="2" charset="0"/>
              </a:rPr>
              <a:t> база</a:t>
            </a:r>
            <a:r>
              <a:rPr lang="en-US" sz="1300" dirty="0">
                <a:latin typeface="Avenir Book" panose="02000503020000020003" pitchFamily="2" charset="0"/>
              </a:rPr>
              <a:t> — создаваемый Национальный совет по ИИ и Цифровой кодекс наряду с ранним внедрением ИИ в банковском секторе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b="1" dirty="0">
                <a:latin typeface="Avenir Book" panose="02000503020000020003" pitchFamily="2" charset="0"/>
              </a:rPr>
              <a:t>Стратегическое планирование инфраструктуры</a:t>
            </a:r>
            <a:r>
              <a:rPr lang="en-US" sz="1300" dirty="0">
                <a:latin typeface="Avenir Book" panose="02000503020000020003" pitchFamily="2" charset="0"/>
              </a:rPr>
              <a:t> — Национальный ИТ-хаб (Парк </a:t>
            </a:r>
            <a:r>
              <a:rPr lang="en-US" sz="1300" dirty="0" err="1">
                <a:latin typeface="Avenir Book" panose="02000503020000020003" pitchFamily="2" charset="0"/>
              </a:rPr>
              <a:t>высоких</a:t>
            </a:r>
            <a:r>
              <a:rPr lang="en-US" sz="1300" dirty="0">
                <a:latin typeface="Avenir Book" panose="02000503020000020003" pitchFamily="2" charset="0"/>
              </a:rPr>
              <a:t> </a:t>
            </a:r>
            <a:r>
              <a:rPr lang="en-US" sz="1300" dirty="0" err="1">
                <a:latin typeface="Avenir Book" panose="02000503020000020003" pitchFamily="2" charset="0"/>
              </a:rPr>
              <a:t>технологий</a:t>
            </a:r>
            <a:endParaRPr lang="ru-RU" sz="1300" dirty="0">
              <a:latin typeface="Avenir Book" panose="02000503020000020003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b="1" dirty="0" err="1">
                <a:latin typeface="Avenir Book" panose="02000503020000020003" pitchFamily="2" charset="0"/>
              </a:rPr>
              <a:t>Фокус</a:t>
            </a:r>
            <a:r>
              <a:rPr lang="en-US" sz="1300" b="1" dirty="0">
                <a:latin typeface="Avenir Book" panose="02000503020000020003" pitchFamily="2" charset="0"/>
              </a:rPr>
              <a:t> на ИИ для местных языков</a:t>
            </a:r>
            <a:r>
              <a:rPr lang="en-US" sz="1300" dirty="0">
                <a:latin typeface="Avenir Book" panose="02000503020000020003" pitchFamily="2" charset="0"/>
              </a:rPr>
              <a:t> — работа над языковыми моделями для кыргызского языка при наращивании кадровой и технической базы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980B7D-E4D9-E5B3-3339-69EA8902459F}"/>
              </a:ext>
            </a:extLst>
          </p:cNvPr>
          <p:cNvSpPr txBox="1"/>
          <p:nvPr/>
        </p:nvSpPr>
        <p:spPr>
          <a:xfrm>
            <a:off x="899886" y="1627547"/>
            <a:ext cx="14993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>
                <a:solidFill>
                  <a:srgbClr val="1E3A5F"/>
                </a:solidFill>
                <a:latin typeface="Avenir Book" panose="02000503020000020003" pitchFamily="2" charset="0"/>
              </a:rPr>
              <a:t>Казахстан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1DAFE3-1028-0074-59D2-71D9AE70A196}"/>
              </a:ext>
            </a:extLst>
          </p:cNvPr>
          <p:cNvSpPr txBox="1"/>
          <p:nvPr/>
        </p:nvSpPr>
        <p:spPr>
          <a:xfrm>
            <a:off x="3858140" y="1639198"/>
            <a:ext cx="14993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>
                <a:solidFill>
                  <a:srgbClr val="1E3A5F"/>
                </a:solidFill>
                <a:latin typeface="Avenir Book" panose="02000503020000020003" pitchFamily="2" charset="0"/>
              </a:rPr>
              <a:t>Узбекистан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5E9699-2458-6A74-7F8B-66FEF1643728}"/>
              </a:ext>
            </a:extLst>
          </p:cNvPr>
          <p:cNvSpPr txBox="1"/>
          <p:nvPr/>
        </p:nvSpPr>
        <p:spPr>
          <a:xfrm>
            <a:off x="7004255" y="1662930"/>
            <a:ext cx="14993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>
                <a:solidFill>
                  <a:srgbClr val="1E3A5F"/>
                </a:solidFill>
                <a:latin typeface="Avenir Book" panose="02000503020000020003" pitchFamily="2" charset="0"/>
              </a:rPr>
              <a:t>Таджикистан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33DF16-A768-3E09-DBFC-F7398A9A0228}"/>
              </a:ext>
            </a:extLst>
          </p:cNvPr>
          <p:cNvSpPr txBox="1"/>
          <p:nvPr/>
        </p:nvSpPr>
        <p:spPr>
          <a:xfrm>
            <a:off x="9789716" y="1717588"/>
            <a:ext cx="18784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>
                <a:solidFill>
                  <a:srgbClr val="1E3A5F"/>
                </a:solidFill>
                <a:latin typeface="Avenir Book" panose="02000503020000020003" pitchFamily="2" charset="0"/>
              </a:rPr>
              <a:t>Кыргызская Республика</a:t>
            </a: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4B68148D-55F8-DFA0-2DC6-44250D68D104}"/>
              </a:ext>
            </a:extLst>
          </p:cNvPr>
          <p:cNvCxnSpPr>
            <a:cxnSpLocks/>
          </p:cNvCxnSpPr>
          <p:nvPr/>
        </p:nvCxnSpPr>
        <p:spPr>
          <a:xfrm>
            <a:off x="6412693" y="1754717"/>
            <a:ext cx="0" cy="1154690"/>
          </a:xfrm>
          <a:prstGeom prst="line">
            <a:avLst/>
          </a:prstGeom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34730C9B-8C9A-A84F-3311-2D7E3FF706C4}"/>
              </a:ext>
            </a:extLst>
          </p:cNvPr>
          <p:cNvCxnSpPr>
            <a:cxnSpLocks/>
          </p:cNvCxnSpPr>
          <p:nvPr/>
        </p:nvCxnSpPr>
        <p:spPr>
          <a:xfrm>
            <a:off x="9201683" y="1754717"/>
            <a:ext cx="0" cy="1154690"/>
          </a:xfrm>
          <a:prstGeom prst="line">
            <a:avLst/>
          </a:prstGeom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3D03F39-82EC-5F7B-3E26-CDA40CCE801B}"/>
              </a:ext>
            </a:extLst>
          </p:cNvPr>
          <p:cNvSpPr txBox="1"/>
          <p:nvPr/>
        </p:nvSpPr>
        <p:spPr>
          <a:xfrm>
            <a:off x="875610" y="3075938"/>
            <a:ext cx="14991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C66332"/>
                </a:solidFill>
                <a:latin typeface="Avenir Book" panose="02000503020000020003" pitchFamily="2" charset="0"/>
              </a:rPr>
              <a:t>Региональный ИИ-хаб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70FBC4-3339-3BF6-93CB-6EFE358EB436}"/>
              </a:ext>
            </a:extLst>
          </p:cNvPr>
          <p:cNvSpPr txBox="1"/>
          <p:nvPr/>
        </p:nvSpPr>
        <p:spPr>
          <a:xfrm>
            <a:off x="3327315" y="3075938"/>
            <a:ext cx="26388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rgbClr val="C66332"/>
                </a:solidFill>
                <a:latin typeface="Avenir Book" panose="02000503020000020003" pitchFamily="2" charset="0"/>
              </a:rPr>
              <a:t>Строитель ИИ-экосистемы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C91F8A-F345-79DC-4068-938572D8A161}"/>
              </a:ext>
            </a:extLst>
          </p:cNvPr>
          <p:cNvSpPr txBox="1"/>
          <p:nvPr/>
        </p:nvSpPr>
        <p:spPr>
          <a:xfrm>
            <a:off x="6693041" y="3075938"/>
            <a:ext cx="21611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>
              <a:defRPr sz="1400" i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b="1" i="0" dirty="0">
                <a:solidFill>
                  <a:srgbClr val="C66332"/>
                </a:solidFill>
                <a:latin typeface="Avenir Book" panose="02000503020000020003" pitchFamily="2" charset="0"/>
              </a:rPr>
              <a:t>ИИ-новатор в финтехе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C36292-4525-310E-6A62-467E08298F3C}"/>
              </a:ext>
            </a:extLst>
          </p:cNvPr>
          <p:cNvSpPr txBox="1"/>
          <p:nvPr/>
        </p:nvSpPr>
        <p:spPr>
          <a:xfrm>
            <a:off x="9418484" y="3075938"/>
            <a:ext cx="27735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>
              <a:defRPr sz="1400" i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b="1" i="0">
                <a:solidFill>
                  <a:srgbClr val="C66332"/>
                </a:solidFill>
                <a:latin typeface="Avenir Book" panose="02000503020000020003" pitchFamily="2" charset="0"/>
              </a:rPr>
              <a:t>Формирует базу для ИИ</a:t>
            </a:r>
          </a:p>
        </p:txBody>
      </p:sp>
    </p:spTree>
    <p:extLst>
      <p:ext uri="{BB962C8B-B14F-4D97-AF65-F5344CB8AC3E}">
        <p14:creationId xmlns:p14="http://schemas.microsoft.com/office/powerpoint/2010/main" val="62116676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D28F565-F462-BFE8-A5F0-AD55906C30E6}"/>
              </a:ext>
            </a:extLst>
          </p:cNvPr>
          <p:cNvSpPr txBox="1"/>
          <p:nvPr/>
        </p:nvSpPr>
        <p:spPr>
          <a:xfrm>
            <a:off x="730353" y="2689560"/>
            <a:ext cx="2842533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0" lvl="1" fontAlgn="base">
              <a:spcAft>
                <a:spcPts val="1200"/>
              </a:spcAft>
              <a:defRPr/>
            </a:pPr>
            <a:r>
              <a:rPr lang="en-US" sz="2800" b="1">
                <a:solidFill>
                  <a:srgbClr val="1E3A5F"/>
                </a:solidFill>
                <a:latin typeface="Avenir Book" panose="02000503020000020003" pitchFamily="2" charset="0"/>
                <a:ea typeface="Calibri"/>
                <a:cs typeface="Calibri"/>
              </a:rPr>
              <a:t>Цифровая миссия ГВБ (WBG): </a:t>
            </a:r>
          </a:p>
          <a:p>
            <a:pPr marL="127000" lvl="1" fontAlgn="base">
              <a:spcAft>
                <a:spcPts val="1200"/>
              </a:spcAft>
              <a:defRPr/>
            </a:pPr>
            <a:r>
              <a:rPr lang="en-US" sz="1600">
                <a:solidFill>
                  <a:srgbClr val="1E3A5F"/>
                </a:solidFill>
                <a:latin typeface="Avenir Book" panose="02000503020000020003" pitchFamily="2" charset="0"/>
                <a:ea typeface="Calibri"/>
                <a:cs typeface="Calibri"/>
              </a:rPr>
              <a:t>подключить людей, правительства и предприятия к цифровым услугам, </a:t>
            </a:r>
            <a:r>
              <a:rPr lang="en-US" sz="1600">
                <a:solidFill>
                  <a:srgbClr val="D97706"/>
                </a:solidFill>
                <a:latin typeface="Avenir Book" panose="02000503020000020003" pitchFamily="2" charset="0"/>
                <a:ea typeface="Calibri"/>
                <a:cs typeface="Calibri"/>
              </a:rPr>
              <a:t>обеспечить безопасное использование цифровых технологий и ИИ, создать больше рабочих мест</a:t>
            </a:r>
            <a:r>
              <a:rPr lang="en-US" sz="1600">
                <a:solidFill>
                  <a:srgbClr val="1E3A5F"/>
                </a:solidFill>
                <a:latin typeface="Avenir Book" panose="02000503020000020003" pitchFamily="2" charset="0"/>
                <a:ea typeface="Calibri"/>
                <a:cs typeface="Calibri"/>
              </a:rPr>
              <a:t> ради результатов в развитии.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8D4B0EBA-0586-E3B3-F372-8400CE338903}"/>
              </a:ext>
            </a:extLst>
          </p:cNvPr>
          <p:cNvSpPr/>
          <p:nvPr/>
        </p:nvSpPr>
        <p:spPr>
          <a:xfrm>
            <a:off x="804810" y="606279"/>
            <a:ext cx="11387190" cy="1434833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Roboto Condensed"/>
              <a:ea typeface="+mn-ea"/>
              <a:cs typeface="Roboto Condensed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8B76D93-9953-916B-E15B-392C472B4FA2}"/>
              </a:ext>
            </a:extLst>
          </p:cNvPr>
          <p:cNvSpPr txBox="1">
            <a:spLocks/>
          </p:cNvSpPr>
          <p:nvPr/>
        </p:nvSpPr>
        <p:spPr>
          <a:xfrm>
            <a:off x="1011612" y="881855"/>
            <a:ext cx="9275903" cy="815955"/>
          </a:xfrm>
          <a:prstGeom prst="rect">
            <a:avLst/>
          </a:prstGeom>
          <a:solidFill>
            <a:srgbClr val="1E3A5F"/>
          </a:solidFill>
        </p:spPr>
        <p:txBody>
          <a:bodyPr lIns="96012" tIns="48006" rIns="96012" bIns="48006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dirty="0">
                <a:solidFill>
                  <a:schemeClr val="bg1"/>
                </a:solidFill>
                <a:latin typeface="Avenir Book" panose="02000503020000020003" pitchFamily="2" charset="0"/>
                <a:ea typeface="Tw Cen MT Condensed Extra Bold" charset="0"/>
                <a:cs typeface="Tw Cen MT Condensed Extra Bold" charset="0"/>
              </a:rPr>
              <a:t>Цифровизация — 4 </a:t>
            </a:r>
            <a:r>
              <a:rPr lang="en-GB" sz="3200" b="1" dirty="0" err="1">
                <a:solidFill>
                  <a:schemeClr val="bg1"/>
                </a:solidFill>
                <a:latin typeface="Avenir Book" panose="02000503020000020003" pitchFamily="2" charset="0"/>
                <a:ea typeface="Tw Cen MT Condensed Extra Bold" charset="0"/>
                <a:cs typeface="Tw Cen MT Condensed Extra Bold" charset="0"/>
              </a:rPr>
              <a:t>стратегически</a:t>
            </a:r>
            <a:r>
              <a:rPr lang="ru-RU" sz="3200" b="1" dirty="0">
                <a:solidFill>
                  <a:schemeClr val="bg1"/>
                </a:solidFill>
                <a:latin typeface="Avenir Book" panose="02000503020000020003" pitchFamily="2" charset="0"/>
                <a:ea typeface="Tw Cen MT Condensed Extra Bold" charset="0"/>
                <a:cs typeface="Tw Cen MT Condensed Extra Bold" charset="0"/>
              </a:rPr>
              <a:t>х</a:t>
            </a:r>
            <a:r>
              <a:rPr lang="en-GB" sz="3200" b="1" dirty="0">
                <a:solidFill>
                  <a:schemeClr val="bg1"/>
                </a:solidFill>
                <a:latin typeface="Avenir Book" panose="02000503020000020003" pitchFamily="2" charset="0"/>
                <a:ea typeface="Tw Cen MT Condensed Extra Bold" charset="0"/>
                <a:cs typeface="Tw Cen MT Condensed Extra Bold" charset="0"/>
              </a:rPr>
              <a:t> </a:t>
            </a:r>
            <a:r>
              <a:rPr lang="ru-RU" sz="3200" b="1" dirty="0">
                <a:solidFill>
                  <a:schemeClr val="bg1"/>
                </a:solidFill>
                <a:latin typeface="Avenir Book" panose="02000503020000020003" pitchFamily="2" charset="0"/>
                <a:ea typeface="Tw Cen MT Condensed Extra Bold" charset="0"/>
                <a:cs typeface="Tw Cen MT Condensed Extra Bold" charset="0"/>
              </a:rPr>
              <a:t>направлений</a:t>
            </a:r>
            <a:endParaRPr lang="en-GB" sz="3200" b="1" dirty="0">
              <a:solidFill>
                <a:schemeClr val="bg1"/>
              </a:solidFill>
              <a:latin typeface="Avenir Book" panose="02000503020000020003" pitchFamily="2" charset="0"/>
              <a:ea typeface="Tw Cen MT Condensed Extra Bold" charset="0"/>
              <a:cs typeface="Tw Cen MT Condensed Extra Bold" charset="0"/>
            </a:endParaRPr>
          </a:p>
        </p:txBody>
      </p:sp>
      <p:pic>
        <p:nvPicPr>
          <p:cNvPr id="24" name="Picture 7">
            <a:extLst>
              <a:ext uri="{FF2B5EF4-FFF2-40B4-BE49-F238E27FC236}">
                <a16:creationId xmlns:a16="http://schemas.microsoft.com/office/drawing/2014/main" id="{52002B62-032B-365B-FE6C-5FB22FFAD12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5247" y="639185"/>
            <a:ext cx="1369020" cy="1369020"/>
          </a:xfrm>
          <a:prstGeom prst="rect">
            <a:avLst/>
          </a:prstGeom>
          <a:noFill/>
        </p:spPr>
      </p:pic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5CC07707-B994-4E54-2D71-2D4FAAD8B654}"/>
              </a:ext>
            </a:extLst>
          </p:cNvPr>
          <p:cNvCxnSpPr>
            <a:cxnSpLocks/>
          </p:cNvCxnSpPr>
          <p:nvPr/>
        </p:nvCxnSpPr>
        <p:spPr>
          <a:xfrm>
            <a:off x="3736411" y="2518052"/>
            <a:ext cx="0" cy="3619701"/>
          </a:xfrm>
          <a:prstGeom prst="line">
            <a:avLst/>
          </a:prstGeom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Rectangle: Rounded Corners 8">
            <a:extLst>
              <a:ext uri="{FF2B5EF4-FFF2-40B4-BE49-F238E27FC236}">
                <a16:creationId xmlns:a16="http://schemas.microsoft.com/office/drawing/2014/main" id="{E171F110-F023-CA5A-AF2D-EF061C88F991}"/>
              </a:ext>
            </a:extLst>
          </p:cNvPr>
          <p:cNvSpPr/>
          <p:nvPr/>
        </p:nvSpPr>
        <p:spPr bwMode="auto">
          <a:xfrm>
            <a:off x="4331645" y="3448529"/>
            <a:ext cx="1654342" cy="1722299"/>
          </a:xfrm>
          <a:prstGeom prst="roundRect">
            <a:avLst>
              <a:gd name="adj" fmla="val 10412"/>
            </a:avLst>
          </a:prstGeom>
          <a:solidFill>
            <a:srgbClr val="1E3A5F">
              <a:alpha val="15962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Aft>
                <a:spcPct val="0"/>
              </a:spcAft>
              <a:defRPr/>
            </a:pPr>
            <a:r>
              <a:rPr lang="en-US" sz="1400" dirty="0" err="1">
                <a:latin typeface="Avenir Book" panose="02000503020000020003" pitchFamily="2" charset="0"/>
                <a:ea typeface="ＭＳ Ｐゴシック"/>
                <a:cs typeface="Times New Roman"/>
              </a:rPr>
              <a:t>Подключить</a:t>
            </a:r>
            <a:r>
              <a:rPr lang="en-US" sz="1400" dirty="0">
                <a:latin typeface="Avenir Book" panose="02000503020000020003" pitchFamily="2" charset="0"/>
                <a:ea typeface="ＭＳ Ｐゴシック"/>
                <a:cs typeface="Times New Roman"/>
              </a:rPr>
              <a:t> </a:t>
            </a:r>
            <a:r>
              <a:rPr lang="en-US" sz="1400" dirty="0" err="1">
                <a:latin typeface="Avenir Book" panose="02000503020000020003" pitchFamily="2" charset="0"/>
                <a:ea typeface="ＭＳ Ｐゴシック"/>
                <a:cs typeface="Times New Roman"/>
              </a:rPr>
              <a:t>людей</a:t>
            </a:r>
            <a:r>
              <a:rPr lang="en-US" sz="1400" dirty="0">
                <a:latin typeface="Avenir Book" panose="02000503020000020003" pitchFamily="2" charset="0"/>
                <a:ea typeface="ＭＳ Ｐゴシック"/>
                <a:cs typeface="Times New Roman"/>
              </a:rPr>
              <a:t> </a:t>
            </a:r>
            <a:r>
              <a:rPr lang="ru-RU" sz="1400" dirty="0">
                <a:latin typeface="Avenir Book" panose="02000503020000020003" pitchFamily="2" charset="0"/>
                <a:ea typeface="ＭＳ Ｐゴシック"/>
                <a:cs typeface="Times New Roman"/>
              </a:rPr>
              <a:t> интернету </a:t>
            </a:r>
            <a:r>
              <a:rPr lang="en-US" sz="1400" dirty="0">
                <a:latin typeface="Avenir Book" panose="02000503020000020003" pitchFamily="2" charset="0"/>
                <a:ea typeface="ＭＳ Ｐゴシック"/>
                <a:cs typeface="Times New Roman"/>
              </a:rPr>
              <a:t>в </a:t>
            </a:r>
            <a:r>
              <a:rPr lang="en-US" sz="1400" dirty="0" err="1">
                <a:latin typeface="Avenir Book" panose="02000503020000020003" pitchFamily="2" charset="0"/>
                <a:ea typeface="ＭＳ Ｐゴシック"/>
                <a:cs typeface="Times New Roman"/>
              </a:rPr>
              <a:t>труднодоступных</a:t>
            </a:r>
            <a:r>
              <a:rPr lang="en-US" sz="1400" dirty="0">
                <a:latin typeface="Avenir Book" panose="02000503020000020003" pitchFamily="2" charset="0"/>
                <a:ea typeface="ＭＳ Ｐゴシック"/>
                <a:cs typeface="Times New Roman"/>
              </a:rPr>
              <a:t> </a:t>
            </a:r>
            <a:r>
              <a:rPr lang="en-US" sz="1400" dirty="0" err="1">
                <a:latin typeface="Avenir Book" panose="02000503020000020003" pitchFamily="2" charset="0"/>
                <a:ea typeface="ＭＳ Ｐゴシック"/>
                <a:cs typeface="Times New Roman"/>
              </a:rPr>
              <a:t>районах</a:t>
            </a:r>
            <a:r>
              <a:rPr lang="en-US" sz="1400" dirty="0">
                <a:latin typeface="Avenir Book" panose="02000503020000020003" pitchFamily="2" charset="0"/>
                <a:ea typeface="ＭＳ Ｐゴシック"/>
                <a:cs typeface="Times New Roman"/>
              </a:rPr>
              <a:t> и </a:t>
            </a:r>
            <a:r>
              <a:rPr lang="en-US" sz="1400" dirty="0" err="1">
                <a:latin typeface="Avenir Book" panose="02000503020000020003" pitchFamily="2" charset="0"/>
                <a:ea typeface="ＭＳ Ｐゴシック"/>
                <a:cs typeface="Times New Roman"/>
              </a:rPr>
              <a:t>повысить</a:t>
            </a:r>
            <a:r>
              <a:rPr lang="en-US" sz="1400" dirty="0">
                <a:latin typeface="Avenir Book" panose="02000503020000020003" pitchFamily="2" charset="0"/>
                <a:ea typeface="ＭＳ Ｐゴシック"/>
                <a:cs typeface="Times New Roman"/>
              </a:rPr>
              <a:t> </a:t>
            </a:r>
            <a:r>
              <a:rPr lang="en-US" sz="1400" dirty="0" err="1">
                <a:latin typeface="Avenir Book" panose="02000503020000020003" pitchFamily="2" charset="0"/>
                <a:ea typeface="ＭＳ Ｐゴシック"/>
                <a:cs typeface="Times New Roman"/>
              </a:rPr>
              <a:t>качество</a:t>
            </a:r>
            <a:r>
              <a:rPr lang="en-US" sz="1400" dirty="0">
                <a:latin typeface="Avenir Book" panose="02000503020000020003" pitchFamily="2" charset="0"/>
                <a:ea typeface="ＭＳ Ｐゴシック"/>
                <a:cs typeface="Times New Roman"/>
              </a:rPr>
              <a:t> </a:t>
            </a:r>
            <a:r>
              <a:rPr lang="en-US" sz="1400" dirty="0" err="1">
                <a:latin typeface="Avenir Book" panose="02000503020000020003" pitchFamily="2" charset="0"/>
                <a:ea typeface="ＭＳ Ｐゴシック"/>
                <a:cs typeface="Times New Roman"/>
              </a:rPr>
              <a:t>связи</a:t>
            </a:r>
            <a:endParaRPr lang="en-US" sz="14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venir Book" panose="02000503020000020003" pitchFamily="2" charset="0"/>
              <a:ea typeface="Calibri"/>
              <a:cs typeface="Calibri"/>
            </a:endParaRPr>
          </a:p>
        </p:txBody>
      </p:sp>
      <p:sp>
        <p:nvSpPr>
          <p:cNvPr id="27" name="Rectangle: Rounded Corners 9">
            <a:extLst>
              <a:ext uri="{FF2B5EF4-FFF2-40B4-BE49-F238E27FC236}">
                <a16:creationId xmlns:a16="http://schemas.microsoft.com/office/drawing/2014/main" id="{AC4AD1C6-76EB-1C41-7883-CCE935091DD3}"/>
              </a:ext>
            </a:extLst>
          </p:cNvPr>
          <p:cNvSpPr/>
          <p:nvPr/>
        </p:nvSpPr>
        <p:spPr bwMode="auto">
          <a:xfrm>
            <a:off x="4228300" y="2887175"/>
            <a:ext cx="1861033" cy="587195"/>
          </a:xfrm>
          <a:prstGeom prst="roundRect">
            <a:avLst>
              <a:gd name="adj" fmla="val 22375"/>
            </a:avLst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latin typeface="Avenir Book" panose="02000503020000020003" pitchFamily="2" charset="0"/>
                <a:ea typeface="ＭＳ Ｐゴシック"/>
                <a:cs typeface="Times New Roman"/>
              </a:rPr>
              <a:t>Доступ</a:t>
            </a:r>
            <a:endParaRPr lang="en-US" sz="14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venir Book" panose="02000503020000020003" pitchFamily="2" charset="0"/>
              <a:ea typeface="ＭＳ Ｐゴシック"/>
              <a:cs typeface="Times New Roman"/>
            </a:endParaRPr>
          </a:p>
        </p:txBody>
      </p:sp>
      <p:sp>
        <p:nvSpPr>
          <p:cNvPr id="31" name="Oval 21">
            <a:extLst>
              <a:ext uri="{FF2B5EF4-FFF2-40B4-BE49-F238E27FC236}">
                <a16:creationId xmlns:a16="http://schemas.microsoft.com/office/drawing/2014/main" id="{CED80EFF-CD5E-8022-8A7F-062858B402C9}"/>
              </a:ext>
            </a:extLst>
          </p:cNvPr>
          <p:cNvSpPr/>
          <p:nvPr/>
        </p:nvSpPr>
        <p:spPr>
          <a:xfrm>
            <a:off x="4975936" y="2598124"/>
            <a:ext cx="365760" cy="365760"/>
          </a:xfrm>
          <a:prstGeom prst="ellipse">
            <a:avLst/>
          </a:prstGeom>
          <a:solidFill>
            <a:srgbClr val="00375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1</a:t>
            </a:r>
          </a:p>
        </p:txBody>
      </p:sp>
      <p:sp>
        <p:nvSpPr>
          <p:cNvPr id="32" name="Rectangle: Rounded Corners 11">
            <a:extLst>
              <a:ext uri="{FF2B5EF4-FFF2-40B4-BE49-F238E27FC236}">
                <a16:creationId xmlns:a16="http://schemas.microsoft.com/office/drawing/2014/main" id="{9E96DBD8-36B3-3C9C-2750-EA04E198E9D8}"/>
              </a:ext>
            </a:extLst>
          </p:cNvPr>
          <p:cNvSpPr/>
          <p:nvPr/>
        </p:nvSpPr>
        <p:spPr bwMode="auto">
          <a:xfrm>
            <a:off x="5997886" y="2887175"/>
            <a:ext cx="1871216" cy="587195"/>
          </a:xfrm>
          <a:prstGeom prst="roundRect">
            <a:avLst>
              <a:gd name="adj" fmla="val 22375"/>
            </a:avLst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venir Book" panose="02000503020000020003" pitchFamily="2" charset="0"/>
                <a:ea typeface="ＭＳ Ｐゴシック"/>
                <a:cs typeface="Times New Roman"/>
              </a:rPr>
              <a:t>Ценовая </a:t>
            </a:r>
            <a:r>
              <a:rPr lang="en-US" sz="2000" b="1">
                <a:latin typeface="Avenir Book" panose="02000503020000020003" pitchFamily="2" charset="0"/>
                <a:ea typeface="ＭＳ Ｐゴシック"/>
                <a:cs typeface="Times New Roman"/>
              </a:rPr>
              <a:t>доступность</a:t>
            </a:r>
            <a:endParaRPr lang="en-US" sz="14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venir Book" panose="02000503020000020003" pitchFamily="2" charset="0"/>
              <a:ea typeface="ＭＳ Ｐゴシック"/>
              <a:cs typeface="Times New Roman"/>
            </a:endParaRPr>
          </a:p>
        </p:txBody>
      </p:sp>
      <p:sp>
        <p:nvSpPr>
          <p:cNvPr id="33" name="Oval 22">
            <a:extLst>
              <a:ext uri="{FF2B5EF4-FFF2-40B4-BE49-F238E27FC236}">
                <a16:creationId xmlns:a16="http://schemas.microsoft.com/office/drawing/2014/main" id="{CB0D4BDC-CF50-0D70-95FF-BEB6989FAE2F}"/>
              </a:ext>
            </a:extLst>
          </p:cNvPr>
          <p:cNvSpPr/>
          <p:nvPr/>
        </p:nvSpPr>
        <p:spPr>
          <a:xfrm>
            <a:off x="6750614" y="2599589"/>
            <a:ext cx="365760" cy="365760"/>
          </a:xfrm>
          <a:prstGeom prst="ellipse">
            <a:avLst/>
          </a:prstGeom>
          <a:solidFill>
            <a:srgbClr val="00375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</a:p>
        </p:txBody>
      </p:sp>
      <p:sp>
        <p:nvSpPr>
          <p:cNvPr id="34" name="Rectangle: Rounded Corners 8">
            <a:extLst>
              <a:ext uri="{FF2B5EF4-FFF2-40B4-BE49-F238E27FC236}">
                <a16:creationId xmlns:a16="http://schemas.microsoft.com/office/drawing/2014/main" id="{2977A834-EA3C-F381-6381-40AA6353CBBF}"/>
              </a:ext>
            </a:extLst>
          </p:cNvPr>
          <p:cNvSpPr/>
          <p:nvPr/>
        </p:nvSpPr>
        <p:spPr bwMode="auto">
          <a:xfrm>
            <a:off x="6106323" y="3448529"/>
            <a:ext cx="1654342" cy="1722299"/>
          </a:xfrm>
          <a:prstGeom prst="roundRect">
            <a:avLst>
              <a:gd name="adj" fmla="val 10412"/>
            </a:avLst>
          </a:prstGeom>
          <a:solidFill>
            <a:srgbClr val="1E3A5F">
              <a:alpha val="15962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Aft>
                <a:spcPct val="0"/>
              </a:spcAft>
              <a:defRPr/>
            </a:pPr>
            <a:r>
              <a:rPr lang="en-US" sz="1400" dirty="0" err="1">
                <a:latin typeface="Avenir Book" panose="02000503020000020003" pitchFamily="2" charset="0"/>
                <a:ea typeface="ＭＳ Ｐゴシック"/>
                <a:cs typeface="Times New Roman"/>
              </a:rPr>
              <a:t>Обеспечить</a:t>
            </a:r>
            <a:r>
              <a:rPr lang="en-US" sz="1400" dirty="0">
                <a:latin typeface="Avenir Book" panose="02000503020000020003" pitchFamily="2" charset="0"/>
                <a:ea typeface="ＭＳ Ｐゴシック"/>
                <a:cs typeface="Times New Roman"/>
              </a:rPr>
              <a:t> </a:t>
            </a:r>
            <a:r>
              <a:rPr lang="en-US" sz="1400" dirty="0" err="1">
                <a:latin typeface="Avenir Book" panose="02000503020000020003" pitchFamily="2" charset="0"/>
                <a:ea typeface="ＭＳ Ｐゴシック"/>
                <a:cs typeface="Times New Roman"/>
              </a:rPr>
              <a:t>доступные</a:t>
            </a:r>
            <a:r>
              <a:rPr lang="en-US" sz="1400" dirty="0">
                <a:latin typeface="Avenir Book" panose="02000503020000020003" pitchFamily="2" charset="0"/>
                <a:ea typeface="ＭＳ Ｐゴシック"/>
                <a:cs typeface="Times New Roman"/>
              </a:rPr>
              <a:t> </a:t>
            </a:r>
            <a:r>
              <a:rPr lang="en-US" sz="1400" dirty="0" err="1">
                <a:latin typeface="Avenir Book" panose="02000503020000020003" pitchFamily="2" charset="0"/>
                <a:ea typeface="ＭＳ Ｐゴシック"/>
                <a:cs typeface="Times New Roman"/>
              </a:rPr>
              <a:t>устройства</a:t>
            </a:r>
            <a:r>
              <a:rPr lang="en-US" sz="1400" dirty="0">
                <a:latin typeface="Avenir Book" panose="02000503020000020003" pitchFamily="2" charset="0"/>
                <a:ea typeface="ＭＳ Ｐゴシック"/>
                <a:cs typeface="Times New Roman"/>
              </a:rPr>
              <a:t>, </a:t>
            </a:r>
            <a:r>
              <a:rPr lang="en-US" sz="1400" dirty="0" err="1">
                <a:latin typeface="Avenir Book" panose="02000503020000020003" pitchFamily="2" charset="0"/>
                <a:ea typeface="ＭＳ Ｐゴシック"/>
                <a:cs typeface="Times New Roman"/>
              </a:rPr>
              <a:t>особенно</a:t>
            </a:r>
            <a:r>
              <a:rPr lang="en-US" sz="1400" dirty="0">
                <a:latin typeface="Avenir Book" panose="02000503020000020003" pitchFamily="2" charset="0"/>
                <a:ea typeface="ＭＳ Ｐゴシック"/>
                <a:cs typeface="Times New Roman"/>
              </a:rPr>
              <a:t> </a:t>
            </a:r>
            <a:r>
              <a:rPr lang="en-US" sz="1400" dirty="0" err="1">
                <a:latin typeface="Avenir Book" panose="02000503020000020003" pitchFamily="2" charset="0"/>
                <a:ea typeface="ＭＳ Ｐゴシック"/>
                <a:cs typeface="Times New Roman"/>
              </a:rPr>
              <a:t>для</a:t>
            </a:r>
            <a:r>
              <a:rPr lang="en-US" sz="1400" dirty="0">
                <a:latin typeface="Avenir Book" panose="02000503020000020003" pitchFamily="2" charset="0"/>
                <a:ea typeface="ＭＳ Ｐゴシック"/>
                <a:cs typeface="Times New Roman"/>
              </a:rPr>
              <a:t> </a:t>
            </a:r>
            <a:r>
              <a:rPr lang="en-US" sz="1400" dirty="0" err="1">
                <a:latin typeface="Avenir Book" panose="02000503020000020003" pitchFamily="2" charset="0"/>
                <a:ea typeface="ＭＳ Ｐゴシック"/>
                <a:cs typeface="Times New Roman"/>
              </a:rPr>
              <a:t>беднейших</a:t>
            </a:r>
            <a:r>
              <a:rPr lang="ru-RU" sz="1400" dirty="0">
                <a:latin typeface="Avenir Book" panose="02000503020000020003" pitchFamily="2" charset="0"/>
                <a:ea typeface="ＭＳ Ｐゴシック"/>
                <a:cs typeface="Times New Roman"/>
              </a:rPr>
              <a:t> (</a:t>
            </a:r>
            <a:r>
              <a:rPr lang="en-US" sz="1400" dirty="0">
                <a:latin typeface="Avenir Book" panose="02000503020000020003" pitchFamily="2" charset="0"/>
                <a:ea typeface="ＭＳ Ｐゴシック"/>
                <a:cs typeface="Times New Roman"/>
              </a:rPr>
              <a:t>40%</a:t>
            </a:r>
            <a:r>
              <a:rPr lang="ru-RU" sz="1400" dirty="0">
                <a:latin typeface="Avenir Book" panose="02000503020000020003" pitchFamily="2" charset="0"/>
                <a:ea typeface="ＭＳ Ｐゴシック"/>
                <a:cs typeface="Times New Roman"/>
              </a:rPr>
              <a:t>) слоев м</a:t>
            </a:r>
            <a:r>
              <a:rPr lang="en-US" sz="1400" dirty="0" err="1">
                <a:latin typeface="Avenir Book" panose="02000503020000020003" pitchFamily="2" charset="0"/>
                <a:ea typeface="ＭＳ Ｐゴシック"/>
                <a:cs typeface="Times New Roman"/>
              </a:rPr>
              <a:t>населения</a:t>
            </a:r>
            <a:endParaRPr lang="en-US" sz="1400" dirty="0">
              <a:latin typeface="Avenir Book" panose="02000503020000020003" pitchFamily="2" charset="0"/>
              <a:ea typeface="ＭＳ Ｐゴシック"/>
              <a:cs typeface="Times New Roman"/>
            </a:endParaRPr>
          </a:p>
        </p:txBody>
      </p:sp>
      <p:sp>
        <p:nvSpPr>
          <p:cNvPr id="35" name="Rectangle: Rounded Corners 8">
            <a:extLst>
              <a:ext uri="{FF2B5EF4-FFF2-40B4-BE49-F238E27FC236}">
                <a16:creationId xmlns:a16="http://schemas.microsoft.com/office/drawing/2014/main" id="{210A38A5-7E9F-155A-780A-E75C6CFA69A0}"/>
              </a:ext>
            </a:extLst>
          </p:cNvPr>
          <p:cNvSpPr/>
          <p:nvPr/>
        </p:nvSpPr>
        <p:spPr bwMode="auto">
          <a:xfrm>
            <a:off x="7881001" y="3448529"/>
            <a:ext cx="1654342" cy="1722299"/>
          </a:xfrm>
          <a:prstGeom prst="roundRect">
            <a:avLst>
              <a:gd name="adj" fmla="val 10412"/>
            </a:avLst>
          </a:prstGeom>
          <a:solidFill>
            <a:srgbClr val="1E3A5F">
              <a:alpha val="15962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Aft>
                <a:spcPct val="0"/>
              </a:spcAft>
              <a:defRPr/>
            </a:pPr>
            <a:r>
              <a:rPr lang="en-US" sz="1400" dirty="0">
                <a:latin typeface="Avenir Book" panose="02000503020000020003" pitchFamily="2" charset="0"/>
                <a:ea typeface="ＭＳ Ｐゴシック"/>
                <a:cs typeface="Times New Roman"/>
              </a:rPr>
              <a:t>Раскрыть потенциал цифровых услуг, развивать отрасль, кадры и навыки </a:t>
            </a:r>
          </a:p>
        </p:txBody>
      </p:sp>
      <p:sp>
        <p:nvSpPr>
          <p:cNvPr id="36" name="Rectangle: Rounded Corners 8">
            <a:extLst>
              <a:ext uri="{FF2B5EF4-FFF2-40B4-BE49-F238E27FC236}">
                <a16:creationId xmlns:a16="http://schemas.microsoft.com/office/drawing/2014/main" id="{462620CA-AA38-EE40-43A1-04B5354BB768}"/>
              </a:ext>
            </a:extLst>
          </p:cNvPr>
          <p:cNvSpPr/>
          <p:nvPr/>
        </p:nvSpPr>
        <p:spPr bwMode="auto">
          <a:xfrm>
            <a:off x="9698868" y="3438424"/>
            <a:ext cx="1654342" cy="1722299"/>
          </a:xfrm>
          <a:prstGeom prst="roundRect">
            <a:avLst>
              <a:gd name="adj" fmla="val 10412"/>
            </a:avLst>
          </a:prstGeom>
          <a:solidFill>
            <a:srgbClr val="1E3A5F">
              <a:alpha val="15962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Aft>
                <a:spcPct val="0"/>
              </a:spcAft>
              <a:defRPr/>
            </a:pPr>
            <a:r>
              <a:rPr lang="en-US" sz="1400" dirty="0" err="1">
                <a:latin typeface="Avenir Book" panose="02000503020000020003" pitchFamily="2" charset="0"/>
                <a:ea typeface="ＭＳ Ｐゴシック"/>
                <a:cs typeface="Times New Roman"/>
              </a:rPr>
              <a:t>Преодолеть</a:t>
            </a:r>
            <a:r>
              <a:rPr lang="en-US" sz="1400" dirty="0">
                <a:latin typeface="Avenir Book" panose="02000503020000020003" pitchFamily="2" charset="0"/>
                <a:ea typeface="ＭＳ Ｐゴシック"/>
                <a:cs typeface="Times New Roman"/>
              </a:rPr>
              <a:t> </a:t>
            </a:r>
            <a:r>
              <a:rPr lang="en-US" sz="1400" dirty="0" err="1">
                <a:latin typeface="Avenir Book" panose="02000503020000020003" pitchFamily="2" charset="0"/>
                <a:ea typeface="ＭＳ Ｐゴシック"/>
                <a:cs typeface="Times New Roman"/>
              </a:rPr>
              <a:t>растущий</a:t>
            </a:r>
            <a:r>
              <a:rPr lang="en-US" sz="1400" dirty="0">
                <a:latin typeface="Avenir Book" panose="02000503020000020003" pitchFamily="2" charset="0"/>
                <a:ea typeface="ＭＳ Ｐゴシック"/>
                <a:cs typeface="Times New Roman"/>
              </a:rPr>
              <a:t> </a:t>
            </a:r>
            <a:r>
              <a:rPr lang="en-US" sz="1400" dirty="0" err="1">
                <a:latin typeface="Avenir Book" panose="02000503020000020003" pitchFamily="2" charset="0"/>
                <a:ea typeface="ＭＳ Ｐゴシック"/>
                <a:cs typeface="Times New Roman"/>
              </a:rPr>
              <a:t>цифровой</a:t>
            </a:r>
            <a:r>
              <a:rPr lang="en-US" sz="1400" dirty="0">
                <a:latin typeface="Avenir Book" panose="02000503020000020003" pitchFamily="2" charset="0"/>
                <a:ea typeface="ＭＳ Ｐゴシック"/>
                <a:cs typeface="Times New Roman"/>
              </a:rPr>
              <a:t> </a:t>
            </a:r>
            <a:r>
              <a:rPr lang="en-US" sz="1400" dirty="0" err="1">
                <a:latin typeface="Avenir Book" panose="02000503020000020003" pitchFamily="2" charset="0"/>
                <a:ea typeface="ＭＳ Ｐゴシック"/>
                <a:cs typeface="Times New Roman"/>
              </a:rPr>
              <a:t>разрыв</a:t>
            </a:r>
            <a:r>
              <a:rPr lang="en-US" sz="1400" dirty="0">
                <a:latin typeface="Avenir Book" panose="02000503020000020003" pitchFamily="2" charset="0"/>
                <a:ea typeface="ＭＳ Ｐゴシック"/>
                <a:cs typeface="Times New Roman"/>
              </a:rPr>
              <a:t> в </a:t>
            </a:r>
            <a:r>
              <a:rPr lang="en-US" sz="1400" dirty="0" err="1">
                <a:latin typeface="Avenir Book" panose="02000503020000020003" pitchFamily="2" charset="0"/>
                <a:ea typeface="ＭＳ Ｐゴシック"/>
                <a:cs typeface="Times New Roman"/>
              </a:rPr>
              <a:t>условиях</a:t>
            </a:r>
            <a:r>
              <a:rPr lang="en-US" sz="1400" dirty="0">
                <a:latin typeface="Avenir Book" panose="02000503020000020003" pitchFamily="2" charset="0"/>
                <a:ea typeface="ＭＳ Ｐゴシック"/>
                <a:cs typeface="Times New Roman"/>
              </a:rPr>
              <a:t> </a:t>
            </a:r>
            <a:r>
              <a:rPr lang="en-US" sz="1400" dirty="0" err="1">
                <a:latin typeface="Avenir Book" panose="02000503020000020003" pitchFamily="2" charset="0"/>
                <a:ea typeface="ＭＳ Ｐゴシック"/>
                <a:cs typeface="Times New Roman"/>
              </a:rPr>
              <a:t>подъёма</a:t>
            </a:r>
            <a:r>
              <a:rPr lang="en-US" sz="1400" dirty="0">
                <a:latin typeface="Avenir Book" panose="02000503020000020003" pitchFamily="2" charset="0"/>
                <a:ea typeface="ＭＳ Ｐゴシック"/>
                <a:cs typeface="Times New Roman"/>
              </a:rPr>
              <a:t> ИИ</a:t>
            </a:r>
          </a:p>
        </p:txBody>
      </p:sp>
      <p:sp>
        <p:nvSpPr>
          <p:cNvPr id="37" name="Rectangle: Rounded Corners 11">
            <a:extLst>
              <a:ext uri="{FF2B5EF4-FFF2-40B4-BE49-F238E27FC236}">
                <a16:creationId xmlns:a16="http://schemas.microsoft.com/office/drawing/2014/main" id="{717338C0-3DE8-B77E-DA75-4EFC9EEA8267}"/>
              </a:ext>
            </a:extLst>
          </p:cNvPr>
          <p:cNvSpPr/>
          <p:nvPr/>
        </p:nvSpPr>
        <p:spPr bwMode="auto">
          <a:xfrm>
            <a:off x="7755573" y="2887175"/>
            <a:ext cx="1871216" cy="587195"/>
          </a:xfrm>
          <a:prstGeom prst="roundRect">
            <a:avLst>
              <a:gd name="adj" fmla="val 22375"/>
            </a:avLst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latin typeface="Avenir Book" panose="02000503020000020003" pitchFamily="2" charset="0"/>
                <a:ea typeface="ＭＳ Ｐゴシック"/>
                <a:cs typeface="Times New Roman"/>
              </a:rPr>
              <a:t>Экосистема</a:t>
            </a:r>
            <a:endParaRPr lang="en-US" sz="14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venir Book" panose="02000503020000020003" pitchFamily="2" charset="0"/>
              <a:ea typeface="ＭＳ Ｐゴシック"/>
              <a:cs typeface="Times New Roman"/>
            </a:endParaRPr>
          </a:p>
        </p:txBody>
      </p:sp>
      <p:sp>
        <p:nvSpPr>
          <p:cNvPr id="38" name="Oval 22">
            <a:extLst>
              <a:ext uri="{FF2B5EF4-FFF2-40B4-BE49-F238E27FC236}">
                <a16:creationId xmlns:a16="http://schemas.microsoft.com/office/drawing/2014/main" id="{223D9C3E-4C15-E190-32C0-0299CDF2F3E0}"/>
              </a:ext>
            </a:extLst>
          </p:cNvPr>
          <p:cNvSpPr/>
          <p:nvPr/>
        </p:nvSpPr>
        <p:spPr>
          <a:xfrm>
            <a:off x="8508301" y="2599589"/>
            <a:ext cx="365760" cy="365760"/>
          </a:xfrm>
          <a:prstGeom prst="ellipse">
            <a:avLst/>
          </a:prstGeom>
          <a:solidFill>
            <a:srgbClr val="D97706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3</a:t>
            </a:r>
          </a:p>
        </p:txBody>
      </p:sp>
      <p:sp>
        <p:nvSpPr>
          <p:cNvPr id="39" name="Rectangle: Rounded Corners 11">
            <a:extLst>
              <a:ext uri="{FF2B5EF4-FFF2-40B4-BE49-F238E27FC236}">
                <a16:creationId xmlns:a16="http://schemas.microsoft.com/office/drawing/2014/main" id="{2AAC7285-088C-5395-2C8B-3B6E8EE46CC0}"/>
              </a:ext>
            </a:extLst>
          </p:cNvPr>
          <p:cNvSpPr/>
          <p:nvPr/>
        </p:nvSpPr>
        <p:spPr bwMode="auto">
          <a:xfrm>
            <a:off x="9590431" y="2877071"/>
            <a:ext cx="2122598" cy="587195"/>
          </a:xfrm>
          <a:prstGeom prst="roundRect">
            <a:avLst>
              <a:gd name="adj" fmla="val 22375"/>
            </a:avLst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 err="1">
                <a:latin typeface="Avenir Book" panose="02000503020000020003" pitchFamily="2" charset="0"/>
                <a:ea typeface="ＭＳ Ｐゴシック"/>
                <a:cs typeface="Times New Roman"/>
              </a:rPr>
              <a:t>Готовность</a:t>
            </a:r>
            <a:r>
              <a:rPr lang="en-US" sz="2000" b="1" dirty="0">
                <a:latin typeface="Avenir Book" panose="02000503020000020003" pitchFamily="2" charset="0"/>
                <a:ea typeface="ＭＳ Ｐゴシック"/>
                <a:cs typeface="Times New Roman"/>
              </a:rPr>
              <a:t> к ИИ</a:t>
            </a:r>
            <a:endParaRPr lang="en-US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venir Book" panose="02000503020000020003" pitchFamily="2" charset="0"/>
              <a:ea typeface="ＭＳ Ｐゴシック"/>
              <a:cs typeface="Times New Roman"/>
            </a:endParaRPr>
          </a:p>
        </p:txBody>
      </p:sp>
      <p:sp>
        <p:nvSpPr>
          <p:cNvPr id="40" name="Oval 22">
            <a:extLst>
              <a:ext uri="{FF2B5EF4-FFF2-40B4-BE49-F238E27FC236}">
                <a16:creationId xmlns:a16="http://schemas.microsoft.com/office/drawing/2014/main" id="{7850BF5C-7DD3-E558-6D7E-9FFD76247045}"/>
              </a:ext>
            </a:extLst>
          </p:cNvPr>
          <p:cNvSpPr/>
          <p:nvPr/>
        </p:nvSpPr>
        <p:spPr>
          <a:xfrm>
            <a:off x="10343159" y="2589485"/>
            <a:ext cx="365760" cy="365760"/>
          </a:xfrm>
          <a:prstGeom prst="ellipse">
            <a:avLst/>
          </a:prstGeom>
          <a:solidFill>
            <a:srgbClr val="D97706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4</a:t>
            </a:r>
          </a:p>
        </p:txBody>
      </p:sp>
      <p:sp>
        <p:nvSpPr>
          <p:cNvPr id="41" name="Rectangle: Rounded Corners 4">
            <a:extLst>
              <a:ext uri="{FF2B5EF4-FFF2-40B4-BE49-F238E27FC236}">
                <a16:creationId xmlns:a16="http://schemas.microsoft.com/office/drawing/2014/main" id="{41A3259C-A864-FAD7-F877-16E20FC2C431}"/>
              </a:ext>
            </a:extLst>
          </p:cNvPr>
          <p:cNvSpPr/>
          <p:nvPr/>
        </p:nvSpPr>
        <p:spPr>
          <a:xfrm>
            <a:off x="4331645" y="5256421"/>
            <a:ext cx="7021560" cy="387481"/>
          </a:xfrm>
          <a:prstGeom prst="roundRect">
            <a:avLst>
              <a:gd name="adj" fmla="val 190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sz="1200" dirty="0">
                <a:solidFill>
                  <a:sysClr val="windowText" lastClr="000000"/>
                </a:solidFill>
                <a:latin typeface="Avenir Book" panose="02000503020000020003" pitchFamily="2" charset="0"/>
              </a:rPr>
              <a:t>При </a:t>
            </a:r>
            <a:r>
              <a:rPr lang="ru-RU" sz="1200" dirty="0" err="1">
                <a:solidFill>
                  <a:sysClr val="windowText" lastClr="000000"/>
                </a:solidFill>
                <a:latin typeface="Avenir Book" panose="02000503020000020003" pitchFamily="2" charset="0"/>
              </a:rPr>
              <a:t>этсм</a:t>
            </a:r>
            <a:r>
              <a:rPr lang="ru-RU" sz="1200" dirty="0">
                <a:solidFill>
                  <a:sysClr val="windowText" lastClr="000000"/>
                </a:solidFill>
                <a:latin typeface="Avenir Book" panose="02000503020000020003" pitchFamily="2" charset="0"/>
              </a:rPr>
              <a:t> обеспечивая </a:t>
            </a:r>
            <a:r>
              <a:rPr lang="en-US" sz="1200" dirty="0">
                <a:solidFill>
                  <a:sysClr val="windowText" lastClr="000000"/>
                </a:solidFill>
                <a:latin typeface="Avenir Book" panose="02000503020000020003" pitchFamily="2" charset="0"/>
              </a:rPr>
              <a:t>: </a:t>
            </a:r>
            <a:r>
              <a:rPr lang="en-US" sz="1200" dirty="0" err="1">
                <a:solidFill>
                  <a:sysClr val="windowText" lastClr="000000"/>
                </a:solidFill>
                <a:latin typeface="Avenir Book" panose="02000503020000020003" pitchFamily="2" charset="0"/>
              </a:rPr>
              <a:t>кибербезопасность</a:t>
            </a:r>
            <a:r>
              <a:rPr lang="en-US" sz="1200" dirty="0">
                <a:solidFill>
                  <a:sysClr val="windowText" lastClr="000000"/>
                </a:solidFill>
                <a:latin typeface="Avenir Book" panose="02000503020000020003" pitchFamily="2" charset="0"/>
              </a:rPr>
              <a:t>, </a:t>
            </a:r>
            <a:r>
              <a:rPr lang="en-US" sz="1200" dirty="0" err="1">
                <a:solidFill>
                  <a:sysClr val="windowText" lastClr="000000"/>
                </a:solidFill>
                <a:latin typeface="Avenir Book" panose="02000503020000020003" pitchFamily="2" charset="0"/>
              </a:rPr>
              <a:t>защита</a:t>
            </a:r>
            <a:r>
              <a:rPr lang="en-US" sz="1200" dirty="0">
                <a:solidFill>
                  <a:sysClr val="windowText" lastClr="000000"/>
                </a:solidFill>
                <a:latin typeface="Avenir Book" panose="02000503020000020003" pitchFamily="2" charset="0"/>
              </a:rPr>
              <a:t> </a:t>
            </a:r>
            <a:r>
              <a:rPr lang="en-US" sz="1200" dirty="0" err="1">
                <a:solidFill>
                  <a:sysClr val="windowText" lastClr="000000"/>
                </a:solidFill>
                <a:latin typeface="Avenir Book" panose="02000503020000020003" pitchFamily="2" charset="0"/>
              </a:rPr>
              <a:t>данных</a:t>
            </a:r>
            <a:r>
              <a:rPr lang="en-US" sz="1200" dirty="0">
                <a:solidFill>
                  <a:sysClr val="windowText" lastClr="000000"/>
                </a:solidFill>
                <a:latin typeface="Avenir Book" panose="02000503020000020003" pitchFamily="2" charset="0"/>
              </a:rPr>
              <a:t>, </a:t>
            </a:r>
            <a:r>
              <a:rPr lang="en-US" sz="1200" dirty="0" err="1">
                <a:solidFill>
                  <a:sysClr val="windowText" lastClr="000000"/>
                </a:solidFill>
                <a:latin typeface="Avenir Book" panose="02000503020000020003" pitchFamily="2" charset="0"/>
              </a:rPr>
              <a:t>приватность</a:t>
            </a:r>
            <a:r>
              <a:rPr lang="en-US" sz="1200" dirty="0">
                <a:solidFill>
                  <a:sysClr val="windowText" lastClr="000000"/>
                </a:solidFill>
                <a:latin typeface="Avenir Book" panose="02000503020000020003" pitchFamily="2" charset="0"/>
              </a:rPr>
              <a:t> и </a:t>
            </a:r>
            <a:r>
              <a:rPr lang="en-US" sz="1200" dirty="0" err="1">
                <a:solidFill>
                  <a:sysClr val="windowText" lastClr="000000"/>
                </a:solidFill>
                <a:latin typeface="Avenir Book" panose="02000503020000020003" pitchFamily="2" charset="0"/>
              </a:rPr>
              <a:t>безопасность</a:t>
            </a:r>
            <a:r>
              <a:rPr lang="en-US" sz="1200" dirty="0">
                <a:solidFill>
                  <a:sysClr val="windowText" lastClr="000000"/>
                </a:solidFill>
                <a:latin typeface="Avenir Book" panose="02000503020000020003" pitchFamily="2" charset="0"/>
              </a:rPr>
              <a:t> в </a:t>
            </a:r>
            <a:r>
              <a:rPr lang="en-US" sz="1200" dirty="0" err="1">
                <a:solidFill>
                  <a:sysClr val="windowText" lastClr="000000"/>
                </a:solidFill>
                <a:latin typeface="Avenir Book" panose="02000503020000020003" pitchFamily="2" charset="0"/>
              </a:rPr>
              <a:t>интернете</a:t>
            </a:r>
            <a:endParaRPr lang="en-US" sz="1200" dirty="0">
              <a:solidFill>
                <a:sysClr val="windowText" lastClr="000000"/>
              </a:solidFill>
              <a:latin typeface="Avenir Book" panose="02000503020000020003" pitchFamily="2" charset="0"/>
            </a:endParaRPr>
          </a:p>
        </p:txBody>
      </p:sp>
      <p:sp>
        <p:nvSpPr>
          <p:cNvPr id="44" name="Isosceles Triangle 17">
            <a:extLst>
              <a:ext uri="{FF2B5EF4-FFF2-40B4-BE49-F238E27FC236}">
                <a16:creationId xmlns:a16="http://schemas.microsoft.com/office/drawing/2014/main" id="{0C8DF0F5-5C76-37AC-8BD0-87C8D0ADF769}"/>
              </a:ext>
            </a:extLst>
          </p:cNvPr>
          <p:cNvSpPr/>
          <p:nvPr/>
        </p:nvSpPr>
        <p:spPr>
          <a:xfrm>
            <a:off x="4331645" y="5767326"/>
            <a:ext cx="7021560" cy="443332"/>
          </a:xfrm>
          <a:prstGeom prst="triangle">
            <a:avLst>
              <a:gd name="adj" fmla="val 0"/>
            </a:avLst>
          </a:prstGeom>
          <a:gradFill flip="none" rotWithShape="1">
            <a:gsLst>
              <a:gs pos="0">
                <a:srgbClr val="203864"/>
              </a:gs>
              <a:gs pos="15000">
                <a:srgbClr val="203864"/>
              </a:gs>
              <a:gs pos="100000">
                <a:srgbClr val="003751">
                  <a:alpha val="2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: Rounded Corners 27">
            <a:extLst>
              <a:ext uri="{FF2B5EF4-FFF2-40B4-BE49-F238E27FC236}">
                <a16:creationId xmlns:a16="http://schemas.microsoft.com/office/drawing/2014/main" id="{977F9CE3-06E8-E475-DFA7-16CE417118E2}"/>
              </a:ext>
            </a:extLst>
          </p:cNvPr>
          <p:cNvSpPr/>
          <p:nvPr/>
        </p:nvSpPr>
        <p:spPr bwMode="auto">
          <a:xfrm>
            <a:off x="9115506" y="5656399"/>
            <a:ext cx="2161739" cy="411996"/>
          </a:xfrm>
          <a:prstGeom prst="roundRect">
            <a:avLst>
              <a:gd name="adj" fmla="val 10412"/>
            </a:avLst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r" fontAlgn="base">
              <a:spcAft>
                <a:spcPct val="0"/>
              </a:spcAft>
              <a:defRPr/>
            </a:pPr>
            <a:r>
              <a:rPr lang="en-US" sz="1200">
                <a:solidFill>
                  <a:schemeClr val="bg1"/>
                </a:solidFill>
                <a:latin typeface="Avenir Book" panose="02000503020000020003" pitchFamily="2" charset="0"/>
                <a:ea typeface="ＭＳ Ｐゴシック"/>
                <a:cs typeface="Times New Roman"/>
              </a:rPr>
              <a:t>Более значимо для стран со средним доходом</a:t>
            </a:r>
            <a:endParaRPr lang="en-US" sz="12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Book" panose="02000503020000020003" pitchFamily="2" charset="0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4428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D22D4BAC-F6FC-0A8C-204D-13395C7A9274}"/>
              </a:ext>
            </a:extLst>
          </p:cNvPr>
          <p:cNvGrpSpPr/>
          <p:nvPr/>
        </p:nvGrpSpPr>
        <p:grpSpPr>
          <a:xfrm>
            <a:off x="3039487" y="1513371"/>
            <a:ext cx="6318826" cy="3831257"/>
            <a:chOff x="3661126" y="1769878"/>
            <a:chExt cx="5465104" cy="3313625"/>
          </a:xfrm>
          <a:effectLst>
            <a:outerShdw blurRad="63500" dist="327300" dir="832550" sx="1000" sy="1000" algn="ctr" rotWithShape="0">
              <a:prstClr val="black">
                <a:alpha val="56984"/>
              </a:prstClr>
            </a:outerShdw>
          </a:effectLst>
        </p:grpSpPr>
        <p:sp>
          <p:nvSpPr>
            <p:cNvPr id="6" name="Freeform 101">
              <a:extLst>
                <a:ext uri="{FF2B5EF4-FFF2-40B4-BE49-F238E27FC236}">
                  <a16:creationId xmlns:a16="http://schemas.microsoft.com/office/drawing/2014/main" id="{DA917140-8231-CB01-209A-654E5C5FDAD4}"/>
                </a:ext>
              </a:extLst>
            </p:cNvPr>
            <p:cNvSpPr>
              <a:spLocks/>
            </p:cNvSpPr>
            <p:nvPr/>
          </p:nvSpPr>
          <p:spPr bwMode="gray">
            <a:xfrm>
              <a:off x="3661126" y="1769878"/>
              <a:ext cx="5465104" cy="2472344"/>
            </a:xfrm>
            <a:custGeom>
              <a:avLst/>
              <a:gdLst>
                <a:gd name="T0" fmla="*/ 94 w 640"/>
                <a:gd name="T1" fmla="*/ 260 h 298"/>
                <a:gd name="T2" fmla="*/ 66 w 640"/>
                <a:gd name="T3" fmla="*/ 234 h 298"/>
                <a:gd name="T4" fmla="*/ 64 w 640"/>
                <a:gd name="T5" fmla="*/ 220 h 298"/>
                <a:gd name="T6" fmla="*/ 76 w 640"/>
                <a:gd name="T7" fmla="*/ 210 h 298"/>
                <a:gd name="T8" fmla="*/ 94 w 640"/>
                <a:gd name="T9" fmla="*/ 208 h 298"/>
                <a:gd name="T10" fmla="*/ 108 w 640"/>
                <a:gd name="T11" fmla="*/ 196 h 298"/>
                <a:gd name="T12" fmla="*/ 82 w 640"/>
                <a:gd name="T13" fmla="*/ 176 h 298"/>
                <a:gd name="T14" fmla="*/ 40 w 640"/>
                <a:gd name="T15" fmla="*/ 188 h 298"/>
                <a:gd name="T16" fmla="*/ 24 w 640"/>
                <a:gd name="T17" fmla="*/ 158 h 298"/>
                <a:gd name="T18" fmla="*/ 0 w 640"/>
                <a:gd name="T19" fmla="*/ 140 h 298"/>
                <a:gd name="T20" fmla="*/ 18 w 640"/>
                <a:gd name="T21" fmla="*/ 102 h 298"/>
                <a:gd name="T22" fmla="*/ 34 w 640"/>
                <a:gd name="T23" fmla="*/ 114 h 298"/>
                <a:gd name="T24" fmla="*/ 60 w 640"/>
                <a:gd name="T25" fmla="*/ 84 h 298"/>
                <a:gd name="T26" fmla="*/ 112 w 640"/>
                <a:gd name="T27" fmla="*/ 84 h 298"/>
                <a:gd name="T28" fmla="*/ 150 w 640"/>
                <a:gd name="T29" fmla="*/ 100 h 298"/>
                <a:gd name="T30" fmla="*/ 190 w 640"/>
                <a:gd name="T31" fmla="*/ 90 h 298"/>
                <a:gd name="T32" fmla="*/ 226 w 640"/>
                <a:gd name="T33" fmla="*/ 98 h 298"/>
                <a:gd name="T34" fmla="*/ 228 w 640"/>
                <a:gd name="T35" fmla="*/ 80 h 298"/>
                <a:gd name="T36" fmla="*/ 220 w 640"/>
                <a:gd name="T37" fmla="*/ 68 h 298"/>
                <a:gd name="T38" fmla="*/ 228 w 640"/>
                <a:gd name="T39" fmla="*/ 52 h 298"/>
                <a:gd name="T40" fmla="*/ 236 w 640"/>
                <a:gd name="T41" fmla="*/ 40 h 298"/>
                <a:gd name="T42" fmla="*/ 254 w 640"/>
                <a:gd name="T43" fmla="*/ 28 h 298"/>
                <a:gd name="T44" fmla="*/ 316 w 640"/>
                <a:gd name="T45" fmla="*/ 10 h 298"/>
                <a:gd name="T46" fmla="*/ 364 w 640"/>
                <a:gd name="T47" fmla="*/ 0 h 298"/>
                <a:gd name="T48" fmla="*/ 388 w 640"/>
                <a:gd name="T49" fmla="*/ 16 h 298"/>
                <a:gd name="T50" fmla="*/ 418 w 640"/>
                <a:gd name="T51" fmla="*/ 28 h 298"/>
                <a:gd name="T52" fmla="*/ 456 w 640"/>
                <a:gd name="T53" fmla="*/ 28 h 298"/>
                <a:gd name="T54" fmla="*/ 480 w 640"/>
                <a:gd name="T55" fmla="*/ 32 h 298"/>
                <a:gd name="T56" fmla="*/ 510 w 640"/>
                <a:gd name="T57" fmla="*/ 60 h 298"/>
                <a:gd name="T58" fmla="*/ 528 w 640"/>
                <a:gd name="T59" fmla="*/ 92 h 298"/>
                <a:gd name="T60" fmla="*/ 540 w 640"/>
                <a:gd name="T61" fmla="*/ 84 h 298"/>
                <a:gd name="T62" fmla="*/ 562 w 640"/>
                <a:gd name="T63" fmla="*/ 96 h 298"/>
                <a:gd name="T64" fmla="*/ 590 w 640"/>
                <a:gd name="T65" fmla="*/ 92 h 298"/>
                <a:gd name="T66" fmla="*/ 614 w 640"/>
                <a:gd name="T67" fmla="*/ 116 h 298"/>
                <a:gd name="T68" fmla="*/ 640 w 640"/>
                <a:gd name="T69" fmla="*/ 132 h 298"/>
                <a:gd name="T70" fmla="*/ 626 w 640"/>
                <a:gd name="T71" fmla="*/ 142 h 298"/>
                <a:gd name="T72" fmla="*/ 622 w 640"/>
                <a:gd name="T73" fmla="*/ 170 h 298"/>
                <a:gd name="T74" fmla="*/ 596 w 640"/>
                <a:gd name="T75" fmla="*/ 172 h 298"/>
                <a:gd name="T76" fmla="*/ 570 w 640"/>
                <a:gd name="T77" fmla="*/ 194 h 298"/>
                <a:gd name="T78" fmla="*/ 548 w 640"/>
                <a:gd name="T79" fmla="*/ 208 h 298"/>
                <a:gd name="T80" fmla="*/ 538 w 640"/>
                <a:gd name="T81" fmla="*/ 232 h 298"/>
                <a:gd name="T82" fmla="*/ 536 w 640"/>
                <a:gd name="T83" fmla="*/ 256 h 298"/>
                <a:gd name="T84" fmla="*/ 526 w 640"/>
                <a:gd name="T85" fmla="*/ 262 h 298"/>
                <a:gd name="T86" fmla="*/ 512 w 640"/>
                <a:gd name="T87" fmla="*/ 254 h 298"/>
                <a:gd name="T88" fmla="*/ 450 w 640"/>
                <a:gd name="T89" fmla="*/ 248 h 298"/>
                <a:gd name="T90" fmla="*/ 430 w 640"/>
                <a:gd name="T91" fmla="*/ 250 h 298"/>
                <a:gd name="T92" fmla="*/ 410 w 640"/>
                <a:gd name="T93" fmla="*/ 258 h 298"/>
                <a:gd name="T94" fmla="*/ 394 w 640"/>
                <a:gd name="T95" fmla="*/ 254 h 298"/>
                <a:gd name="T96" fmla="*/ 376 w 640"/>
                <a:gd name="T97" fmla="*/ 270 h 298"/>
                <a:gd name="T98" fmla="*/ 350 w 640"/>
                <a:gd name="T99" fmla="*/ 298 h 298"/>
                <a:gd name="T100" fmla="*/ 342 w 640"/>
                <a:gd name="T101" fmla="*/ 288 h 298"/>
                <a:gd name="T102" fmla="*/ 320 w 640"/>
                <a:gd name="T103" fmla="*/ 288 h 298"/>
                <a:gd name="T104" fmla="*/ 308 w 640"/>
                <a:gd name="T105" fmla="*/ 264 h 298"/>
                <a:gd name="T106" fmla="*/ 290 w 640"/>
                <a:gd name="T107" fmla="*/ 238 h 298"/>
                <a:gd name="T108" fmla="*/ 244 w 640"/>
                <a:gd name="T109" fmla="*/ 242 h 298"/>
                <a:gd name="T110" fmla="*/ 204 w 640"/>
                <a:gd name="T111" fmla="*/ 210 h 298"/>
                <a:gd name="T112" fmla="*/ 168 w 640"/>
                <a:gd name="T113" fmla="*/ 208 h 298"/>
                <a:gd name="T114" fmla="*/ 150 w 640"/>
                <a:gd name="T115" fmla="*/ 286 h 298"/>
                <a:gd name="T116" fmla="*/ 132 w 640"/>
                <a:gd name="T117" fmla="*/ 270 h 298"/>
                <a:gd name="T118" fmla="*/ 114 w 640"/>
                <a:gd name="T119" fmla="*/ 264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0" h="298">
                  <a:moveTo>
                    <a:pt x="108" y="262"/>
                  </a:moveTo>
                  <a:lnTo>
                    <a:pt x="94" y="260"/>
                  </a:lnTo>
                  <a:lnTo>
                    <a:pt x="78" y="248"/>
                  </a:lnTo>
                  <a:lnTo>
                    <a:pt x="66" y="234"/>
                  </a:lnTo>
                  <a:lnTo>
                    <a:pt x="58" y="224"/>
                  </a:lnTo>
                  <a:lnTo>
                    <a:pt x="64" y="220"/>
                  </a:lnTo>
                  <a:lnTo>
                    <a:pt x="78" y="222"/>
                  </a:lnTo>
                  <a:lnTo>
                    <a:pt x="76" y="210"/>
                  </a:lnTo>
                  <a:lnTo>
                    <a:pt x="82" y="206"/>
                  </a:lnTo>
                  <a:lnTo>
                    <a:pt x="94" y="208"/>
                  </a:lnTo>
                  <a:lnTo>
                    <a:pt x="104" y="210"/>
                  </a:lnTo>
                  <a:lnTo>
                    <a:pt x="108" y="196"/>
                  </a:lnTo>
                  <a:lnTo>
                    <a:pt x="100" y="176"/>
                  </a:lnTo>
                  <a:lnTo>
                    <a:pt x="82" y="176"/>
                  </a:lnTo>
                  <a:lnTo>
                    <a:pt x="64" y="178"/>
                  </a:lnTo>
                  <a:lnTo>
                    <a:pt x="40" y="188"/>
                  </a:lnTo>
                  <a:lnTo>
                    <a:pt x="36" y="174"/>
                  </a:lnTo>
                  <a:lnTo>
                    <a:pt x="24" y="158"/>
                  </a:lnTo>
                  <a:lnTo>
                    <a:pt x="10" y="154"/>
                  </a:lnTo>
                  <a:lnTo>
                    <a:pt x="0" y="140"/>
                  </a:lnTo>
                  <a:lnTo>
                    <a:pt x="6" y="116"/>
                  </a:lnTo>
                  <a:lnTo>
                    <a:pt x="18" y="102"/>
                  </a:lnTo>
                  <a:lnTo>
                    <a:pt x="26" y="118"/>
                  </a:lnTo>
                  <a:lnTo>
                    <a:pt x="34" y="114"/>
                  </a:lnTo>
                  <a:lnTo>
                    <a:pt x="36" y="102"/>
                  </a:lnTo>
                  <a:lnTo>
                    <a:pt x="60" y="84"/>
                  </a:lnTo>
                  <a:lnTo>
                    <a:pt x="76" y="78"/>
                  </a:lnTo>
                  <a:lnTo>
                    <a:pt x="112" y="84"/>
                  </a:lnTo>
                  <a:lnTo>
                    <a:pt x="136" y="98"/>
                  </a:lnTo>
                  <a:lnTo>
                    <a:pt x="150" y="100"/>
                  </a:lnTo>
                  <a:lnTo>
                    <a:pt x="172" y="90"/>
                  </a:lnTo>
                  <a:lnTo>
                    <a:pt x="190" y="90"/>
                  </a:lnTo>
                  <a:lnTo>
                    <a:pt x="200" y="100"/>
                  </a:lnTo>
                  <a:lnTo>
                    <a:pt x="226" y="98"/>
                  </a:lnTo>
                  <a:lnTo>
                    <a:pt x="238" y="88"/>
                  </a:lnTo>
                  <a:lnTo>
                    <a:pt x="228" y="80"/>
                  </a:lnTo>
                  <a:lnTo>
                    <a:pt x="214" y="76"/>
                  </a:lnTo>
                  <a:lnTo>
                    <a:pt x="220" y="68"/>
                  </a:lnTo>
                  <a:lnTo>
                    <a:pt x="226" y="62"/>
                  </a:lnTo>
                  <a:lnTo>
                    <a:pt x="228" y="52"/>
                  </a:lnTo>
                  <a:lnTo>
                    <a:pt x="240" y="48"/>
                  </a:lnTo>
                  <a:lnTo>
                    <a:pt x="236" y="40"/>
                  </a:lnTo>
                  <a:lnTo>
                    <a:pt x="232" y="30"/>
                  </a:lnTo>
                  <a:lnTo>
                    <a:pt x="254" y="28"/>
                  </a:lnTo>
                  <a:lnTo>
                    <a:pt x="280" y="20"/>
                  </a:lnTo>
                  <a:lnTo>
                    <a:pt x="316" y="10"/>
                  </a:lnTo>
                  <a:lnTo>
                    <a:pt x="346" y="4"/>
                  </a:lnTo>
                  <a:lnTo>
                    <a:pt x="364" y="0"/>
                  </a:lnTo>
                  <a:lnTo>
                    <a:pt x="384" y="2"/>
                  </a:lnTo>
                  <a:lnTo>
                    <a:pt x="388" y="16"/>
                  </a:lnTo>
                  <a:lnTo>
                    <a:pt x="398" y="22"/>
                  </a:lnTo>
                  <a:lnTo>
                    <a:pt x="418" y="28"/>
                  </a:lnTo>
                  <a:lnTo>
                    <a:pt x="438" y="38"/>
                  </a:lnTo>
                  <a:lnTo>
                    <a:pt x="456" y="28"/>
                  </a:lnTo>
                  <a:lnTo>
                    <a:pt x="478" y="22"/>
                  </a:lnTo>
                  <a:lnTo>
                    <a:pt x="480" y="32"/>
                  </a:lnTo>
                  <a:lnTo>
                    <a:pt x="498" y="44"/>
                  </a:lnTo>
                  <a:lnTo>
                    <a:pt x="510" y="60"/>
                  </a:lnTo>
                  <a:lnTo>
                    <a:pt x="524" y="84"/>
                  </a:lnTo>
                  <a:lnTo>
                    <a:pt x="528" y="92"/>
                  </a:lnTo>
                  <a:lnTo>
                    <a:pt x="536" y="92"/>
                  </a:lnTo>
                  <a:lnTo>
                    <a:pt x="540" y="84"/>
                  </a:lnTo>
                  <a:lnTo>
                    <a:pt x="550" y="90"/>
                  </a:lnTo>
                  <a:lnTo>
                    <a:pt x="562" y="96"/>
                  </a:lnTo>
                  <a:lnTo>
                    <a:pt x="572" y="94"/>
                  </a:lnTo>
                  <a:lnTo>
                    <a:pt x="590" y="92"/>
                  </a:lnTo>
                  <a:lnTo>
                    <a:pt x="600" y="106"/>
                  </a:lnTo>
                  <a:lnTo>
                    <a:pt x="614" y="116"/>
                  </a:lnTo>
                  <a:lnTo>
                    <a:pt x="636" y="118"/>
                  </a:lnTo>
                  <a:lnTo>
                    <a:pt x="640" y="132"/>
                  </a:lnTo>
                  <a:lnTo>
                    <a:pt x="638" y="142"/>
                  </a:lnTo>
                  <a:lnTo>
                    <a:pt x="626" y="142"/>
                  </a:lnTo>
                  <a:lnTo>
                    <a:pt x="622" y="156"/>
                  </a:lnTo>
                  <a:lnTo>
                    <a:pt x="622" y="170"/>
                  </a:lnTo>
                  <a:lnTo>
                    <a:pt x="612" y="172"/>
                  </a:lnTo>
                  <a:lnTo>
                    <a:pt x="596" y="172"/>
                  </a:lnTo>
                  <a:lnTo>
                    <a:pt x="580" y="170"/>
                  </a:lnTo>
                  <a:lnTo>
                    <a:pt x="570" y="194"/>
                  </a:lnTo>
                  <a:lnTo>
                    <a:pt x="566" y="208"/>
                  </a:lnTo>
                  <a:lnTo>
                    <a:pt x="548" y="208"/>
                  </a:lnTo>
                  <a:lnTo>
                    <a:pt x="536" y="214"/>
                  </a:lnTo>
                  <a:lnTo>
                    <a:pt x="538" y="232"/>
                  </a:lnTo>
                  <a:lnTo>
                    <a:pt x="544" y="248"/>
                  </a:lnTo>
                  <a:lnTo>
                    <a:pt x="536" y="256"/>
                  </a:lnTo>
                  <a:lnTo>
                    <a:pt x="536" y="266"/>
                  </a:lnTo>
                  <a:lnTo>
                    <a:pt x="526" y="262"/>
                  </a:lnTo>
                  <a:lnTo>
                    <a:pt x="518" y="260"/>
                  </a:lnTo>
                  <a:lnTo>
                    <a:pt x="512" y="254"/>
                  </a:lnTo>
                  <a:lnTo>
                    <a:pt x="452" y="256"/>
                  </a:lnTo>
                  <a:lnTo>
                    <a:pt x="450" y="248"/>
                  </a:lnTo>
                  <a:lnTo>
                    <a:pt x="438" y="246"/>
                  </a:lnTo>
                  <a:lnTo>
                    <a:pt x="430" y="250"/>
                  </a:lnTo>
                  <a:lnTo>
                    <a:pt x="428" y="256"/>
                  </a:lnTo>
                  <a:lnTo>
                    <a:pt x="410" y="258"/>
                  </a:lnTo>
                  <a:lnTo>
                    <a:pt x="406" y="254"/>
                  </a:lnTo>
                  <a:lnTo>
                    <a:pt x="394" y="254"/>
                  </a:lnTo>
                  <a:lnTo>
                    <a:pt x="384" y="266"/>
                  </a:lnTo>
                  <a:lnTo>
                    <a:pt x="376" y="270"/>
                  </a:lnTo>
                  <a:lnTo>
                    <a:pt x="352" y="288"/>
                  </a:lnTo>
                  <a:lnTo>
                    <a:pt x="350" y="298"/>
                  </a:lnTo>
                  <a:lnTo>
                    <a:pt x="342" y="298"/>
                  </a:lnTo>
                  <a:lnTo>
                    <a:pt x="342" y="288"/>
                  </a:lnTo>
                  <a:lnTo>
                    <a:pt x="338" y="286"/>
                  </a:lnTo>
                  <a:lnTo>
                    <a:pt x="320" y="288"/>
                  </a:lnTo>
                  <a:lnTo>
                    <a:pt x="318" y="272"/>
                  </a:lnTo>
                  <a:lnTo>
                    <a:pt x="308" y="264"/>
                  </a:lnTo>
                  <a:lnTo>
                    <a:pt x="308" y="256"/>
                  </a:lnTo>
                  <a:lnTo>
                    <a:pt x="290" y="238"/>
                  </a:lnTo>
                  <a:lnTo>
                    <a:pt x="282" y="240"/>
                  </a:lnTo>
                  <a:lnTo>
                    <a:pt x="244" y="242"/>
                  </a:lnTo>
                  <a:lnTo>
                    <a:pt x="230" y="224"/>
                  </a:lnTo>
                  <a:lnTo>
                    <a:pt x="204" y="210"/>
                  </a:lnTo>
                  <a:lnTo>
                    <a:pt x="196" y="204"/>
                  </a:lnTo>
                  <a:lnTo>
                    <a:pt x="168" y="208"/>
                  </a:lnTo>
                  <a:lnTo>
                    <a:pt x="150" y="212"/>
                  </a:lnTo>
                  <a:lnTo>
                    <a:pt x="150" y="286"/>
                  </a:lnTo>
                  <a:lnTo>
                    <a:pt x="140" y="284"/>
                  </a:lnTo>
                  <a:lnTo>
                    <a:pt x="132" y="270"/>
                  </a:lnTo>
                  <a:lnTo>
                    <a:pt x="120" y="262"/>
                  </a:lnTo>
                  <a:lnTo>
                    <a:pt x="114" y="264"/>
                  </a:lnTo>
                  <a:lnTo>
                    <a:pt x="108" y="262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 cap="flat">
              <a:solidFill>
                <a:srgbClr val="1A1D24"/>
              </a:solidFill>
              <a:prstDash val="solid"/>
              <a:miter lim="800000"/>
              <a:headEnd/>
              <a:tailEnd/>
            </a:ln>
            <a:effectLst>
              <a:outerShdw blurRad="50800" dist="38100" dir="5400000" sx="93000" sy="93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Freeform 97">
              <a:extLst>
                <a:ext uri="{FF2B5EF4-FFF2-40B4-BE49-F238E27FC236}">
                  <a16:creationId xmlns:a16="http://schemas.microsoft.com/office/drawing/2014/main" id="{4A7933E6-8D53-7F48-BA51-6D271CA4ADF3}"/>
                </a:ext>
              </a:extLst>
            </p:cNvPr>
            <p:cNvSpPr>
              <a:spLocks/>
            </p:cNvSpPr>
            <p:nvPr/>
          </p:nvSpPr>
          <p:spPr bwMode="gray">
            <a:xfrm>
              <a:off x="4480895" y="3898843"/>
              <a:ext cx="1895706" cy="1184660"/>
            </a:xfrm>
            <a:custGeom>
              <a:avLst/>
              <a:gdLst>
                <a:gd name="T0" fmla="*/ 20 w 222"/>
                <a:gd name="T1" fmla="*/ 104 h 138"/>
                <a:gd name="T2" fmla="*/ 18 w 222"/>
                <a:gd name="T3" fmla="*/ 80 h 138"/>
                <a:gd name="T4" fmla="*/ 24 w 222"/>
                <a:gd name="T5" fmla="*/ 72 h 138"/>
                <a:gd name="T6" fmla="*/ 12 w 222"/>
                <a:gd name="T7" fmla="*/ 56 h 138"/>
                <a:gd name="T8" fmla="*/ 8 w 222"/>
                <a:gd name="T9" fmla="*/ 50 h 138"/>
                <a:gd name="T10" fmla="*/ 0 w 222"/>
                <a:gd name="T11" fmla="*/ 52 h 138"/>
                <a:gd name="T12" fmla="*/ 0 w 222"/>
                <a:gd name="T13" fmla="*/ 44 h 138"/>
                <a:gd name="T14" fmla="*/ 6 w 222"/>
                <a:gd name="T15" fmla="*/ 36 h 138"/>
                <a:gd name="T16" fmla="*/ 12 w 222"/>
                <a:gd name="T17" fmla="*/ 40 h 138"/>
                <a:gd name="T18" fmla="*/ 28 w 222"/>
                <a:gd name="T19" fmla="*/ 40 h 138"/>
                <a:gd name="T20" fmla="*/ 34 w 222"/>
                <a:gd name="T21" fmla="*/ 32 h 138"/>
                <a:gd name="T22" fmla="*/ 26 w 222"/>
                <a:gd name="T23" fmla="*/ 24 h 138"/>
                <a:gd name="T24" fmla="*/ 20 w 222"/>
                <a:gd name="T25" fmla="*/ 16 h 138"/>
                <a:gd name="T26" fmla="*/ 14 w 222"/>
                <a:gd name="T27" fmla="*/ 10 h 138"/>
                <a:gd name="T28" fmla="*/ 4 w 222"/>
                <a:gd name="T29" fmla="*/ 14 h 138"/>
                <a:gd name="T30" fmla="*/ 2 w 222"/>
                <a:gd name="T31" fmla="*/ 28 h 138"/>
                <a:gd name="T32" fmla="*/ 0 w 222"/>
                <a:gd name="T33" fmla="*/ 22 h 138"/>
                <a:gd name="T34" fmla="*/ 0 w 222"/>
                <a:gd name="T35" fmla="*/ 12 h 138"/>
                <a:gd name="T36" fmla="*/ 10 w 222"/>
                <a:gd name="T37" fmla="*/ 6 h 138"/>
                <a:gd name="T38" fmla="*/ 24 w 222"/>
                <a:gd name="T39" fmla="*/ 4 h 138"/>
                <a:gd name="T40" fmla="*/ 36 w 222"/>
                <a:gd name="T41" fmla="*/ 12 h 138"/>
                <a:gd name="T42" fmla="*/ 44 w 222"/>
                <a:gd name="T43" fmla="*/ 26 h 138"/>
                <a:gd name="T44" fmla="*/ 54 w 222"/>
                <a:gd name="T45" fmla="*/ 28 h 138"/>
                <a:gd name="T46" fmla="*/ 68 w 222"/>
                <a:gd name="T47" fmla="*/ 26 h 138"/>
                <a:gd name="T48" fmla="*/ 68 w 222"/>
                <a:gd name="T49" fmla="*/ 14 h 138"/>
                <a:gd name="T50" fmla="*/ 96 w 222"/>
                <a:gd name="T51" fmla="*/ 0 h 138"/>
                <a:gd name="T52" fmla="*/ 102 w 222"/>
                <a:gd name="T53" fmla="*/ 6 h 138"/>
                <a:gd name="T54" fmla="*/ 116 w 222"/>
                <a:gd name="T55" fmla="*/ 8 h 138"/>
                <a:gd name="T56" fmla="*/ 118 w 222"/>
                <a:gd name="T57" fmla="*/ 12 h 138"/>
                <a:gd name="T58" fmla="*/ 118 w 222"/>
                <a:gd name="T59" fmla="*/ 28 h 138"/>
                <a:gd name="T60" fmla="*/ 144 w 222"/>
                <a:gd name="T61" fmla="*/ 28 h 138"/>
                <a:gd name="T62" fmla="*/ 158 w 222"/>
                <a:gd name="T63" fmla="*/ 54 h 138"/>
                <a:gd name="T64" fmla="*/ 178 w 222"/>
                <a:gd name="T65" fmla="*/ 66 h 138"/>
                <a:gd name="T66" fmla="*/ 200 w 222"/>
                <a:gd name="T67" fmla="*/ 82 h 138"/>
                <a:gd name="T68" fmla="*/ 212 w 222"/>
                <a:gd name="T69" fmla="*/ 84 h 138"/>
                <a:gd name="T70" fmla="*/ 222 w 222"/>
                <a:gd name="T71" fmla="*/ 90 h 138"/>
                <a:gd name="T72" fmla="*/ 222 w 222"/>
                <a:gd name="T73" fmla="*/ 98 h 138"/>
                <a:gd name="T74" fmla="*/ 210 w 222"/>
                <a:gd name="T75" fmla="*/ 98 h 138"/>
                <a:gd name="T76" fmla="*/ 194 w 222"/>
                <a:gd name="T77" fmla="*/ 104 h 138"/>
                <a:gd name="T78" fmla="*/ 182 w 222"/>
                <a:gd name="T79" fmla="*/ 122 h 138"/>
                <a:gd name="T80" fmla="*/ 170 w 222"/>
                <a:gd name="T81" fmla="*/ 126 h 138"/>
                <a:gd name="T82" fmla="*/ 160 w 222"/>
                <a:gd name="T83" fmla="*/ 138 h 138"/>
                <a:gd name="T84" fmla="*/ 150 w 222"/>
                <a:gd name="T85" fmla="*/ 134 h 138"/>
                <a:gd name="T86" fmla="*/ 138 w 222"/>
                <a:gd name="T87" fmla="*/ 134 h 138"/>
                <a:gd name="T88" fmla="*/ 136 w 222"/>
                <a:gd name="T89" fmla="*/ 112 h 138"/>
                <a:gd name="T90" fmla="*/ 126 w 222"/>
                <a:gd name="T91" fmla="*/ 110 h 138"/>
                <a:gd name="T92" fmla="*/ 68 w 222"/>
                <a:gd name="T93" fmla="*/ 84 h 138"/>
                <a:gd name="T94" fmla="*/ 42 w 222"/>
                <a:gd name="T95" fmla="*/ 88 h 138"/>
                <a:gd name="T96" fmla="*/ 20 w 222"/>
                <a:gd name="T97" fmla="*/ 10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2" h="138">
                  <a:moveTo>
                    <a:pt x="20" y="104"/>
                  </a:moveTo>
                  <a:lnTo>
                    <a:pt x="18" y="80"/>
                  </a:lnTo>
                  <a:lnTo>
                    <a:pt x="24" y="72"/>
                  </a:lnTo>
                  <a:lnTo>
                    <a:pt x="12" y="56"/>
                  </a:lnTo>
                  <a:lnTo>
                    <a:pt x="8" y="50"/>
                  </a:lnTo>
                  <a:lnTo>
                    <a:pt x="0" y="52"/>
                  </a:lnTo>
                  <a:lnTo>
                    <a:pt x="0" y="44"/>
                  </a:lnTo>
                  <a:lnTo>
                    <a:pt x="6" y="36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4" y="32"/>
                  </a:lnTo>
                  <a:lnTo>
                    <a:pt x="26" y="24"/>
                  </a:lnTo>
                  <a:lnTo>
                    <a:pt x="20" y="16"/>
                  </a:lnTo>
                  <a:lnTo>
                    <a:pt x="14" y="10"/>
                  </a:lnTo>
                  <a:lnTo>
                    <a:pt x="4" y="14"/>
                  </a:lnTo>
                  <a:lnTo>
                    <a:pt x="2" y="28"/>
                  </a:lnTo>
                  <a:lnTo>
                    <a:pt x="0" y="22"/>
                  </a:lnTo>
                  <a:lnTo>
                    <a:pt x="0" y="12"/>
                  </a:lnTo>
                  <a:lnTo>
                    <a:pt x="10" y="6"/>
                  </a:lnTo>
                  <a:lnTo>
                    <a:pt x="24" y="4"/>
                  </a:lnTo>
                  <a:lnTo>
                    <a:pt x="36" y="12"/>
                  </a:lnTo>
                  <a:lnTo>
                    <a:pt x="44" y="26"/>
                  </a:lnTo>
                  <a:lnTo>
                    <a:pt x="54" y="28"/>
                  </a:lnTo>
                  <a:lnTo>
                    <a:pt x="68" y="26"/>
                  </a:lnTo>
                  <a:lnTo>
                    <a:pt x="68" y="14"/>
                  </a:lnTo>
                  <a:lnTo>
                    <a:pt x="96" y="0"/>
                  </a:lnTo>
                  <a:lnTo>
                    <a:pt x="102" y="6"/>
                  </a:lnTo>
                  <a:lnTo>
                    <a:pt x="116" y="8"/>
                  </a:lnTo>
                  <a:lnTo>
                    <a:pt x="118" y="12"/>
                  </a:lnTo>
                  <a:lnTo>
                    <a:pt x="118" y="28"/>
                  </a:lnTo>
                  <a:lnTo>
                    <a:pt x="144" y="28"/>
                  </a:lnTo>
                  <a:lnTo>
                    <a:pt x="158" y="54"/>
                  </a:lnTo>
                  <a:lnTo>
                    <a:pt x="178" y="66"/>
                  </a:lnTo>
                  <a:lnTo>
                    <a:pt x="200" y="82"/>
                  </a:lnTo>
                  <a:lnTo>
                    <a:pt x="212" y="84"/>
                  </a:lnTo>
                  <a:lnTo>
                    <a:pt x="222" y="90"/>
                  </a:lnTo>
                  <a:lnTo>
                    <a:pt x="222" y="98"/>
                  </a:lnTo>
                  <a:lnTo>
                    <a:pt x="210" y="98"/>
                  </a:lnTo>
                  <a:lnTo>
                    <a:pt x="194" y="104"/>
                  </a:lnTo>
                  <a:lnTo>
                    <a:pt x="182" y="122"/>
                  </a:lnTo>
                  <a:lnTo>
                    <a:pt x="170" y="126"/>
                  </a:lnTo>
                  <a:lnTo>
                    <a:pt x="160" y="138"/>
                  </a:lnTo>
                  <a:lnTo>
                    <a:pt x="150" y="134"/>
                  </a:lnTo>
                  <a:lnTo>
                    <a:pt x="138" y="134"/>
                  </a:lnTo>
                  <a:lnTo>
                    <a:pt x="136" y="112"/>
                  </a:lnTo>
                  <a:lnTo>
                    <a:pt x="126" y="110"/>
                  </a:lnTo>
                  <a:lnTo>
                    <a:pt x="68" y="84"/>
                  </a:lnTo>
                  <a:lnTo>
                    <a:pt x="42" y="88"/>
                  </a:lnTo>
                  <a:lnTo>
                    <a:pt x="20" y="10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 cap="flat">
              <a:solidFill>
                <a:srgbClr val="1A1D24"/>
              </a:solidFill>
              <a:prstDash val="solid"/>
              <a:miter lim="800000"/>
              <a:headEnd/>
              <a:tailEnd/>
            </a:ln>
            <a:effectLst>
              <a:outerShdw blurRad="50800" dist="38100" dir="5400000" algn="t" rotWithShape="0">
                <a:prstClr val="black">
                  <a:alpha val="0"/>
                </a:prstClr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 99">
              <a:extLst>
                <a:ext uri="{FF2B5EF4-FFF2-40B4-BE49-F238E27FC236}">
                  <a16:creationId xmlns:a16="http://schemas.microsoft.com/office/drawing/2014/main" id="{8223F625-3520-343B-D022-98121C7158DF}"/>
                </a:ext>
              </a:extLst>
            </p:cNvPr>
            <p:cNvSpPr>
              <a:spLocks/>
            </p:cNvSpPr>
            <p:nvPr/>
          </p:nvSpPr>
          <p:spPr bwMode="gray">
            <a:xfrm>
              <a:off x="4942010" y="3435281"/>
              <a:ext cx="2271433" cy="1356354"/>
            </a:xfrm>
            <a:custGeom>
              <a:avLst/>
              <a:gdLst>
                <a:gd name="T0" fmla="*/ 0 w 266"/>
                <a:gd name="T1" fmla="*/ 82 h 158"/>
                <a:gd name="T2" fmla="*/ 0 w 266"/>
                <a:gd name="T3" fmla="*/ 8 h 158"/>
                <a:gd name="T4" fmla="*/ 18 w 266"/>
                <a:gd name="T5" fmla="*/ 4 h 158"/>
                <a:gd name="T6" fmla="*/ 46 w 266"/>
                <a:gd name="T7" fmla="*/ 0 h 158"/>
                <a:gd name="T8" fmla="*/ 54 w 266"/>
                <a:gd name="T9" fmla="*/ 6 h 158"/>
                <a:gd name="T10" fmla="*/ 70 w 266"/>
                <a:gd name="T11" fmla="*/ 16 h 158"/>
                <a:gd name="T12" fmla="*/ 80 w 266"/>
                <a:gd name="T13" fmla="*/ 20 h 158"/>
                <a:gd name="T14" fmla="*/ 94 w 266"/>
                <a:gd name="T15" fmla="*/ 38 h 158"/>
                <a:gd name="T16" fmla="*/ 132 w 266"/>
                <a:gd name="T17" fmla="*/ 36 h 158"/>
                <a:gd name="T18" fmla="*/ 140 w 266"/>
                <a:gd name="T19" fmla="*/ 34 h 158"/>
                <a:gd name="T20" fmla="*/ 158 w 266"/>
                <a:gd name="T21" fmla="*/ 52 h 158"/>
                <a:gd name="T22" fmla="*/ 158 w 266"/>
                <a:gd name="T23" fmla="*/ 60 h 158"/>
                <a:gd name="T24" fmla="*/ 168 w 266"/>
                <a:gd name="T25" fmla="*/ 68 h 158"/>
                <a:gd name="T26" fmla="*/ 170 w 266"/>
                <a:gd name="T27" fmla="*/ 84 h 158"/>
                <a:gd name="T28" fmla="*/ 188 w 266"/>
                <a:gd name="T29" fmla="*/ 82 h 158"/>
                <a:gd name="T30" fmla="*/ 192 w 266"/>
                <a:gd name="T31" fmla="*/ 84 h 158"/>
                <a:gd name="T32" fmla="*/ 192 w 266"/>
                <a:gd name="T33" fmla="*/ 94 h 158"/>
                <a:gd name="T34" fmla="*/ 200 w 266"/>
                <a:gd name="T35" fmla="*/ 94 h 158"/>
                <a:gd name="T36" fmla="*/ 202 w 266"/>
                <a:gd name="T37" fmla="*/ 84 h 158"/>
                <a:gd name="T38" fmla="*/ 214 w 266"/>
                <a:gd name="T39" fmla="*/ 74 h 158"/>
                <a:gd name="T40" fmla="*/ 234 w 266"/>
                <a:gd name="T41" fmla="*/ 62 h 158"/>
                <a:gd name="T42" fmla="*/ 230 w 266"/>
                <a:gd name="T43" fmla="*/ 72 h 158"/>
                <a:gd name="T44" fmla="*/ 228 w 266"/>
                <a:gd name="T45" fmla="*/ 76 h 158"/>
                <a:gd name="T46" fmla="*/ 236 w 266"/>
                <a:gd name="T47" fmla="*/ 80 h 158"/>
                <a:gd name="T48" fmla="*/ 248 w 266"/>
                <a:gd name="T49" fmla="*/ 76 h 158"/>
                <a:gd name="T50" fmla="*/ 258 w 266"/>
                <a:gd name="T51" fmla="*/ 82 h 158"/>
                <a:gd name="T52" fmla="*/ 266 w 266"/>
                <a:gd name="T53" fmla="*/ 90 h 158"/>
                <a:gd name="T54" fmla="*/ 258 w 266"/>
                <a:gd name="T55" fmla="*/ 98 h 158"/>
                <a:gd name="T56" fmla="*/ 248 w 266"/>
                <a:gd name="T57" fmla="*/ 102 h 158"/>
                <a:gd name="T58" fmla="*/ 236 w 266"/>
                <a:gd name="T59" fmla="*/ 102 h 158"/>
                <a:gd name="T60" fmla="*/ 232 w 266"/>
                <a:gd name="T61" fmla="*/ 98 h 158"/>
                <a:gd name="T62" fmla="*/ 234 w 266"/>
                <a:gd name="T63" fmla="*/ 90 h 158"/>
                <a:gd name="T64" fmla="*/ 228 w 266"/>
                <a:gd name="T65" fmla="*/ 88 h 158"/>
                <a:gd name="T66" fmla="*/ 216 w 266"/>
                <a:gd name="T67" fmla="*/ 90 h 158"/>
                <a:gd name="T68" fmla="*/ 212 w 266"/>
                <a:gd name="T69" fmla="*/ 98 h 158"/>
                <a:gd name="T70" fmla="*/ 204 w 266"/>
                <a:gd name="T71" fmla="*/ 102 h 158"/>
                <a:gd name="T72" fmla="*/ 198 w 266"/>
                <a:gd name="T73" fmla="*/ 100 h 158"/>
                <a:gd name="T74" fmla="*/ 200 w 266"/>
                <a:gd name="T75" fmla="*/ 114 h 158"/>
                <a:gd name="T76" fmla="*/ 180 w 266"/>
                <a:gd name="T77" fmla="*/ 114 h 158"/>
                <a:gd name="T78" fmla="*/ 180 w 266"/>
                <a:gd name="T79" fmla="*/ 124 h 158"/>
                <a:gd name="T80" fmla="*/ 192 w 266"/>
                <a:gd name="T81" fmla="*/ 124 h 158"/>
                <a:gd name="T82" fmla="*/ 190 w 266"/>
                <a:gd name="T83" fmla="*/ 138 h 158"/>
                <a:gd name="T84" fmla="*/ 196 w 266"/>
                <a:gd name="T85" fmla="*/ 140 h 158"/>
                <a:gd name="T86" fmla="*/ 188 w 266"/>
                <a:gd name="T87" fmla="*/ 150 h 158"/>
                <a:gd name="T88" fmla="*/ 188 w 266"/>
                <a:gd name="T89" fmla="*/ 158 h 158"/>
                <a:gd name="T90" fmla="*/ 168 w 266"/>
                <a:gd name="T91" fmla="*/ 152 h 158"/>
                <a:gd name="T92" fmla="*/ 168 w 266"/>
                <a:gd name="T93" fmla="*/ 144 h 158"/>
                <a:gd name="T94" fmla="*/ 158 w 266"/>
                <a:gd name="T95" fmla="*/ 138 h 158"/>
                <a:gd name="T96" fmla="*/ 146 w 266"/>
                <a:gd name="T97" fmla="*/ 136 h 158"/>
                <a:gd name="T98" fmla="*/ 104 w 266"/>
                <a:gd name="T99" fmla="*/ 108 h 158"/>
                <a:gd name="T100" fmla="*/ 90 w 266"/>
                <a:gd name="T101" fmla="*/ 82 h 158"/>
                <a:gd name="T102" fmla="*/ 64 w 266"/>
                <a:gd name="T103" fmla="*/ 82 h 158"/>
                <a:gd name="T104" fmla="*/ 64 w 266"/>
                <a:gd name="T105" fmla="*/ 66 h 158"/>
                <a:gd name="T106" fmla="*/ 62 w 266"/>
                <a:gd name="T107" fmla="*/ 62 h 158"/>
                <a:gd name="T108" fmla="*/ 48 w 266"/>
                <a:gd name="T109" fmla="*/ 60 h 158"/>
                <a:gd name="T110" fmla="*/ 42 w 266"/>
                <a:gd name="T111" fmla="*/ 54 h 158"/>
                <a:gd name="T112" fmla="*/ 14 w 266"/>
                <a:gd name="T113" fmla="*/ 68 h 158"/>
                <a:gd name="T114" fmla="*/ 14 w 266"/>
                <a:gd name="T115" fmla="*/ 80 h 158"/>
                <a:gd name="T116" fmla="*/ 0 w 266"/>
                <a:gd name="T117" fmla="*/ 8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66" h="158">
                  <a:moveTo>
                    <a:pt x="0" y="82"/>
                  </a:moveTo>
                  <a:lnTo>
                    <a:pt x="0" y="8"/>
                  </a:lnTo>
                  <a:lnTo>
                    <a:pt x="18" y="4"/>
                  </a:lnTo>
                  <a:lnTo>
                    <a:pt x="46" y="0"/>
                  </a:lnTo>
                  <a:lnTo>
                    <a:pt x="54" y="6"/>
                  </a:lnTo>
                  <a:lnTo>
                    <a:pt x="70" y="16"/>
                  </a:lnTo>
                  <a:lnTo>
                    <a:pt x="80" y="20"/>
                  </a:lnTo>
                  <a:lnTo>
                    <a:pt x="94" y="38"/>
                  </a:lnTo>
                  <a:lnTo>
                    <a:pt x="132" y="36"/>
                  </a:lnTo>
                  <a:lnTo>
                    <a:pt x="140" y="34"/>
                  </a:lnTo>
                  <a:lnTo>
                    <a:pt x="158" y="52"/>
                  </a:lnTo>
                  <a:lnTo>
                    <a:pt x="158" y="60"/>
                  </a:lnTo>
                  <a:lnTo>
                    <a:pt x="168" y="68"/>
                  </a:lnTo>
                  <a:lnTo>
                    <a:pt x="170" y="84"/>
                  </a:lnTo>
                  <a:lnTo>
                    <a:pt x="188" y="82"/>
                  </a:lnTo>
                  <a:lnTo>
                    <a:pt x="192" y="84"/>
                  </a:lnTo>
                  <a:lnTo>
                    <a:pt x="192" y="94"/>
                  </a:lnTo>
                  <a:lnTo>
                    <a:pt x="200" y="94"/>
                  </a:lnTo>
                  <a:lnTo>
                    <a:pt x="202" y="84"/>
                  </a:lnTo>
                  <a:lnTo>
                    <a:pt x="214" y="74"/>
                  </a:lnTo>
                  <a:lnTo>
                    <a:pt x="234" y="62"/>
                  </a:lnTo>
                  <a:lnTo>
                    <a:pt x="230" y="72"/>
                  </a:lnTo>
                  <a:lnTo>
                    <a:pt x="228" y="76"/>
                  </a:lnTo>
                  <a:lnTo>
                    <a:pt x="236" y="80"/>
                  </a:lnTo>
                  <a:lnTo>
                    <a:pt x="248" y="76"/>
                  </a:lnTo>
                  <a:lnTo>
                    <a:pt x="258" y="82"/>
                  </a:lnTo>
                  <a:lnTo>
                    <a:pt x="266" y="90"/>
                  </a:lnTo>
                  <a:lnTo>
                    <a:pt x="258" y="98"/>
                  </a:lnTo>
                  <a:lnTo>
                    <a:pt x="248" y="102"/>
                  </a:lnTo>
                  <a:lnTo>
                    <a:pt x="236" y="102"/>
                  </a:lnTo>
                  <a:lnTo>
                    <a:pt x="232" y="98"/>
                  </a:lnTo>
                  <a:lnTo>
                    <a:pt x="234" y="90"/>
                  </a:lnTo>
                  <a:lnTo>
                    <a:pt x="228" y="88"/>
                  </a:lnTo>
                  <a:lnTo>
                    <a:pt x="216" y="90"/>
                  </a:lnTo>
                  <a:lnTo>
                    <a:pt x="212" y="98"/>
                  </a:lnTo>
                  <a:lnTo>
                    <a:pt x="204" y="102"/>
                  </a:lnTo>
                  <a:lnTo>
                    <a:pt x="198" y="100"/>
                  </a:lnTo>
                  <a:lnTo>
                    <a:pt x="200" y="114"/>
                  </a:lnTo>
                  <a:lnTo>
                    <a:pt x="180" y="114"/>
                  </a:lnTo>
                  <a:lnTo>
                    <a:pt x="180" y="124"/>
                  </a:lnTo>
                  <a:lnTo>
                    <a:pt x="192" y="124"/>
                  </a:lnTo>
                  <a:lnTo>
                    <a:pt x="190" y="138"/>
                  </a:lnTo>
                  <a:lnTo>
                    <a:pt x="196" y="140"/>
                  </a:lnTo>
                  <a:lnTo>
                    <a:pt x="188" y="150"/>
                  </a:lnTo>
                  <a:lnTo>
                    <a:pt x="188" y="158"/>
                  </a:lnTo>
                  <a:lnTo>
                    <a:pt x="168" y="152"/>
                  </a:lnTo>
                  <a:lnTo>
                    <a:pt x="168" y="144"/>
                  </a:lnTo>
                  <a:lnTo>
                    <a:pt x="158" y="138"/>
                  </a:lnTo>
                  <a:lnTo>
                    <a:pt x="146" y="136"/>
                  </a:lnTo>
                  <a:lnTo>
                    <a:pt x="104" y="108"/>
                  </a:lnTo>
                  <a:lnTo>
                    <a:pt x="90" y="82"/>
                  </a:lnTo>
                  <a:lnTo>
                    <a:pt x="64" y="82"/>
                  </a:lnTo>
                  <a:lnTo>
                    <a:pt x="64" y="66"/>
                  </a:lnTo>
                  <a:lnTo>
                    <a:pt x="62" y="62"/>
                  </a:lnTo>
                  <a:lnTo>
                    <a:pt x="48" y="60"/>
                  </a:lnTo>
                  <a:lnTo>
                    <a:pt x="42" y="54"/>
                  </a:lnTo>
                  <a:lnTo>
                    <a:pt x="14" y="68"/>
                  </a:lnTo>
                  <a:lnTo>
                    <a:pt x="14" y="80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 cap="flat">
              <a:solidFill>
                <a:srgbClr val="1A1D24"/>
              </a:solidFill>
              <a:prstDash val="solid"/>
              <a:miter lim="800000"/>
              <a:headEnd/>
              <a:tailEnd/>
            </a:ln>
            <a:effectLst>
              <a:outerShdw blurRad="63500" sx="102000" sy="102000" algn="ctr" rotWithShape="0">
                <a:prstClr val="black">
                  <a:alpha val="0"/>
                </a:prstClr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 100">
              <a:extLst>
                <a:ext uri="{FF2B5EF4-FFF2-40B4-BE49-F238E27FC236}">
                  <a16:creationId xmlns:a16="http://schemas.microsoft.com/office/drawing/2014/main" id="{647AEA0A-2AB1-1365-0940-C29D3FB47CE6}"/>
                </a:ext>
              </a:extLst>
            </p:cNvPr>
            <p:cNvSpPr>
              <a:spLocks/>
            </p:cNvSpPr>
            <p:nvPr/>
          </p:nvSpPr>
          <p:spPr bwMode="gray">
            <a:xfrm>
              <a:off x="6888946" y="3795819"/>
              <a:ext cx="1349199" cy="652424"/>
            </a:xfrm>
            <a:custGeom>
              <a:avLst/>
              <a:gdLst>
                <a:gd name="T0" fmla="*/ 6 w 158"/>
                <a:gd name="T1" fmla="*/ 20 h 76"/>
                <a:gd name="T2" fmla="*/ 16 w 158"/>
                <a:gd name="T3" fmla="*/ 8 h 76"/>
                <a:gd name="T4" fmla="*/ 28 w 158"/>
                <a:gd name="T5" fmla="*/ 8 h 76"/>
                <a:gd name="T6" fmla="*/ 32 w 158"/>
                <a:gd name="T7" fmla="*/ 12 h 76"/>
                <a:gd name="T8" fmla="*/ 50 w 158"/>
                <a:gd name="T9" fmla="*/ 10 h 76"/>
                <a:gd name="T10" fmla="*/ 52 w 158"/>
                <a:gd name="T11" fmla="*/ 4 h 76"/>
                <a:gd name="T12" fmla="*/ 60 w 158"/>
                <a:gd name="T13" fmla="*/ 0 h 76"/>
                <a:gd name="T14" fmla="*/ 72 w 158"/>
                <a:gd name="T15" fmla="*/ 2 h 76"/>
                <a:gd name="T16" fmla="*/ 74 w 158"/>
                <a:gd name="T17" fmla="*/ 10 h 76"/>
                <a:gd name="T18" fmla="*/ 134 w 158"/>
                <a:gd name="T19" fmla="*/ 8 h 76"/>
                <a:gd name="T20" fmla="*/ 140 w 158"/>
                <a:gd name="T21" fmla="*/ 14 h 76"/>
                <a:gd name="T22" fmla="*/ 148 w 158"/>
                <a:gd name="T23" fmla="*/ 16 h 76"/>
                <a:gd name="T24" fmla="*/ 158 w 158"/>
                <a:gd name="T25" fmla="*/ 20 h 76"/>
                <a:gd name="T26" fmla="*/ 152 w 158"/>
                <a:gd name="T27" fmla="*/ 24 h 76"/>
                <a:gd name="T28" fmla="*/ 138 w 158"/>
                <a:gd name="T29" fmla="*/ 32 h 76"/>
                <a:gd name="T30" fmla="*/ 126 w 158"/>
                <a:gd name="T31" fmla="*/ 36 h 76"/>
                <a:gd name="T32" fmla="*/ 122 w 158"/>
                <a:gd name="T33" fmla="*/ 44 h 76"/>
                <a:gd name="T34" fmla="*/ 102 w 158"/>
                <a:gd name="T35" fmla="*/ 44 h 76"/>
                <a:gd name="T36" fmla="*/ 98 w 158"/>
                <a:gd name="T37" fmla="*/ 54 h 76"/>
                <a:gd name="T38" fmla="*/ 82 w 158"/>
                <a:gd name="T39" fmla="*/ 58 h 76"/>
                <a:gd name="T40" fmla="*/ 82 w 158"/>
                <a:gd name="T41" fmla="*/ 52 h 76"/>
                <a:gd name="T42" fmla="*/ 68 w 158"/>
                <a:gd name="T43" fmla="*/ 52 h 76"/>
                <a:gd name="T44" fmla="*/ 66 w 158"/>
                <a:gd name="T45" fmla="*/ 58 h 76"/>
                <a:gd name="T46" fmla="*/ 58 w 158"/>
                <a:gd name="T47" fmla="*/ 62 h 76"/>
                <a:gd name="T48" fmla="*/ 54 w 158"/>
                <a:gd name="T49" fmla="*/ 66 h 76"/>
                <a:gd name="T50" fmla="*/ 52 w 158"/>
                <a:gd name="T51" fmla="*/ 76 h 76"/>
                <a:gd name="T52" fmla="*/ 32 w 158"/>
                <a:gd name="T53" fmla="*/ 76 h 76"/>
                <a:gd name="T54" fmla="*/ 18 w 158"/>
                <a:gd name="T55" fmla="*/ 74 h 76"/>
                <a:gd name="T56" fmla="*/ 6 w 158"/>
                <a:gd name="T57" fmla="*/ 74 h 76"/>
                <a:gd name="T58" fmla="*/ 4 w 158"/>
                <a:gd name="T59" fmla="*/ 66 h 76"/>
                <a:gd name="T60" fmla="*/ 2 w 158"/>
                <a:gd name="T61" fmla="*/ 60 h 76"/>
                <a:gd name="T62" fmla="*/ 4 w 158"/>
                <a:gd name="T63" fmla="*/ 56 h 76"/>
                <a:gd name="T64" fmla="*/ 8 w 158"/>
                <a:gd name="T65" fmla="*/ 60 h 76"/>
                <a:gd name="T66" fmla="*/ 20 w 158"/>
                <a:gd name="T67" fmla="*/ 60 h 76"/>
                <a:gd name="T68" fmla="*/ 30 w 158"/>
                <a:gd name="T69" fmla="*/ 56 h 76"/>
                <a:gd name="T70" fmla="*/ 38 w 158"/>
                <a:gd name="T71" fmla="*/ 48 h 76"/>
                <a:gd name="T72" fmla="*/ 30 w 158"/>
                <a:gd name="T73" fmla="*/ 40 h 76"/>
                <a:gd name="T74" fmla="*/ 20 w 158"/>
                <a:gd name="T75" fmla="*/ 34 h 76"/>
                <a:gd name="T76" fmla="*/ 8 w 158"/>
                <a:gd name="T77" fmla="*/ 38 h 76"/>
                <a:gd name="T78" fmla="*/ 0 w 158"/>
                <a:gd name="T79" fmla="*/ 34 h 76"/>
                <a:gd name="T80" fmla="*/ 2 w 158"/>
                <a:gd name="T81" fmla="*/ 30 h 76"/>
                <a:gd name="T82" fmla="*/ 6 w 158"/>
                <a:gd name="T83" fmla="*/ 2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58" h="76">
                  <a:moveTo>
                    <a:pt x="6" y="20"/>
                  </a:moveTo>
                  <a:lnTo>
                    <a:pt x="16" y="8"/>
                  </a:lnTo>
                  <a:lnTo>
                    <a:pt x="28" y="8"/>
                  </a:lnTo>
                  <a:lnTo>
                    <a:pt x="32" y="12"/>
                  </a:lnTo>
                  <a:lnTo>
                    <a:pt x="50" y="10"/>
                  </a:lnTo>
                  <a:lnTo>
                    <a:pt x="52" y="4"/>
                  </a:lnTo>
                  <a:lnTo>
                    <a:pt x="60" y="0"/>
                  </a:lnTo>
                  <a:lnTo>
                    <a:pt x="72" y="2"/>
                  </a:lnTo>
                  <a:lnTo>
                    <a:pt x="74" y="10"/>
                  </a:lnTo>
                  <a:lnTo>
                    <a:pt x="134" y="8"/>
                  </a:lnTo>
                  <a:lnTo>
                    <a:pt x="140" y="14"/>
                  </a:lnTo>
                  <a:lnTo>
                    <a:pt x="148" y="16"/>
                  </a:lnTo>
                  <a:lnTo>
                    <a:pt x="158" y="20"/>
                  </a:lnTo>
                  <a:lnTo>
                    <a:pt x="152" y="24"/>
                  </a:lnTo>
                  <a:lnTo>
                    <a:pt x="138" y="32"/>
                  </a:lnTo>
                  <a:lnTo>
                    <a:pt x="126" y="36"/>
                  </a:lnTo>
                  <a:lnTo>
                    <a:pt x="122" y="44"/>
                  </a:lnTo>
                  <a:lnTo>
                    <a:pt x="102" y="44"/>
                  </a:lnTo>
                  <a:lnTo>
                    <a:pt x="98" y="54"/>
                  </a:lnTo>
                  <a:lnTo>
                    <a:pt x="82" y="58"/>
                  </a:lnTo>
                  <a:lnTo>
                    <a:pt x="82" y="52"/>
                  </a:lnTo>
                  <a:lnTo>
                    <a:pt x="68" y="52"/>
                  </a:lnTo>
                  <a:lnTo>
                    <a:pt x="66" y="58"/>
                  </a:lnTo>
                  <a:lnTo>
                    <a:pt x="58" y="62"/>
                  </a:lnTo>
                  <a:lnTo>
                    <a:pt x="54" y="66"/>
                  </a:lnTo>
                  <a:lnTo>
                    <a:pt x="52" y="76"/>
                  </a:lnTo>
                  <a:lnTo>
                    <a:pt x="32" y="76"/>
                  </a:lnTo>
                  <a:lnTo>
                    <a:pt x="18" y="74"/>
                  </a:lnTo>
                  <a:lnTo>
                    <a:pt x="6" y="74"/>
                  </a:lnTo>
                  <a:lnTo>
                    <a:pt x="4" y="66"/>
                  </a:lnTo>
                  <a:lnTo>
                    <a:pt x="2" y="60"/>
                  </a:lnTo>
                  <a:lnTo>
                    <a:pt x="4" y="56"/>
                  </a:lnTo>
                  <a:lnTo>
                    <a:pt x="8" y="60"/>
                  </a:lnTo>
                  <a:lnTo>
                    <a:pt x="20" y="60"/>
                  </a:lnTo>
                  <a:lnTo>
                    <a:pt x="30" y="56"/>
                  </a:lnTo>
                  <a:lnTo>
                    <a:pt x="38" y="48"/>
                  </a:lnTo>
                  <a:lnTo>
                    <a:pt x="30" y="40"/>
                  </a:lnTo>
                  <a:lnTo>
                    <a:pt x="20" y="34"/>
                  </a:lnTo>
                  <a:lnTo>
                    <a:pt x="8" y="38"/>
                  </a:lnTo>
                  <a:lnTo>
                    <a:pt x="0" y="34"/>
                  </a:lnTo>
                  <a:lnTo>
                    <a:pt x="2" y="30"/>
                  </a:lnTo>
                  <a:lnTo>
                    <a:pt x="6" y="2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 cap="flat">
              <a:solidFill>
                <a:srgbClr val="1A1D24"/>
              </a:solidFill>
              <a:prstDash val="solid"/>
              <a:miter lim="800000"/>
              <a:headEnd/>
              <a:tailEnd/>
            </a:ln>
            <a:effectLst>
              <a:outerShdw blurRad="63500" sx="102000" sy="102000" algn="ctr" rotWithShape="0">
                <a:prstClr val="black">
                  <a:alpha val="0"/>
                </a:prstClr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 98">
              <a:extLst>
                <a:ext uri="{FF2B5EF4-FFF2-40B4-BE49-F238E27FC236}">
                  <a16:creationId xmlns:a16="http://schemas.microsoft.com/office/drawing/2014/main" id="{F08FA7D2-3E44-8278-DEFD-7DF00D9F98FB}"/>
                </a:ext>
              </a:extLst>
            </p:cNvPr>
            <p:cNvSpPr>
              <a:spLocks/>
            </p:cNvSpPr>
            <p:nvPr/>
          </p:nvSpPr>
          <p:spPr bwMode="gray">
            <a:xfrm>
              <a:off x="6479066" y="4190715"/>
              <a:ext cx="1007630" cy="652424"/>
            </a:xfrm>
            <a:custGeom>
              <a:avLst/>
              <a:gdLst>
                <a:gd name="T0" fmla="*/ 24 w 118"/>
                <a:gd name="T1" fmla="*/ 14 h 76"/>
                <a:gd name="T2" fmla="*/ 32 w 118"/>
                <a:gd name="T3" fmla="*/ 10 h 76"/>
                <a:gd name="T4" fmla="*/ 36 w 118"/>
                <a:gd name="T5" fmla="*/ 2 h 76"/>
                <a:gd name="T6" fmla="*/ 48 w 118"/>
                <a:gd name="T7" fmla="*/ 0 h 76"/>
                <a:gd name="T8" fmla="*/ 54 w 118"/>
                <a:gd name="T9" fmla="*/ 2 h 76"/>
                <a:gd name="T10" fmla="*/ 52 w 118"/>
                <a:gd name="T11" fmla="*/ 8 h 76"/>
                <a:gd name="T12" fmla="*/ 50 w 118"/>
                <a:gd name="T13" fmla="*/ 14 h 76"/>
                <a:gd name="T14" fmla="*/ 52 w 118"/>
                <a:gd name="T15" fmla="*/ 20 h 76"/>
                <a:gd name="T16" fmla="*/ 54 w 118"/>
                <a:gd name="T17" fmla="*/ 28 h 76"/>
                <a:gd name="T18" fmla="*/ 66 w 118"/>
                <a:gd name="T19" fmla="*/ 28 h 76"/>
                <a:gd name="T20" fmla="*/ 80 w 118"/>
                <a:gd name="T21" fmla="*/ 30 h 76"/>
                <a:gd name="T22" fmla="*/ 100 w 118"/>
                <a:gd name="T23" fmla="*/ 30 h 76"/>
                <a:gd name="T24" fmla="*/ 98 w 118"/>
                <a:gd name="T25" fmla="*/ 36 h 76"/>
                <a:gd name="T26" fmla="*/ 100 w 118"/>
                <a:gd name="T27" fmla="*/ 44 h 76"/>
                <a:gd name="T28" fmla="*/ 106 w 118"/>
                <a:gd name="T29" fmla="*/ 46 h 76"/>
                <a:gd name="T30" fmla="*/ 118 w 118"/>
                <a:gd name="T31" fmla="*/ 44 h 76"/>
                <a:gd name="T32" fmla="*/ 118 w 118"/>
                <a:gd name="T33" fmla="*/ 64 h 76"/>
                <a:gd name="T34" fmla="*/ 90 w 118"/>
                <a:gd name="T35" fmla="*/ 64 h 76"/>
                <a:gd name="T36" fmla="*/ 80 w 118"/>
                <a:gd name="T37" fmla="*/ 70 h 76"/>
                <a:gd name="T38" fmla="*/ 64 w 118"/>
                <a:gd name="T39" fmla="*/ 76 h 76"/>
                <a:gd name="T40" fmla="*/ 64 w 118"/>
                <a:gd name="T41" fmla="*/ 70 h 76"/>
                <a:gd name="T42" fmla="*/ 66 w 118"/>
                <a:gd name="T43" fmla="*/ 62 h 76"/>
                <a:gd name="T44" fmla="*/ 64 w 118"/>
                <a:gd name="T45" fmla="*/ 50 h 76"/>
                <a:gd name="T46" fmla="*/ 56 w 118"/>
                <a:gd name="T47" fmla="*/ 44 h 76"/>
                <a:gd name="T48" fmla="*/ 46 w 118"/>
                <a:gd name="T49" fmla="*/ 60 h 76"/>
                <a:gd name="T50" fmla="*/ 38 w 118"/>
                <a:gd name="T51" fmla="*/ 62 h 76"/>
                <a:gd name="T52" fmla="*/ 18 w 118"/>
                <a:gd name="T53" fmla="*/ 74 h 76"/>
                <a:gd name="T54" fmla="*/ 8 w 118"/>
                <a:gd name="T55" fmla="*/ 70 h 76"/>
                <a:gd name="T56" fmla="*/ 8 w 118"/>
                <a:gd name="T57" fmla="*/ 62 h 76"/>
                <a:gd name="T58" fmla="*/ 16 w 118"/>
                <a:gd name="T59" fmla="*/ 52 h 76"/>
                <a:gd name="T60" fmla="*/ 10 w 118"/>
                <a:gd name="T61" fmla="*/ 50 h 76"/>
                <a:gd name="T62" fmla="*/ 12 w 118"/>
                <a:gd name="T63" fmla="*/ 36 h 76"/>
                <a:gd name="T64" fmla="*/ 0 w 118"/>
                <a:gd name="T65" fmla="*/ 36 h 76"/>
                <a:gd name="T66" fmla="*/ 0 w 118"/>
                <a:gd name="T67" fmla="*/ 26 h 76"/>
                <a:gd name="T68" fmla="*/ 20 w 118"/>
                <a:gd name="T69" fmla="*/ 26 h 76"/>
                <a:gd name="T70" fmla="*/ 18 w 118"/>
                <a:gd name="T71" fmla="*/ 12 h 76"/>
                <a:gd name="T72" fmla="*/ 24 w 118"/>
                <a:gd name="T73" fmla="*/ 1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8" h="76">
                  <a:moveTo>
                    <a:pt x="24" y="14"/>
                  </a:moveTo>
                  <a:lnTo>
                    <a:pt x="32" y="10"/>
                  </a:lnTo>
                  <a:lnTo>
                    <a:pt x="36" y="2"/>
                  </a:lnTo>
                  <a:lnTo>
                    <a:pt x="48" y="0"/>
                  </a:lnTo>
                  <a:lnTo>
                    <a:pt x="54" y="2"/>
                  </a:lnTo>
                  <a:lnTo>
                    <a:pt x="52" y="8"/>
                  </a:lnTo>
                  <a:lnTo>
                    <a:pt x="50" y="14"/>
                  </a:lnTo>
                  <a:lnTo>
                    <a:pt x="52" y="20"/>
                  </a:lnTo>
                  <a:lnTo>
                    <a:pt x="54" y="28"/>
                  </a:lnTo>
                  <a:lnTo>
                    <a:pt x="66" y="28"/>
                  </a:lnTo>
                  <a:lnTo>
                    <a:pt x="80" y="30"/>
                  </a:lnTo>
                  <a:lnTo>
                    <a:pt x="100" y="30"/>
                  </a:lnTo>
                  <a:lnTo>
                    <a:pt x="98" y="36"/>
                  </a:lnTo>
                  <a:lnTo>
                    <a:pt x="100" y="44"/>
                  </a:lnTo>
                  <a:lnTo>
                    <a:pt x="106" y="46"/>
                  </a:lnTo>
                  <a:lnTo>
                    <a:pt x="118" y="44"/>
                  </a:lnTo>
                  <a:lnTo>
                    <a:pt x="118" y="64"/>
                  </a:lnTo>
                  <a:lnTo>
                    <a:pt x="90" y="64"/>
                  </a:lnTo>
                  <a:lnTo>
                    <a:pt x="80" y="70"/>
                  </a:lnTo>
                  <a:lnTo>
                    <a:pt x="64" y="76"/>
                  </a:lnTo>
                  <a:lnTo>
                    <a:pt x="64" y="70"/>
                  </a:lnTo>
                  <a:lnTo>
                    <a:pt x="66" y="62"/>
                  </a:lnTo>
                  <a:lnTo>
                    <a:pt x="64" y="50"/>
                  </a:lnTo>
                  <a:lnTo>
                    <a:pt x="56" y="44"/>
                  </a:lnTo>
                  <a:lnTo>
                    <a:pt x="46" y="60"/>
                  </a:lnTo>
                  <a:lnTo>
                    <a:pt x="38" y="62"/>
                  </a:lnTo>
                  <a:lnTo>
                    <a:pt x="18" y="74"/>
                  </a:lnTo>
                  <a:lnTo>
                    <a:pt x="8" y="70"/>
                  </a:lnTo>
                  <a:lnTo>
                    <a:pt x="8" y="62"/>
                  </a:lnTo>
                  <a:lnTo>
                    <a:pt x="16" y="52"/>
                  </a:lnTo>
                  <a:lnTo>
                    <a:pt x="10" y="50"/>
                  </a:lnTo>
                  <a:lnTo>
                    <a:pt x="12" y="36"/>
                  </a:lnTo>
                  <a:lnTo>
                    <a:pt x="0" y="36"/>
                  </a:lnTo>
                  <a:lnTo>
                    <a:pt x="0" y="26"/>
                  </a:lnTo>
                  <a:lnTo>
                    <a:pt x="20" y="26"/>
                  </a:lnTo>
                  <a:lnTo>
                    <a:pt x="18" y="12"/>
                  </a:lnTo>
                  <a:lnTo>
                    <a:pt x="24" y="1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 cap="flat">
              <a:solidFill>
                <a:srgbClr val="1A1D24"/>
              </a:solidFill>
              <a:prstDash val="solid"/>
              <a:miter lim="800000"/>
              <a:headEnd/>
              <a:tailEnd/>
            </a:ln>
            <a:effectLst>
              <a:outerShdw blurRad="63500" sx="102000" sy="102000" algn="ctr" rotWithShape="0">
                <a:prstClr val="black">
                  <a:alpha val="0"/>
                </a:prstClr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13" name="Соединительная линия уступом 12">
            <a:extLst>
              <a:ext uri="{FF2B5EF4-FFF2-40B4-BE49-F238E27FC236}">
                <a16:creationId xmlns:a16="http://schemas.microsoft.com/office/drawing/2014/main" id="{E74F96B0-0E76-9D19-F0E6-40EBCBC2B7F5}"/>
              </a:ext>
            </a:extLst>
          </p:cNvPr>
          <p:cNvCxnSpPr>
            <a:cxnSpLocks/>
          </p:cNvCxnSpPr>
          <p:nvPr/>
        </p:nvCxnSpPr>
        <p:spPr>
          <a:xfrm rot="10800000">
            <a:off x="3039489" y="1275168"/>
            <a:ext cx="2043746" cy="1555155"/>
          </a:xfrm>
          <a:prstGeom prst="bentConnector3">
            <a:avLst>
              <a:gd name="adj1" fmla="val 50000"/>
            </a:avLst>
          </a:prstGeom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3">
            <a:extLst>
              <a:ext uri="{FF2B5EF4-FFF2-40B4-BE49-F238E27FC236}">
                <a16:creationId xmlns:a16="http://schemas.microsoft.com/office/drawing/2014/main" id="{E36C2D39-76C1-8EA5-E796-1B1B98A1261E}"/>
              </a:ext>
            </a:extLst>
          </p:cNvPr>
          <p:cNvSpPr/>
          <p:nvPr/>
        </p:nvSpPr>
        <p:spPr>
          <a:xfrm>
            <a:off x="947519" y="878133"/>
            <a:ext cx="2733832" cy="1077218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Roboto Condensed"/>
              <a:ea typeface="+mn-ea"/>
              <a:cs typeface="Roboto Condensed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453B9FC3-C1B9-C8F2-4C92-B377E0B26546}"/>
              </a:ext>
            </a:extLst>
          </p:cNvPr>
          <p:cNvSpPr txBox="1">
            <a:spLocks/>
          </p:cNvSpPr>
          <p:nvPr/>
        </p:nvSpPr>
        <p:spPr>
          <a:xfrm>
            <a:off x="1219070" y="918725"/>
            <a:ext cx="2462281" cy="815955"/>
          </a:xfrm>
          <a:prstGeom prst="rect">
            <a:avLst/>
          </a:prstGeom>
        </p:spPr>
        <p:txBody>
          <a:bodyPr lIns="96012" tIns="48006" rIns="96012" bIns="48006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 b="1">
                <a:solidFill>
                  <a:schemeClr val="bg1"/>
                </a:solidFill>
                <a:latin typeface="Avenir Book" panose="02000503020000020003" pitchFamily="2" charset="0"/>
                <a:ea typeface="Tw Cen MT Condensed Extra Bold" charset="0"/>
                <a:cs typeface="Tw Cen MT Condensed Extra Bold" charset="0"/>
              </a:rPr>
              <a:t>Казахстан</a:t>
            </a:r>
          </a:p>
          <a:p>
            <a:r>
              <a:rPr lang="en-US" sz="2200" b="1">
                <a:solidFill>
                  <a:schemeClr val="bg1"/>
                </a:solidFill>
                <a:latin typeface="Avenir Book" panose="02000503020000020003" pitchFamily="2" charset="0"/>
                <a:ea typeface="Tw Cen MT Condensed Extra Bold" charset="0"/>
                <a:cs typeface="Tw Cen MT Condensed Extra Bold" charset="0"/>
              </a:rPr>
              <a:t>DARE  </a:t>
            </a:r>
          </a:p>
          <a:p>
            <a:r>
              <a:rPr lang="en-US" sz="1800" b="1">
                <a:solidFill>
                  <a:srgbClr val="D97706"/>
                </a:solidFill>
                <a:latin typeface="Avenir Book" panose="02000503020000020003" pitchFamily="2" charset="0"/>
                <a:ea typeface="Tw Cen MT Condensed Extra Bold" charset="0"/>
                <a:cs typeface="Tw Cen MT Condensed Extra Bold" charset="0"/>
              </a:rPr>
              <a:t>2025–2028 | $92 млн</a:t>
            </a:r>
            <a:endParaRPr lang="en-GB" sz="1800" b="1">
              <a:solidFill>
                <a:srgbClr val="D97706"/>
              </a:solidFill>
              <a:latin typeface="Avenir Book" panose="02000503020000020003" pitchFamily="2" charset="0"/>
              <a:ea typeface="Tw Cen MT Condensed Extra Bold" charset="0"/>
              <a:cs typeface="Tw Cen MT Condensed Extra Bold" charset="0"/>
            </a:endParaRPr>
          </a:p>
        </p:txBody>
      </p: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6C184640-B0A4-8184-537D-BC7160324A61}"/>
              </a:ext>
            </a:extLst>
          </p:cNvPr>
          <p:cNvGrpSpPr/>
          <p:nvPr/>
        </p:nvGrpSpPr>
        <p:grpSpPr>
          <a:xfrm>
            <a:off x="876422" y="3855792"/>
            <a:ext cx="2733832" cy="1207844"/>
            <a:chOff x="947519" y="878132"/>
            <a:chExt cx="2733832" cy="862320"/>
          </a:xfrm>
          <a:solidFill>
            <a:srgbClr val="005B94"/>
          </a:solidFill>
        </p:grpSpPr>
        <p:sp>
          <p:nvSpPr>
            <p:cNvPr id="32" name="Rectangle 3">
              <a:extLst>
                <a:ext uri="{FF2B5EF4-FFF2-40B4-BE49-F238E27FC236}">
                  <a16:creationId xmlns:a16="http://schemas.microsoft.com/office/drawing/2014/main" id="{ECF28E2E-D51B-6EC7-4DF0-0FA91AD01E03}"/>
                </a:ext>
              </a:extLst>
            </p:cNvPr>
            <p:cNvSpPr/>
            <p:nvPr/>
          </p:nvSpPr>
          <p:spPr>
            <a:xfrm>
              <a:off x="947519" y="878132"/>
              <a:ext cx="2733832" cy="862320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boto Condensed"/>
                <a:ea typeface="+mn-ea"/>
                <a:cs typeface="Roboto Condensed"/>
              </a:endParaRPr>
            </a:p>
          </p:txBody>
        </p:sp>
        <p:sp>
          <p:nvSpPr>
            <p:cNvPr id="33" name="Title 1">
              <a:extLst>
                <a:ext uri="{FF2B5EF4-FFF2-40B4-BE49-F238E27FC236}">
                  <a16:creationId xmlns:a16="http://schemas.microsoft.com/office/drawing/2014/main" id="{EDA79871-541D-B52E-B18A-187FC5E9B507}"/>
                </a:ext>
              </a:extLst>
            </p:cNvPr>
            <p:cNvSpPr txBox="1">
              <a:spLocks/>
            </p:cNvSpPr>
            <p:nvPr/>
          </p:nvSpPr>
          <p:spPr>
            <a:xfrm>
              <a:off x="1112348" y="961179"/>
              <a:ext cx="2462281" cy="632773"/>
            </a:xfrm>
            <a:prstGeom prst="rect">
              <a:avLst/>
            </a:prstGeom>
            <a:solidFill>
              <a:srgbClr val="1E3A5F"/>
            </a:solidFill>
          </p:spPr>
          <p:txBody>
            <a:bodyPr lIns="96012" tIns="48006" rIns="96012" bIns="48006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200" b="1">
                  <a:solidFill>
                    <a:schemeClr val="bg1"/>
                  </a:solidFill>
                  <a:latin typeface="Avenir Book" panose="02000503020000020003" pitchFamily="2" charset="0"/>
                  <a:ea typeface="Tw Cen MT Condensed Extra Bold" charset="0"/>
                  <a:cs typeface="Tw Cen MT Condensed Extra Bold" charset="0"/>
                </a:rPr>
                <a:t>Узбекистан</a:t>
              </a:r>
            </a:p>
            <a:p>
              <a:r>
                <a:rPr lang="en-US" sz="2200" b="1">
                  <a:solidFill>
                    <a:schemeClr val="bg1"/>
                  </a:solidFill>
                  <a:latin typeface="Avenir Book" panose="02000503020000020003" pitchFamily="2" charset="0"/>
                  <a:ea typeface="Tw Cen MT Condensed Extra Bold" charset="0"/>
                  <a:cs typeface="Tw Cen MT Condensed Extra Bold" charset="0"/>
                </a:rPr>
                <a:t>#</a:t>
              </a:r>
              <a:r>
                <a:rPr lang="en-US" sz="2200" b="1" err="1">
                  <a:solidFill>
                    <a:schemeClr val="bg1"/>
                  </a:solidFill>
                  <a:latin typeface="Avenir Book" panose="02000503020000020003" pitchFamily="2" charset="0"/>
                  <a:ea typeface="Tw Cen MT Condensed Extra Bold" charset="0"/>
                  <a:cs typeface="Tw Cen MT Condensed Extra Bold" charset="0"/>
                </a:rPr>
                <a:t>Digital_Inclusion</a:t>
              </a:r>
              <a:endParaRPr lang="en-US" sz="2200" b="1">
                <a:solidFill>
                  <a:schemeClr val="bg1"/>
                </a:solidFill>
                <a:latin typeface="Avenir Book" panose="02000503020000020003" pitchFamily="2" charset="0"/>
                <a:ea typeface="Tw Cen MT Condensed Extra Bold" charset="0"/>
                <a:cs typeface="Tw Cen MT Condensed Extra Bold" charset="0"/>
              </a:endParaRPr>
            </a:p>
            <a:p>
              <a:r>
                <a:rPr lang="en-US" sz="1800" b="1">
                  <a:solidFill>
                    <a:srgbClr val="D97706"/>
                  </a:solidFill>
                  <a:latin typeface="Avenir Book" panose="02000503020000020003" pitchFamily="2" charset="0"/>
                  <a:ea typeface="Tw Cen MT Condensed Extra Bold" charset="0"/>
                  <a:cs typeface="Tw Cen MT Condensed Extra Bold" charset="0"/>
                </a:rPr>
                <a:t>2024–2030 | $50 млн</a:t>
              </a:r>
            </a:p>
          </p:txBody>
        </p:sp>
      </p:grpSp>
      <p:cxnSp>
        <p:nvCxnSpPr>
          <p:cNvPr id="34" name="Соединительная линия уступом 33">
            <a:extLst>
              <a:ext uri="{FF2B5EF4-FFF2-40B4-BE49-F238E27FC236}">
                <a16:creationId xmlns:a16="http://schemas.microsoft.com/office/drawing/2014/main" id="{806A7679-C9E2-23E0-65A1-3AACE2082DFD}"/>
              </a:ext>
            </a:extLst>
          </p:cNvPr>
          <p:cNvCxnSpPr>
            <a:cxnSpLocks/>
            <a:endCxn id="32" idx="3"/>
          </p:cNvCxnSpPr>
          <p:nvPr/>
        </p:nvCxnSpPr>
        <p:spPr>
          <a:xfrm rot="10800000" flipV="1">
            <a:off x="3610254" y="3944034"/>
            <a:ext cx="1401884" cy="515679"/>
          </a:xfrm>
          <a:prstGeom prst="bentConnector3">
            <a:avLst>
              <a:gd name="adj1" fmla="val 50000"/>
            </a:avLst>
          </a:prstGeom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Соединительная линия уступом 40">
            <a:extLst>
              <a:ext uri="{FF2B5EF4-FFF2-40B4-BE49-F238E27FC236}">
                <a16:creationId xmlns:a16="http://schemas.microsoft.com/office/drawing/2014/main" id="{8C648DCE-6C73-4EAA-E874-23D6AA3B20D2}"/>
              </a:ext>
            </a:extLst>
          </p:cNvPr>
          <p:cNvCxnSpPr>
            <a:cxnSpLocks/>
            <a:stCxn id="39" idx="1"/>
            <a:endCxn id="67" idx="3"/>
          </p:cNvCxnSpPr>
          <p:nvPr/>
        </p:nvCxnSpPr>
        <p:spPr>
          <a:xfrm rot="10800000">
            <a:off x="7179997" y="4767172"/>
            <a:ext cx="1098054" cy="205498"/>
          </a:xfrm>
          <a:prstGeom prst="bentConnector3">
            <a:avLst>
              <a:gd name="adj1" fmla="val 50000"/>
            </a:avLst>
          </a:prstGeom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A35E4263-C921-D755-0BE9-1E45C6118039}"/>
              </a:ext>
            </a:extLst>
          </p:cNvPr>
          <p:cNvGrpSpPr/>
          <p:nvPr/>
        </p:nvGrpSpPr>
        <p:grpSpPr>
          <a:xfrm>
            <a:off x="8278051" y="4441206"/>
            <a:ext cx="3226818" cy="1062928"/>
            <a:chOff x="947519" y="878133"/>
            <a:chExt cx="2733832" cy="1062928"/>
          </a:xfrm>
        </p:grpSpPr>
        <p:sp>
          <p:nvSpPr>
            <p:cNvPr id="39" name="Rectangle 3">
              <a:extLst>
                <a:ext uri="{FF2B5EF4-FFF2-40B4-BE49-F238E27FC236}">
                  <a16:creationId xmlns:a16="http://schemas.microsoft.com/office/drawing/2014/main" id="{A7C43161-9BF6-6379-64C8-D47A9C065645}"/>
                </a:ext>
              </a:extLst>
            </p:cNvPr>
            <p:cNvSpPr/>
            <p:nvPr/>
          </p:nvSpPr>
          <p:spPr>
            <a:xfrm>
              <a:off x="947519" y="878133"/>
              <a:ext cx="2733832" cy="1062928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boto Condensed"/>
                <a:ea typeface="+mn-ea"/>
                <a:cs typeface="Roboto Condensed"/>
              </a:endParaRPr>
            </a:p>
          </p:txBody>
        </p:sp>
        <p:sp>
          <p:nvSpPr>
            <p:cNvPr id="40" name="Title 1">
              <a:extLst>
                <a:ext uri="{FF2B5EF4-FFF2-40B4-BE49-F238E27FC236}">
                  <a16:creationId xmlns:a16="http://schemas.microsoft.com/office/drawing/2014/main" id="{3890247B-87DE-74C8-1571-E2F3179442EC}"/>
                </a:ext>
              </a:extLst>
            </p:cNvPr>
            <p:cNvSpPr txBox="1">
              <a:spLocks/>
            </p:cNvSpPr>
            <p:nvPr/>
          </p:nvSpPr>
          <p:spPr>
            <a:xfrm>
              <a:off x="1108634" y="958691"/>
              <a:ext cx="2462281" cy="815955"/>
            </a:xfrm>
            <a:prstGeom prst="rect">
              <a:avLst/>
            </a:prstGeom>
          </p:spPr>
          <p:txBody>
            <a:bodyPr lIns="96012" tIns="48006" rIns="96012" bIns="48006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200" b="1" dirty="0">
                  <a:solidFill>
                    <a:schemeClr val="bg1"/>
                  </a:solidFill>
                  <a:latin typeface="Avenir Book" panose="02000503020000020003" pitchFamily="2" charset="0"/>
                  <a:ea typeface="Tw Cen MT Condensed Extra Bold" charset="0"/>
                  <a:cs typeface="Tw Cen MT Condensed Extra Bold" charset="0"/>
                </a:rPr>
                <a:t>Таджикистан</a:t>
              </a:r>
            </a:p>
            <a:p>
              <a:r>
                <a:rPr lang="en-US" sz="2200" b="1" dirty="0">
                  <a:solidFill>
                    <a:schemeClr val="bg1"/>
                  </a:solidFill>
                  <a:latin typeface="Avenir Book" panose="02000503020000020003" pitchFamily="2" charset="0"/>
                  <a:ea typeface="Tw Cen MT Condensed Extra Bold" charset="0"/>
                  <a:cs typeface="Tw Cen MT Condensed Extra Bold" charset="0"/>
                </a:rPr>
                <a:t>Digital Foundations </a:t>
              </a:r>
              <a:r>
                <a:rPr lang="en-US" sz="1800" b="1" dirty="0">
                  <a:solidFill>
                    <a:srgbClr val="D97706"/>
                  </a:solidFill>
                  <a:latin typeface="Avenir Book" panose="02000503020000020003" pitchFamily="2" charset="0"/>
                  <a:ea typeface="Tw Cen MT Condensed Extra Bold" charset="0"/>
                  <a:cs typeface="Tw Cen MT Condensed Extra Bold" charset="0"/>
                </a:rPr>
                <a:t>2025–2030 | $51 млн</a:t>
              </a:r>
              <a:endParaRPr lang="en-GB" sz="1800" b="1" dirty="0">
                <a:solidFill>
                  <a:schemeClr val="bg1"/>
                </a:solidFill>
                <a:latin typeface="Avenir Book" panose="02000503020000020003" pitchFamily="2" charset="0"/>
                <a:ea typeface="Tw Cen MT Condensed Extra Bold" charset="0"/>
                <a:cs typeface="Tw Cen MT Condensed Extra Bold" charset="0"/>
              </a:endParaRPr>
            </a:p>
          </p:txBody>
        </p: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D72BC934-C96B-2757-D811-2D6A18A2FB49}"/>
              </a:ext>
            </a:extLst>
          </p:cNvPr>
          <p:cNvGrpSpPr/>
          <p:nvPr/>
        </p:nvGrpSpPr>
        <p:grpSpPr>
          <a:xfrm>
            <a:off x="8278050" y="2225491"/>
            <a:ext cx="3640763" cy="1406720"/>
            <a:chOff x="947519" y="699881"/>
            <a:chExt cx="2733832" cy="1122185"/>
          </a:xfrm>
        </p:grpSpPr>
        <p:sp>
          <p:nvSpPr>
            <p:cNvPr id="49" name="Rectangle 3">
              <a:extLst>
                <a:ext uri="{FF2B5EF4-FFF2-40B4-BE49-F238E27FC236}">
                  <a16:creationId xmlns:a16="http://schemas.microsoft.com/office/drawing/2014/main" id="{E300C470-26CB-F584-DEEB-06F64EF48AFC}"/>
                </a:ext>
              </a:extLst>
            </p:cNvPr>
            <p:cNvSpPr/>
            <p:nvPr/>
          </p:nvSpPr>
          <p:spPr>
            <a:xfrm>
              <a:off x="947519" y="743904"/>
              <a:ext cx="2733832" cy="1078162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boto Condensed"/>
                <a:ea typeface="+mn-ea"/>
                <a:cs typeface="Roboto Condensed"/>
              </a:endParaRPr>
            </a:p>
          </p:txBody>
        </p:sp>
        <p:sp>
          <p:nvSpPr>
            <p:cNvPr id="50" name="Title 1">
              <a:extLst>
                <a:ext uri="{FF2B5EF4-FFF2-40B4-BE49-F238E27FC236}">
                  <a16:creationId xmlns:a16="http://schemas.microsoft.com/office/drawing/2014/main" id="{04517969-2BC0-61CC-47D3-9D711D279A05}"/>
                </a:ext>
              </a:extLst>
            </p:cNvPr>
            <p:cNvSpPr txBox="1">
              <a:spLocks/>
            </p:cNvSpPr>
            <p:nvPr/>
          </p:nvSpPr>
          <p:spPr>
            <a:xfrm>
              <a:off x="1090316" y="699881"/>
              <a:ext cx="2591035" cy="815955"/>
            </a:xfrm>
            <a:prstGeom prst="rect">
              <a:avLst/>
            </a:prstGeom>
          </p:spPr>
          <p:txBody>
            <a:bodyPr lIns="96012" tIns="48006" rIns="96012" bIns="48006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200" b="1" dirty="0">
                  <a:solidFill>
                    <a:schemeClr val="bg1"/>
                  </a:solidFill>
                  <a:latin typeface="Avenir Book" panose="02000503020000020003" pitchFamily="2" charset="0"/>
                  <a:ea typeface="Tw Cen MT Condensed Extra Bold" charset="0"/>
                  <a:cs typeface="Tw Cen MT Condensed Extra Bold" charset="0"/>
                </a:rPr>
                <a:t>Кыргызстан</a:t>
              </a:r>
            </a:p>
            <a:p>
              <a:r>
                <a:rPr lang="en-US" sz="2200" b="1" dirty="0">
                  <a:solidFill>
                    <a:schemeClr val="bg1"/>
                  </a:solidFill>
                  <a:latin typeface="Avenir Book" panose="02000503020000020003" pitchFamily="2" charset="0"/>
                  <a:ea typeface="Tw Cen MT Condensed Extra Bold" charset="0"/>
                  <a:cs typeface="Tw Cen MT Condensed Extra Bold" charset="0"/>
                </a:rPr>
                <a:t>Digital CASA </a:t>
              </a:r>
              <a:endParaRPr lang="ru-RU" sz="2200" b="1" dirty="0">
                <a:solidFill>
                  <a:schemeClr val="bg1"/>
                </a:solidFill>
                <a:latin typeface="Avenir Book" panose="02000503020000020003" pitchFamily="2" charset="0"/>
                <a:ea typeface="Tw Cen MT Condensed Extra Bold" charset="0"/>
                <a:cs typeface="Tw Cen MT Condensed Extra Bold" charset="0"/>
              </a:endParaRPr>
            </a:p>
            <a:p>
              <a:r>
                <a:rPr lang="en-US" sz="1800" b="1" dirty="0">
                  <a:solidFill>
                    <a:srgbClr val="D97706"/>
                  </a:solidFill>
                  <a:latin typeface="Avenir Book" panose="02000503020000020003" pitchFamily="2" charset="0"/>
                  <a:ea typeface="Tw Cen MT Condensed Extra Bold" charset="0"/>
                  <a:cs typeface="Tw Cen MT Condensed Extra Bold" charset="0"/>
                </a:rPr>
                <a:t>Завершён 2019–2025 | $57 млн</a:t>
              </a:r>
              <a:r>
                <a:rPr lang="en-US" sz="1800" b="1" dirty="0">
                  <a:solidFill>
                    <a:schemeClr val="bg1"/>
                  </a:solidFill>
                  <a:latin typeface="Avenir Book" panose="02000503020000020003" pitchFamily="2" charset="0"/>
                  <a:ea typeface="Tw Cen MT Condensed Extra Bold" charset="0"/>
                  <a:cs typeface="Tw Cen MT Condensed Extra Bold" charset="0"/>
                </a:rPr>
                <a:t>. Новый проект обсуждается с АБР </a:t>
              </a:r>
              <a:endParaRPr lang="en-GB" sz="1800" b="1" dirty="0">
                <a:solidFill>
                  <a:schemeClr val="bg1"/>
                </a:solidFill>
                <a:latin typeface="Avenir Book" panose="02000503020000020003" pitchFamily="2" charset="0"/>
                <a:ea typeface="Tw Cen MT Condensed Extra Bold" charset="0"/>
                <a:cs typeface="Tw Cen MT Condensed Extra Bold" charset="0"/>
              </a:endParaRPr>
            </a:p>
          </p:txBody>
        </p:sp>
      </p:grpSp>
      <p:cxnSp>
        <p:nvCxnSpPr>
          <p:cNvPr id="51" name="Соединительная линия уступом 50">
            <a:extLst>
              <a:ext uri="{FF2B5EF4-FFF2-40B4-BE49-F238E27FC236}">
                <a16:creationId xmlns:a16="http://schemas.microsoft.com/office/drawing/2014/main" id="{5C594E74-8107-64C7-6B0B-9C5BF5D5381D}"/>
              </a:ext>
            </a:extLst>
          </p:cNvPr>
          <p:cNvCxnSpPr>
            <a:cxnSpLocks/>
            <a:stCxn id="49" idx="1"/>
            <a:endCxn id="63" idx="0"/>
          </p:cNvCxnSpPr>
          <p:nvPr/>
        </p:nvCxnSpPr>
        <p:spPr>
          <a:xfrm rot="10800000" flipV="1">
            <a:off x="7289580" y="2956443"/>
            <a:ext cx="988471" cy="933679"/>
          </a:xfrm>
          <a:prstGeom prst="bentConnector2">
            <a:avLst/>
          </a:prstGeom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Группа 57">
            <a:extLst>
              <a:ext uri="{FF2B5EF4-FFF2-40B4-BE49-F238E27FC236}">
                <a16:creationId xmlns:a16="http://schemas.microsoft.com/office/drawing/2014/main" id="{4707D2A6-BFDD-2D89-AAAC-C2D19127166E}"/>
              </a:ext>
            </a:extLst>
          </p:cNvPr>
          <p:cNvGrpSpPr/>
          <p:nvPr/>
        </p:nvGrpSpPr>
        <p:grpSpPr>
          <a:xfrm>
            <a:off x="4965062" y="2554781"/>
            <a:ext cx="598630" cy="551083"/>
            <a:chOff x="4965062" y="2554781"/>
            <a:chExt cx="598630" cy="551083"/>
          </a:xfrm>
        </p:grpSpPr>
        <p:sp>
          <p:nvSpPr>
            <p:cNvPr id="56" name="Овал 55">
              <a:extLst>
                <a:ext uri="{FF2B5EF4-FFF2-40B4-BE49-F238E27FC236}">
                  <a16:creationId xmlns:a16="http://schemas.microsoft.com/office/drawing/2014/main" id="{E087A672-5C7E-1A30-72BA-1E1264CF72C3}"/>
                </a:ext>
              </a:extLst>
            </p:cNvPr>
            <p:cNvSpPr/>
            <p:nvPr/>
          </p:nvSpPr>
          <p:spPr>
            <a:xfrm>
              <a:off x="5012609" y="2554781"/>
              <a:ext cx="551083" cy="551083"/>
            </a:xfrm>
            <a:prstGeom prst="ellipse">
              <a:avLst/>
            </a:prstGeom>
            <a:solidFill>
              <a:srgbClr val="1E3A5F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000D9F"/>
                </a:solidFill>
              </a:endParaRPr>
            </a:p>
          </p:txBody>
        </p:sp>
        <p:pic>
          <p:nvPicPr>
            <p:cNvPr id="57" name="Picture 7">
              <a:extLst>
                <a:ext uri="{FF2B5EF4-FFF2-40B4-BE49-F238E27FC236}">
                  <a16:creationId xmlns:a16="http://schemas.microsoft.com/office/drawing/2014/main" id="{00AE22D7-D41A-D1E4-F648-33BB7F5BF7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5964" t="26552" r="29954" b="38392"/>
            <a:stretch/>
          </p:blipFill>
          <p:spPr>
            <a:xfrm>
              <a:off x="4965062" y="2574877"/>
              <a:ext cx="598630" cy="476063"/>
            </a:xfrm>
            <a:prstGeom prst="rect">
              <a:avLst/>
            </a:prstGeom>
          </p:spPr>
        </p:pic>
      </p:grpSp>
      <p:grpSp>
        <p:nvGrpSpPr>
          <p:cNvPr id="59" name="Группа 58">
            <a:extLst>
              <a:ext uri="{FF2B5EF4-FFF2-40B4-BE49-F238E27FC236}">
                <a16:creationId xmlns:a16="http://schemas.microsoft.com/office/drawing/2014/main" id="{F7BB5FAD-A299-9C8B-4DDE-61F80439918B}"/>
              </a:ext>
            </a:extLst>
          </p:cNvPr>
          <p:cNvGrpSpPr/>
          <p:nvPr/>
        </p:nvGrpSpPr>
        <p:grpSpPr>
          <a:xfrm>
            <a:off x="4919721" y="3565447"/>
            <a:ext cx="604736" cy="551083"/>
            <a:chOff x="4958956" y="2554781"/>
            <a:chExt cx="604736" cy="551083"/>
          </a:xfrm>
        </p:grpSpPr>
        <p:sp>
          <p:nvSpPr>
            <p:cNvPr id="60" name="Овал 59">
              <a:extLst>
                <a:ext uri="{FF2B5EF4-FFF2-40B4-BE49-F238E27FC236}">
                  <a16:creationId xmlns:a16="http://schemas.microsoft.com/office/drawing/2014/main" id="{0B9D3ECF-DF68-72CE-3B4D-0D4C286338CF}"/>
                </a:ext>
              </a:extLst>
            </p:cNvPr>
            <p:cNvSpPr/>
            <p:nvPr/>
          </p:nvSpPr>
          <p:spPr>
            <a:xfrm>
              <a:off x="5012609" y="2554781"/>
              <a:ext cx="551083" cy="551083"/>
            </a:xfrm>
            <a:prstGeom prst="ellipse">
              <a:avLst/>
            </a:prstGeom>
            <a:solidFill>
              <a:srgbClr val="1E3A5F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000D9F"/>
                </a:solidFill>
              </a:endParaRPr>
            </a:p>
          </p:txBody>
        </p:sp>
        <p:pic>
          <p:nvPicPr>
            <p:cNvPr id="61" name="Picture 7">
              <a:extLst>
                <a:ext uri="{FF2B5EF4-FFF2-40B4-BE49-F238E27FC236}">
                  <a16:creationId xmlns:a16="http://schemas.microsoft.com/office/drawing/2014/main" id="{3A487826-7C47-3F9A-3A43-6E33EAA2F4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5964" t="26552" r="29954" b="38392"/>
            <a:stretch/>
          </p:blipFill>
          <p:spPr>
            <a:xfrm>
              <a:off x="4958956" y="2576250"/>
              <a:ext cx="598630" cy="476063"/>
            </a:xfrm>
            <a:prstGeom prst="rect">
              <a:avLst/>
            </a:prstGeom>
          </p:spPr>
        </p:pic>
      </p:grpSp>
      <p:grpSp>
        <p:nvGrpSpPr>
          <p:cNvPr id="62" name="Группа 61">
            <a:extLst>
              <a:ext uri="{FF2B5EF4-FFF2-40B4-BE49-F238E27FC236}">
                <a16:creationId xmlns:a16="http://schemas.microsoft.com/office/drawing/2014/main" id="{C4B4A044-EC60-253D-CA3D-DB82EA9A6900}"/>
              </a:ext>
            </a:extLst>
          </p:cNvPr>
          <p:cNvGrpSpPr/>
          <p:nvPr/>
        </p:nvGrpSpPr>
        <p:grpSpPr>
          <a:xfrm>
            <a:off x="6961889" y="3890123"/>
            <a:ext cx="603231" cy="551083"/>
            <a:chOff x="4960461" y="2554781"/>
            <a:chExt cx="603231" cy="551083"/>
          </a:xfrm>
        </p:grpSpPr>
        <p:sp>
          <p:nvSpPr>
            <p:cNvPr id="63" name="Овал 62">
              <a:extLst>
                <a:ext uri="{FF2B5EF4-FFF2-40B4-BE49-F238E27FC236}">
                  <a16:creationId xmlns:a16="http://schemas.microsoft.com/office/drawing/2014/main" id="{851ECAE1-C652-76C5-9597-89B454D1BD70}"/>
                </a:ext>
              </a:extLst>
            </p:cNvPr>
            <p:cNvSpPr/>
            <p:nvPr/>
          </p:nvSpPr>
          <p:spPr>
            <a:xfrm>
              <a:off x="5012609" y="2554781"/>
              <a:ext cx="551083" cy="551083"/>
            </a:xfrm>
            <a:prstGeom prst="ellipse">
              <a:avLst/>
            </a:prstGeom>
            <a:solidFill>
              <a:srgbClr val="1E3A5F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000D9F"/>
                </a:solidFill>
              </a:endParaRPr>
            </a:p>
          </p:txBody>
        </p:sp>
        <p:pic>
          <p:nvPicPr>
            <p:cNvPr id="64" name="Picture 7">
              <a:extLst>
                <a:ext uri="{FF2B5EF4-FFF2-40B4-BE49-F238E27FC236}">
                  <a16:creationId xmlns:a16="http://schemas.microsoft.com/office/drawing/2014/main" id="{D25C3D8B-E62C-4BE9-CF03-5B43413F99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5964" t="26552" r="29954" b="38392"/>
            <a:stretch/>
          </p:blipFill>
          <p:spPr>
            <a:xfrm>
              <a:off x="4960461" y="2577110"/>
              <a:ext cx="598630" cy="476063"/>
            </a:xfrm>
            <a:prstGeom prst="rect">
              <a:avLst/>
            </a:prstGeom>
          </p:spPr>
        </p:pic>
      </p:grpSp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CF5C1502-2EC7-BD55-3FB7-BAD3724F6F3D}"/>
              </a:ext>
            </a:extLst>
          </p:cNvPr>
          <p:cNvGrpSpPr/>
          <p:nvPr/>
        </p:nvGrpSpPr>
        <p:grpSpPr>
          <a:xfrm>
            <a:off x="6581367" y="4512553"/>
            <a:ext cx="614191" cy="551083"/>
            <a:chOff x="4949501" y="2554781"/>
            <a:chExt cx="614191" cy="551083"/>
          </a:xfrm>
        </p:grpSpPr>
        <p:sp>
          <p:nvSpPr>
            <p:cNvPr id="66" name="Овал 65">
              <a:extLst>
                <a:ext uri="{FF2B5EF4-FFF2-40B4-BE49-F238E27FC236}">
                  <a16:creationId xmlns:a16="http://schemas.microsoft.com/office/drawing/2014/main" id="{4F546FB9-4714-E20C-D19D-6B5715EBBE5B}"/>
                </a:ext>
              </a:extLst>
            </p:cNvPr>
            <p:cNvSpPr/>
            <p:nvPr/>
          </p:nvSpPr>
          <p:spPr>
            <a:xfrm>
              <a:off x="5012609" y="2554781"/>
              <a:ext cx="551083" cy="551083"/>
            </a:xfrm>
            <a:prstGeom prst="ellipse">
              <a:avLst/>
            </a:prstGeom>
            <a:solidFill>
              <a:srgbClr val="1E3A5F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000D9F"/>
                </a:solidFill>
              </a:endParaRPr>
            </a:p>
          </p:txBody>
        </p:sp>
        <p:pic>
          <p:nvPicPr>
            <p:cNvPr id="67" name="Picture 7">
              <a:extLst>
                <a:ext uri="{FF2B5EF4-FFF2-40B4-BE49-F238E27FC236}">
                  <a16:creationId xmlns:a16="http://schemas.microsoft.com/office/drawing/2014/main" id="{FA7B9494-922C-80FD-D00E-2E624166E7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5964" t="26552" r="29954" b="38392"/>
            <a:stretch/>
          </p:blipFill>
          <p:spPr>
            <a:xfrm>
              <a:off x="4949501" y="2571368"/>
              <a:ext cx="598630" cy="476063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AAD5C95-E5A2-3C0B-05BF-A997DC36B9AC}"/>
              </a:ext>
            </a:extLst>
          </p:cNvPr>
          <p:cNvSpPr txBox="1"/>
          <p:nvPr/>
        </p:nvSpPr>
        <p:spPr>
          <a:xfrm>
            <a:off x="5884996" y="241136"/>
            <a:ext cx="55652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b="1" dirty="0">
                <a:solidFill>
                  <a:srgbClr val="1E3A5F"/>
                </a:solidFill>
                <a:latin typeface="Avenir Book" panose="02000503020000020003" pitchFamily="2" charset="0"/>
              </a:rPr>
              <a:t>Цифровые проекты </a:t>
            </a:r>
            <a:r>
              <a:rPr lang="en-GB" sz="2800" b="1" dirty="0">
                <a:solidFill>
                  <a:srgbClr val="D97706"/>
                </a:solidFill>
                <a:latin typeface="Avenir Book" panose="02000503020000020003" pitchFamily="2" charset="0"/>
              </a:rPr>
              <a:t>уже поддерживают</a:t>
            </a:r>
            <a:r>
              <a:rPr lang="en-GB" sz="2800" b="1" dirty="0">
                <a:solidFill>
                  <a:srgbClr val="111827"/>
                </a:solidFill>
                <a:latin typeface="Avenir Book" panose="02000503020000020003" pitchFamily="2" charset="0"/>
              </a:rPr>
              <a:t> </a:t>
            </a:r>
            <a:r>
              <a:rPr lang="en-GB" sz="2800" b="1" dirty="0">
                <a:solidFill>
                  <a:srgbClr val="1E3A5F"/>
                </a:solidFill>
                <a:latin typeface="Avenir Book" panose="02000503020000020003" pitchFamily="2" charset="0"/>
              </a:rPr>
              <a:t>фундамент, необходимый для ИИ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98DD949B-FAB0-AD4B-C75B-5BBD7FD467C1}"/>
              </a:ext>
            </a:extLst>
          </p:cNvPr>
          <p:cNvGrpSpPr/>
          <p:nvPr/>
        </p:nvGrpSpPr>
        <p:grpSpPr>
          <a:xfrm>
            <a:off x="947519" y="2002668"/>
            <a:ext cx="636004" cy="569818"/>
            <a:chOff x="291328" y="2224396"/>
            <a:chExt cx="636004" cy="56981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18E3045-992B-4C13-B3EC-579479807E1E}"/>
                </a:ext>
              </a:extLst>
            </p:cNvPr>
            <p:cNvSpPr/>
            <p:nvPr/>
          </p:nvSpPr>
          <p:spPr>
            <a:xfrm>
              <a:off x="291328" y="2224396"/>
              <a:ext cx="636004" cy="569818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boto Condensed"/>
                <a:ea typeface="+mn-ea"/>
                <a:cs typeface="Roboto Condensed"/>
              </a:endParaRPr>
            </a:p>
          </p:txBody>
        </p:sp>
        <p:pic>
          <p:nvPicPr>
            <p:cNvPr id="7" name="Graphic 4" descr="High voltage with solid fill">
              <a:extLst>
                <a:ext uri="{FF2B5EF4-FFF2-40B4-BE49-F238E27FC236}">
                  <a16:creationId xmlns:a16="http://schemas.microsoft.com/office/drawing/2014/main" id="{63298306-116D-6C44-04D3-C3F4522D459B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9463" y="2283545"/>
              <a:ext cx="400110" cy="400110"/>
            </a:xfrm>
            <a:prstGeom prst="rect">
              <a:avLst/>
            </a:prstGeom>
          </p:spPr>
        </p:pic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2199AD34-FF55-A7C6-A4E3-2C264DAF562F}"/>
              </a:ext>
            </a:extLst>
          </p:cNvPr>
          <p:cNvGrpSpPr/>
          <p:nvPr/>
        </p:nvGrpSpPr>
        <p:grpSpPr>
          <a:xfrm>
            <a:off x="1691042" y="2002668"/>
            <a:ext cx="636004" cy="569818"/>
            <a:chOff x="290093" y="3044756"/>
            <a:chExt cx="636004" cy="569818"/>
          </a:xfrm>
        </p:grpSpPr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B7DE3CF6-9274-EEA1-542E-E3C16303AB3A}"/>
                </a:ext>
              </a:extLst>
            </p:cNvPr>
            <p:cNvSpPr/>
            <p:nvPr/>
          </p:nvSpPr>
          <p:spPr>
            <a:xfrm>
              <a:off x="290093" y="3044756"/>
              <a:ext cx="636004" cy="569818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boto Condensed"/>
                <a:ea typeface="+mn-ea"/>
                <a:cs typeface="Roboto Condensed"/>
              </a:endParaRPr>
            </a:p>
          </p:txBody>
        </p:sp>
        <p:pic>
          <p:nvPicPr>
            <p:cNvPr id="15" name="Graphic 5" descr="Upload with solid fill">
              <a:extLst>
                <a:ext uri="{FF2B5EF4-FFF2-40B4-BE49-F238E27FC236}">
                  <a16:creationId xmlns:a16="http://schemas.microsoft.com/office/drawing/2014/main" id="{6924596C-C7DE-6B54-C34F-1704B8B282D2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0532" y="3073573"/>
              <a:ext cx="445556" cy="445556"/>
            </a:xfrm>
            <a:prstGeom prst="rect">
              <a:avLst/>
            </a:prstGeom>
          </p:spPr>
        </p:pic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37C86727-3FA6-3C73-5218-2E1D4B63A887}"/>
              </a:ext>
            </a:extLst>
          </p:cNvPr>
          <p:cNvGrpSpPr/>
          <p:nvPr/>
        </p:nvGrpSpPr>
        <p:grpSpPr>
          <a:xfrm>
            <a:off x="2430086" y="2002668"/>
            <a:ext cx="636005" cy="569818"/>
            <a:chOff x="290092" y="3893933"/>
            <a:chExt cx="636005" cy="569818"/>
          </a:xfrm>
        </p:grpSpPr>
        <p:sp>
          <p:nvSpPr>
            <p:cNvPr id="17" name="Rectangle 3">
              <a:extLst>
                <a:ext uri="{FF2B5EF4-FFF2-40B4-BE49-F238E27FC236}">
                  <a16:creationId xmlns:a16="http://schemas.microsoft.com/office/drawing/2014/main" id="{CCE64035-8122-E082-68CD-81CEAA78641A}"/>
                </a:ext>
              </a:extLst>
            </p:cNvPr>
            <p:cNvSpPr/>
            <p:nvPr/>
          </p:nvSpPr>
          <p:spPr>
            <a:xfrm>
              <a:off x="290092" y="3893933"/>
              <a:ext cx="636005" cy="569818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boto Condensed"/>
                <a:ea typeface="+mn-ea"/>
                <a:cs typeface="Roboto Condensed"/>
              </a:endParaRPr>
            </a:p>
          </p:txBody>
        </p:sp>
        <p:pic>
          <p:nvPicPr>
            <p:cNvPr id="18" name="Graphic 6" descr="Server with solid fill">
              <a:extLst>
                <a:ext uri="{FF2B5EF4-FFF2-40B4-BE49-F238E27FC236}">
                  <a16:creationId xmlns:a16="http://schemas.microsoft.com/office/drawing/2014/main" id="{0992F397-6AEB-6B13-D5A2-0112C85B0085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2422" y="3967250"/>
              <a:ext cx="424127" cy="424127"/>
            </a:xfrm>
            <a:prstGeom prst="rect">
              <a:avLst/>
            </a:prstGeom>
          </p:spPr>
        </p:pic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13176AA4-495B-DD9D-FB04-83E0DBD1979F}"/>
              </a:ext>
            </a:extLst>
          </p:cNvPr>
          <p:cNvGrpSpPr/>
          <p:nvPr/>
        </p:nvGrpSpPr>
        <p:grpSpPr>
          <a:xfrm>
            <a:off x="1617713" y="5129836"/>
            <a:ext cx="636005" cy="569818"/>
            <a:chOff x="290092" y="3893933"/>
            <a:chExt cx="636005" cy="569818"/>
          </a:xfrm>
        </p:grpSpPr>
        <p:sp>
          <p:nvSpPr>
            <p:cNvPr id="20" name="Rectangle 3">
              <a:extLst>
                <a:ext uri="{FF2B5EF4-FFF2-40B4-BE49-F238E27FC236}">
                  <a16:creationId xmlns:a16="http://schemas.microsoft.com/office/drawing/2014/main" id="{47F35ACF-3F69-1402-C86E-92FD922E06D2}"/>
                </a:ext>
              </a:extLst>
            </p:cNvPr>
            <p:cNvSpPr/>
            <p:nvPr/>
          </p:nvSpPr>
          <p:spPr>
            <a:xfrm>
              <a:off x="290092" y="3893933"/>
              <a:ext cx="636005" cy="569818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boto Condensed"/>
                <a:ea typeface="+mn-ea"/>
                <a:cs typeface="Roboto Condensed"/>
              </a:endParaRPr>
            </a:p>
          </p:txBody>
        </p:sp>
        <p:pic>
          <p:nvPicPr>
            <p:cNvPr id="21" name="Graphic 6" descr="Server with solid fill">
              <a:extLst>
                <a:ext uri="{FF2B5EF4-FFF2-40B4-BE49-F238E27FC236}">
                  <a16:creationId xmlns:a16="http://schemas.microsoft.com/office/drawing/2014/main" id="{72388DC2-4957-1961-4496-1D22E5F486F3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2422" y="3967250"/>
              <a:ext cx="424127" cy="424127"/>
            </a:xfrm>
            <a:prstGeom prst="rect">
              <a:avLst/>
            </a:prstGeom>
          </p:spPr>
        </p:pic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9AD86A2F-E490-BA8D-0285-D55184BF24A2}"/>
              </a:ext>
            </a:extLst>
          </p:cNvPr>
          <p:cNvGrpSpPr/>
          <p:nvPr/>
        </p:nvGrpSpPr>
        <p:grpSpPr>
          <a:xfrm>
            <a:off x="876422" y="5129836"/>
            <a:ext cx="636005" cy="569818"/>
            <a:chOff x="290092" y="4744053"/>
            <a:chExt cx="636005" cy="569818"/>
          </a:xfrm>
        </p:grpSpPr>
        <p:sp>
          <p:nvSpPr>
            <p:cNvPr id="23" name="Rectangle 3">
              <a:extLst>
                <a:ext uri="{FF2B5EF4-FFF2-40B4-BE49-F238E27FC236}">
                  <a16:creationId xmlns:a16="http://schemas.microsoft.com/office/drawing/2014/main" id="{82C3305E-B7DD-89FB-AF1B-2AA84C40CD38}"/>
                </a:ext>
              </a:extLst>
            </p:cNvPr>
            <p:cNvSpPr/>
            <p:nvPr/>
          </p:nvSpPr>
          <p:spPr>
            <a:xfrm>
              <a:off x="290092" y="4744053"/>
              <a:ext cx="636005" cy="569818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boto Condensed"/>
                <a:ea typeface="+mn-ea"/>
                <a:cs typeface="Roboto Condensed"/>
              </a:endParaRPr>
            </a:p>
          </p:txBody>
        </p:sp>
        <p:pic>
          <p:nvPicPr>
            <p:cNvPr id="25" name="Graphic 7" descr="Selfie with solid fill">
              <a:extLst>
                <a:ext uri="{FF2B5EF4-FFF2-40B4-BE49-F238E27FC236}">
                  <a16:creationId xmlns:a16="http://schemas.microsoft.com/office/drawing/2014/main" id="{4068E3EC-6E3A-94D0-E562-3200C908DC70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4166" y="4816898"/>
              <a:ext cx="424127" cy="424127"/>
            </a:xfrm>
            <a:prstGeom prst="rect">
              <a:avLst/>
            </a:prstGeom>
          </p:spPr>
        </p:pic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37468520-E95D-6383-E366-2DD45601FCC2}"/>
              </a:ext>
            </a:extLst>
          </p:cNvPr>
          <p:cNvGrpSpPr/>
          <p:nvPr/>
        </p:nvGrpSpPr>
        <p:grpSpPr>
          <a:xfrm>
            <a:off x="8382578" y="3728098"/>
            <a:ext cx="636004" cy="569818"/>
            <a:chOff x="291328" y="2224396"/>
            <a:chExt cx="636004" cy="569818"/>
          </a:xfrm>
        </p:grpSpPr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30C95EB4-28A5-17F4-0EC3-A28C73AC5FD4}"/>
                </a:ext>
              </a:extLst>
            </p:cNvPr>
            <p:cNvSpPr/>
            <p:nvPr/>
          </p:nvSpPr>
          <p:spPr>
            <a:xfrm>
              <a:off x="291328" y="2224396"/>
              <a:ext cx="636004" cy="569818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boto Condensed"/>
                <a:ea typeface="+mn-ea"/>
                <a:cs typeface="Roboto Condensed"/>
              </a:endParaRPr>
            </a:p>
          </p:txBody>
        </p:sp>
        <p:pic>
          <p:nvPicPr>
            <p:cNvPr id="29" name="Graphic 4" descr="High voltage with solid fill">
              <a:extLst>
                <a:ext uri="{FF2B5EF4-FFF2-40B4-BE49-F238E27FC236}">
                  <a16:creationId xmlns:a16="http://schemas.microsoft.com/office/drawing/2014/main" id="{DEE25F13-5244-87B9-2153-E810770F49BF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9463" y="2283545"/>
              <a:ext cx="400110" cy="400110"/>
            </a:xfrm>
            <a:prstGeom prst="rect">
              <a:avLst/>
            </a:prstGeom>
          </p:spPr>
        </p:pic>
      </p:grp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9C650F8A-C4E2-1E65-04CF-1850E7E3E4C0}"/>
              </a:ext>
            </a:extLst>
          </p:cNvPr>
          <p:cNvGrpSpPr/>
          <p:nvPr/>
        </p:nvGrpSpPr>
        <p:grpSpPr>
          <a:xfrm>
            <a:off x="9121568" y="3704973"/>
            <a:ext cx="636004" cy="569818"/>
            <a:chOff x="290093" y="3044756"/>
            <a:chExt cx="636004" cy="569818"/>
          </a:xfrm>
        </p:grpSpPr>
        <p:sp>
          <p:nvSpPr>
            <p:cNvPr id="35" name="Rectangle 3">
              <a:extLst>
                <a:ext uri="{FF2B5EF4-FFF2-40B4-BE49-F238E27FC236}">
                  <a16:creationId xmlns:a16="http://schemas.microsoft.com/office/drawing/2014/main" id="{B6E26590-3D8E-6B13-C3F7-0C0AF39A5BFE}"/>
                </a:ext>
              </a:extLst>
            </p:cNvPr>
            <p:cNvSpPr/>
            <p:nvPr/>
          </p:nvSpPr>
          <p:spPr>
            <a:xfrm>
              <a:off x="290093" y="3044756"/>
              <a:ext cx="636004" cy="569818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boto Condensed"/>
                <a:ea typeface="+mn-ea"/>
                <a:cs typeface="Roboto Condensed"/>
              </a:endParaRPr>
            </a:p>
          </p:txBody>
        </p:sp>
        <p:pic>
          <p:nvPicPr>
            <p:cNvPr id="36" name="Graphic 5" descr="Upload with solid fill">
              <a:extLst>
                <a:ext uri="{FF2B5EF4-FFF2-40B4-BE49-F238E27FC236}">
                  <a16:creationId xmlns:a16="http://schemas.microsoft.com/office/drawing/2014/main" id="{EC59A870-5B7D-0528-2B3F-EB87D218E46D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0532" y="3073573"/>
              <a:ext cx="445556" cy="445556"/>
            </a:xfrm>
            <a:prstGeom prst="rect">
              <a:avLst/>
            </a:prstGeom>
          </p:spPr>
        </p:pic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A77E6475-B2CB-EE68-7466-52732B4568F6}"/>
              </a:ext>
            </a:extLst>
          </p:cNvPr>
          <p:cNvGrpSpPr/>
          <p:nvPr/>
        </p:nvGrpSpPr>
        <p:grpSpPr>
          <a:xfrm>
            <a:off x="8284545" y="5562179"/>
            <a:ext cx="636004" cy="569818"/>
            <a:chOff x="290093" y="3044756"/>
            <a:chExt cx="636004" cy="569818"/>
          </a:xfrm>
        </p:grpSpPr>
        <p:sp>
          <p:nvSpPr>
            <p:cNvPr id="42" name="Rectangle 3">
              <a:extLst>
                <a:ext uri="{FF2B5EF4-FFF2-40B4-BE49-F238E27FC236}">
                  <a16:creationId xmlns:a16="http://schemas.microsoft.com/office/drawing/2014/main" id="{61ED2593-87B3-3FF8-285D-5388F0C990DF}"/>
                </a:ext>
              </a:extLst>
            </p:cNvPr>
            <p:cNvSpPr/>
            <p:nvPr/>
          </p:nvSpPr>
          <p:spPr>
            <a:xfrm>
              <a:off x="290093" y="3044756"/>
              <a:ext cx="636004" cy="569818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boto Condensed"/>
                <a:ea typeface="+mn-ea"/>
                <a:cs typeface="Roboto Condensed"/>
              </a:endParaRPr>
            </a:p>
          </p:txBody>
        </p:sp>
        <p:pic>
          <p:nvPicPr>
            <p:cNvPr id="43" name="Graphic 5" descr="Upload with solid fill">
              <a:extLst>
                <a:ext uri="{FF2B5EF4-FFF2-40B4-BE49-F238E27FC236}">
                  <a16:creationId xmlns:a16="http://schemas.microsoft.com/office/drawing/2014/main" id="{730DDFBF-47DB-5934-07AB-291B95468EA4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0532" y="3073573"/>
              <a:ext cx="445556" cy="445556"/>
            </a:xfrm>
            <a:prstGeom prst="rect">
              <a:avLst/>
            </a:prstGeom>
          </p:spPr>
        </p:pic>
      </p:grp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3B9517D9-76CC-4120-F45D-C6A52EF7803A}"/>
              </a:ext>
            </a:extLst>
          </p:cNvPr>
          <p:cNvGrpSpPr/>
          <p:nvPr/>
        </p:nvGrpSpPr>
        <p:grpSpPr>
          <a:xfrm>
            <a:off x="9000988" y="5562179"/>
            <a:ext cx="636005" cy="569818"/>
            <a:chOff x="290092" y="3893933"/>
            <a:chExt cx="636005" cy="569818"/>
          </a:xfrm>
        </p:grpSpPr>
        <p:sp>
          <p:nvSpPr>
            <p:cNvPr id="45" name="Rectangle 3">
              <a:extLst>
                <a:ext uri="{FF2B5EF4-FFF2-40B4-BE49-F238E27FC236}">
                  <a16:creationId xmlns:a16="http://schemas.microsoft.com/office/drawing/2014/main" id="{69D60C0F-C556-A332-BB05-A4C92BA32104}"/>
                </a:ext>
              </a:extLst>
            </p:cNvPr>
            <p:cNvSpPr/>
            <p:nvPr/>
          </p:nvSpPr>
          <p:spPr>
            <a:xfrm>
              <a:off x="290092" y="3893933"/>
              <a:ext cx="636005" cy="569818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boto Condensed"/>
                <a:ea typeface="+mn-ea"/>
                <a:cs typeface="Roboto Condensed"/>
              </a:endParaRPr>
            </a:p>
          </p:txBody>
        </p:sp>
        <p:pic>
          <p:nvPicPr>
            <p:cNvPr id="46" name="Graphic 6" descr="Server with solid fill">
              <a:extLst>
                <a:ext uri="{FF2B5EF4-FFF2-40B4-BE49-F238E27FC236}">
                  <a16:creationId xmlns:a16="http://schemas.microsoft.com/office/drawing/2014/main" id="{1497CB10-A4A2-D925-5CDC-8D60D0C97DBF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2422" y="3967250"/>
              <a:ext cx="424127" cy="424127"/>
            </a:xfrm>
            <a:prstGeom prst="rect">
              <a:avLst/>
            </a:prstGeom>
          </p:spPr>
        </p:pic>
      </p:grp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3BF681D2-F5F6-BF35-8BBB-966EB5425351}"/>
              </a:ext>
            </a:extLst>
          </p:cNvPr>
          <p:cNvGrpSpPr/>
          <p:nvPr/>
        </p:nvGrpSpPr>
        <p:grpSpPr>
          <a:xfrm>
            <a:off x="9717432" y="5556983"/>
            <a:ext cx="636005" cy="569818"/>
            <a:chOff x="290092" y="4744053"/>
            <a:chExt cx="636005" cy="569818"/>
          </a:xfrm>
        </p:grpSpPr>
        <p:sp>
          <p:nvSpPr>
            <p:cNvPr id="52" name="Rectangle 3">
              <a:extLst>
                <a:ext uri="{FF2B5EF4-FFF2-40B4-BE49-F238E27FC236}">
                  <a16:creationId xmlns:a16="http://schemas.microsoft.com/office/drawing/2014/main" id="{34CDB0AB-4070-48B6-57F0-839331D8FACD}"/>
                </a:ext>
              </a:extLst>
            </p:cNvPr>
            <p:cNvSpPr/>
            <p:nvPr/>
          </p:nvSpPr>
          <p:spPr>
            <a:xfrm>
              <a:off x="290092" y="4744053"/>
              <a:ext cx="636005" cy="569818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boto Condensed"/>
                <a:ea typeface="+mn-ea"/>
                <a:cs typeface="Roboto Condensed"/>
              </a:endParaRPr>
            </a:p>
          </p:txBody>
        </p:sp>
        <p:pic>
          <p:nvPicPr>
            <p:cNvPr id="53" name="Graphic 7" descr="Selfie with solid fill">
              <a:extLst>
                <a:ext uri="{FF2B5EF4-FFF2-40B4-BE49-F238E27FC236}">
                  <a16:creationId xmlns:a16="http://schemas.microsoft.com/office/drawing/2014/main" id="{BDA87E26-C08E-4E18-DAE0-64C67851320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4166" y="4816898"/>
              <a:ext cx="424127" cy="4241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68786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"/>
                            </p:stCondLst>
                            <p:childTnLst>
                              <p:par>
                                <p:cTn id="6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0"/>
                            </p:stCondLst>
                            <p:childTnLst>
                              <p:par>
                                <p:cTn id="6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5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6000"/>
                            </p:stCondLst>
                            <p:childTnLst>
                              <p:par>
                                <p:cTn id="7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6500"/>
                            </p:stCondLst>
                            <p:childTnLst>
                              <p:par>
                                <p:cTn id="8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000"/>
                            </p:stCondLst>
                            <p:childTnLst>
                              <p:par>
                                <p:cTn id="9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7500"/>
                            </p:stCondLst>
                            <p:childTnLst>
                              <p:par>
                                <p:cTn id="9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000"/>
                            </p:stCondLst>
                            <p:childTnLst>
                              <p:par>
                                <p:cTn id="10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8500"/>
                            </p:stCondLst>
                            <p:childTnLst>
                              <p:par>
                                <p:cTn id="10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EFC29494-CE2D-0083-68A5-43664DEDC635}"/>
              </a:ext>
            </a:extLst>
          </p:cNvPr>
          <p:cNvSpPr/>
          <p:nvPr/>
        </p:nvSpPr>
        <p:spPr>
          <a:xfrm>
            <a:off x="819035" y="2228603"/>
            <a:ext cx="7067713" cy="2689761"/>
          </a:xfrm>
          <a:prstGeom prst="roundRect">
            <a:avLst>
              <a:gd name="adj" fmla="val 24924"/>
            </a:avLst>
          </a:prstGeom>
          <a:solidFill>
            <a:schemeClr val="tx1">
              <a:lumMod val="65000"/>
              <a:lumOff val="35000"/>
              <a:alpha val="930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819035" y="2961466"/>
            <a:ext cx="5822203" cy="99620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113" algn="ctr">
              <a:spcBef>
                <a:spcPts val="88"/>
              </a:spcBef>
              <a:tabLst>
                <a:tab pos="2354263" algn="l"/>
              </a:tabLst>
            </a:pPr>
            <a:r>
              <a:rPr lang="en-GB" sz="3200" b="1" spc="-150">
                <a:solidFill>
                  <a:srgbClr val="0070C0"/>
                </a:solidFill>
                <a:latin typeface="Century Gothic" panose="020B0502020202020204" pitchFamily="34" charset="0"/>
                <a:ea typeface="Grantha Sangam MN" pitchFamily="2" charset="0"/>
                <a:cs typeface="Grantha Sangam MN" pitchFamily="2" charset="0"/>
              </a:rPr>
              <a:t>УЗБЕКИСТАН </a:t>
            </a:r>
            <a:br>
              <a:rPr lang="en-GB" sz="3200" b="1" spc="-150">
                <a:solidFill>
                  <a:srgbClr val="0070C0"/>
                </a:solidFill>
                <a:latin typeface="Century Gothic" panose="020B0502020202020204" pitchFamily="34" charset="0"/>
                <a:ea typeface="Grantha Sangam MN" pitchFamily="2" charset="0"/>
                <a:cs typeface="Grantha Sangam MN" pitchFamily="2" charset="0"/>
              </a:rPr>
            </a:br>
            <a:r>
              <a:rPr lang="en-GB" sz="3200" b="1" spc="-150">
                <a:solidFill>
                  <a:srgbClr val="00B050"/>
                </a:solidFill>
                <a:latin typeface="Century Gothic" panose="020B0502020202020204" pitchFamily="34" charset="0"/>
                <a:ea typeface="Grantha Sangam MN" pitchFamily="2" charset="0"/>
                <a:cs typeface="Grantha Sangam MN" pitchFamily="2" charset="0"/>
              </a:rPr>
              <a:t>#DIGITAL_INCLUSION </a:t>
            </a:r>
            <a:r>
              <a:rPr lang="en-GB" sz="3200" b="1" spc="-150">
                <a:solidFill>
                  <a:srgbClr val="0070C0"/>
                </a:solidFill>
                <a:latin typeface="Century Gothic" panose="020B0502020202020204" pitchFamily="34" charset="0"/>
                <a:ea typeface="Grantha Sangam MN" pitchFamily="2" charset="0"/>
                <a:cs typeface="Grantha Sangam MN" pitchFamily="2" charset="0"/>
              </a:rPr>
              <a:t>ПРОЕКТ </a:t>
            </a:r>
            <a:endParaRPr lang="en-GB" sz="3200" spc="-150">
              <a:solidFill>
                <a:srgbClr val="00B050"/>
              </a:solidFill>
              <a:latin typeface="Century Gothic" panose="020B0502020202020204" pitchFamily="34" charset="0"/>
              <a:ea typeface="Grantha Sangam MN" pitchFamily="2" charset="0"/>
              <a:cs typeface="Grantha Sangam MN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E94CBB-CBCF-96DF-32BE-ACF5EFB4CAD3}"/>
              </a:ext>
            </a:extLst>
          </p:cNvPr>
          <p:cNvSpPr txBox="1"/>
          <p:nvPr/>
        </p:nvSpPr>
        <p:spPr>
          <a:xfrm>
            <a:off x="401991" y="2329948"/>
            <a:ext cx="6656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06867"/>
            <a:r>
              <a:rPr lang="en-GB" sz="1200" kern="0">
                <a:latin typeface="Century Gothic" panose="020B0502020202020204" pitchFamily="34" charset="0"/>
              </a:rPr>
              <a:t>Всемирный банк (World Bank) P179108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0E5BEA-8BB9-121F-59A1-345A160ECF23}"/>
              </a:ext>
            </a:extLst>
          </p:cNvPr>
          <p:cNvSpPr txBox="1"/>
          <p:nvPr/>
        </p:nvSpPr>
        <p:spPr>
          <a:xfrm>
            <a:off x="2385513" y="4268738"/>
            <a:ext cx="29452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>
                <a:latin typeface="Century Gothic" panose="020B0502020202020204" pitchFamily="34" charset="0"/>
              </a:rPr>
              <a:t>МАР (IDA) 50 млн долл. | 2024–2030 </a:t>
            </a:r>
            <a:endParaRPr lang="ru-RU" sz="160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FF2EF0AB-07BD-D874-9C46-4E2975ACCA3A}"/>
              </a:ext>
            </a:extLst>
          </p:cNvPr>
          <p:cNvGrpSpPr/>
          <p:nvPr/>
        </p:nvGrpSpPr>
        <p:grpSpPr>
          <a:xfrm>
            <a:off x="6979623" y="236076"/>
            <a:ext cx="4947206" cy="6385848"/>
            <a:chOff x="7037793" y="96429"/>
            <a:chExt cx="5036594" cy="6519553"/>
          </a:xfrm>
        </p:grpSpPr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EA076A4D-BA74-CD3E-25D8-9C129A654F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037793" y="96429"/>
              <a:ext cx="5036594" cy="6519553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8" name="Picture 2" descr="Digital Government">
              <a:extLst>
                <a:ext uri="{FF2B5EF4-FFF2-40B4-BE49-F238E27FC236}">
                  <a16:creationId xmlns:a16="http://schemas.microsoft.com/office/drawing/2014/main" id="{A053D1AC-2248-DDDF-A0FF-231708FB03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9739" y="396579"/>
              <a:ext cx="1156388" cy="2675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6">
              <a:extLst>
                <a:ext uri="{FF2B5EF4-FFF2-40B4-BE49-F238E27FC236}">
                  <a16:creationId xmlns:a16="http://schemas.microsoft.com/office/drawing/2014/main" id="{22E69C6F-92F4-2C0E-FA74-9EE215B0F3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95321" y="340578"/>
              <a:ext cx="1149927" cy="3795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0">
              <a:extLst>
                <a:ext uri="{FF2B5EF4-FFF2-40B4-BE49-F238E27FC236}">
                  <a16:creationId xmlns:a16="http://schemas.microsoft.com/office/drawing/2014/main" id="{3A5013AD-0581-AC41-5DEF-BBF45CFC19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9811" y="373414"/>
              <a:ext cx="1600734" cy="3138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D7E06771-BE6A-7FD7-87F7-2F3E4E847F02}"/>
              </a:ext>
            </a:extLst>
          </p:cNvPr>
          <p:cNvSpPr txBox="1"/>
          <p:nvPr/>
        </p:nvSpPr>
        <p:spPr>
          <a:xfrm rot="21254138">
            <a:off x="6304380" y="6121631"/>
            <a:ext cx="34166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>
                <a:solidFill>
                  <a:schemeClr val="bg1"/>
                </a:solidFill>
                <a:latin typeface="Century Gothic" panose="020B0502020202020204" pitchFamily="34" charset="0"/>
              </a:rPr>
              <a:t>#</a:t>
            </a:r>
            <a:r>
              <a:rPr lang="en-US" sz="1600" err="1">
                <a:solidFill>
                  <a:schemeClr val="bg1"/>
                </a:solidFill>
                <a:latin typeface="Century Gothic" panose="020B0502020202020204" pitchFamily="34" charset="0"/>
              </a:rPr>
              <a:t>Digital_Inclusion</a:t>
            </a:r>
            <a:endParaRPr lang="ru-RU" sz="160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568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16CB504-7B8D-C41F-512A-5E1E321938A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497" y="262233"/>
            <a:ext cx="684584" cy="684584"/>
          </a:xfrm>
          <a:prstGeom prst="rect">
            <a:avLst/>
          </a:prstGeom>
        </p:spPr>
      </p:pic>
      <p:sp>
        <p:nvSpPr>
          <p:cNvPr id="38" name="Title 1">
            <a:extLst>
              <a:ext uri="{FF2B5EF4-FFF2-40B4-BE49-F238E27FC236}">
                <a16:creationId xmlns:a16="http://schemas.microsoft.com/office/drawing/2014/main" id="{7486AA36-043D-CED8-3ECF-718EBBB49D3C}"/>
              </a:ext>
            </a:extLst>
          </p:cNvPr>
          <p:cNvSpPr txBox="1">
            <a:spLocks/>
          </p:cNvSpPr>
          <p:nvPr/>
        </p:nvSpPr>
        <p:spPr>
          <a:xfrm>
            <a:off x="193871" y="262424"/>
            <a:ext cx="11685640" cy="815955"/>
          </a:xfrm>
          <a:prstGeom prst="rect">
            <a:avLst/>
          </a:prstGeom>
        </p:spPr>
        <p:txBody>
          <a:bodyPr lIns="96012" tIns="48006" rIns="96012" bIns="48006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500" b="1">
                <a:solidFill>
                  <a:srgbClr val="006AB6"/>
                </a:solidFill>
                <a:latin typeface="Century Gothic"/>
                <a:ea typeface="Tw Cen MT Condensed Extra Bold" charset="0"/>
                <a:cs typeface="Tw Cen MT Condensed Extra Bold" charset="0"/>
              </a:rPr>
              <a:t>У Узбекистана </a:t>
            </a:r>
            <a:r>
              <a:rPr lang="en-GB" sz="3000" b="1">
                <a:solidFill>
                  <a:srgbClr val="006AB6"/>
                </a:solidFill>
                <a:latin typeface="Century Gothic"/>
                <a:ea typeface="Tw Cen MT Condensed Extra Bold" charset="0"/>
                <a:cs typeface="Tw Cen MT Condensed Extra Bold" charset="0"/>
              </a:rPr>
              <a:t>— </a:t>
            </a:r>
            <a:r>
              <a:rPr lang="en-GB" sz="3000" b="1">
                <a:solidFill>
                  <a:srgbClr val="00B050"/>
                </a:solidFill>
                <a:latin typeface="Century Gothic"/>
                <a:ea typeface="Tw Cen MT Condensed Extra Bold" charset="0"/>
                <a:cs typeface="Tw Cen MT Condensed Extra Bold" charset="0"/>
              </a:rPr>
              <a:t>САМОЕ БОЛЬШОЕ И САМОЕ МОЛОДОЕ НАСЕЛЕНИЕ</a:t>
            </a:r>
            <a:r>
              <a:rPr lang="en-GB" sz="3000" b="1">
                <a:solidFill>
                  <a:srgbClr val="006AB6"/>
                </a:solidFill>
                <a:latin typeface="Century Gothic"/>
                <a:ea typeface="Tw Cen MT Condensed Extra Bold" charset="0"/>
                <a:cs typeface="Tw Cen MT Condensed Extra Bold" charset="0"/>
              </a:rPr>
              <a:t> </a:t>
            </a:r>
          </a:p>
          <a:p>
            <a:r>
              <a:rPr lang="en-GB" sz="3000" b="1">
                <a:solidFill>
                  <a:srgbClr val="006AB6"/>
                </a:solidFill>
                <a:latin typeface="Century Gothic"/>
                <a:ea typeface="Tw Cen MT Condensed Extra Bold" charset="0"/>
                <a:cs typeface="Tw Cen MT Condensed Extra Bold" charset="0"/>
              </a:rPr>
              <a:t>и впечатляющий рост в ИТ-сфере </a:t>
            </a:r>
          </a:p>
        </p:txBody>
      </p:sp>
      <p:sp>
        <p:nvSpPr>
          <p:cNvPr id="53" name="CuadroTexto 39">
            <a:extLst>
              <a:ext uri="{FF2B5EF4-FFF2-40B4-BE49-F238E27FC236}">
                <a16:creationId xmlns:a16="http://schemas.microsoft.com/office/drawing/2014/main" id="{1BED60AD-6343-91DE-E8B1-3461BFE60890}"/>
              </a:ext>
            </a:extLst>
          </p:cNvPr>
          <p:cNvSpPr txBox="1"/>
          <p:nvPr/>
        </p:nvSpPr>
        <p:spPr>
          <a:xfrm>
            <a:off x="7753442" y="5916246"/>
            <a:ext cx="4236072" cy="412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r">
              <a:spcBef>
                <a:spcPts val="120"/>
              </a:spcBef>
            </a:pPr>
            <a:r>
              <a:rPr lang="en-US" sz="1000" spc="-3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Источники: Всемирный банк, МСЭ (ITU), </a:t>
            </a:r>
            <a:r>
              <a:rPr lang="en-US" sz="1000" spc="-3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TeleGeography</a:t>
            </a:r>
            <a:r>
              <a:rPr lang="en-US" sz="1000" spc="-3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 </a:t>
            </a:r>
          </a:p>
          <a:p>
            <a:pPr marL="12700" algn="r">
              <a:spcBef>
                <a:spcPts val="120"/>
              </a:spcBef>
            </a:pPr>
            <a:r>
              <a:rPr lang="en-US" sz="1000" spc="-3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Государственный комитет Республики Узбекистан по статистике,  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AFA422B-D643-F234-5467-35725E1684D3}"/>
              </a:ext>
            </a:extLst>
          </p:cNvPr>
          <p:cNvGrpSpPr/>
          <p:nvPr/>
        </p:nvGrpSpPr>
        <p:grpSpPr>
          <a:xfrm>
            <a:off x="6588154" y="2286405"/>
            <a:ext cx="4339584" cy="2254048"/>
            <a:chOff x="687503" y="2484427"/>
            <a:chExt cx="4339584" cy="225404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6ED9482-D82E-4651-E096-C1738BC5DCEC}"/>
                </a:ext>
              </a:extLst>
            </p:cNvPr>
            <p:cNvSpPr txBox="1"/>
            <p:nvPr/>
          </p:nvSpPr>
          <p:spPr>
            <a:xfrm>
              <a:off x="687503" y="2555389"/>
              <a:ext cx="136780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>
                  <a:solidFill>
                    <a:srgbClr val="000000"/>
                  </a:solidFill>
                  <a:latin typeface="Century Gothic" panose="020B0502020202020204" pitchFamily="34" charset="0"/>
                </a:rPr>
                <a:t>34%</a:t>
              </a:r>
              <a:endParaRPr lang="ru-RU" sz="4000" b="1">
                <a:solidFill>
                  <a:srgbClr val="000000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5DD4A4F-8950-EE89-F4E6-AD162D04919B}"/>
                </a:ext>
              </a:extLst>
            </p:cNvPr>
            <p:cNvSpPr txBox="1"/>
            <p:nvPr/>
          </p:nvSpPr>
          <p:spPr>
            <a:xfrm>
              <a:off x="2060714" y="2484427"/>
              <a:ext cx="2825261" cy="156966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GB" sz="1600" b="1" dirty="0" err="1">
                  <a:latin typeface="Century Gothic"/>
                </a:rPr>
                <a:t>Не</a:t>
              </a:r>
              <a:r>
                <a:rPr lang="en-GB" sz="1600" b="1" dirty="0">
                  <a:latin typeface="Century Gothic"/>
                </a:rPr>
                <a:t> </a:t>
              </a:r>
              <a:r>
                <a:rPr lang="en-GB" sz="1600" b="1" dirty="0" err="1">
                  <a:latin typeface="Century Gothic"/>
                </a:rPr>
                <a:t>заняты</a:t>
              </a:r>
              <a:r>
                <a:rPr lang="en-GB" sz="1600" b="1" dirty="0">
                  <a:latin typeface="Century Gothic"/>
                </a:rPr>
                <a:t>: </a:t>
              </a:r>
              <a:r>
                <a:rPr lang="en-GB" sz="1600" dirty="0" err="1">
                  <a:latin typeface="Century Gothic"/>
                </a:rPr>
                <a:t>людей</a:t>
              </a:r>
              <a:r>
                <a:rPr lang="en-GB" sz="1600" dirty="0">
                  <a:latin typeface="Century Gothic"/>
                </a:rPr>
                <a:t> </a:t>
              </a:r>
              <a:r>
                <a:rPr lang="en-GB" sz="1600" dirty="0" err="1">
                  <a:latin typeface="Century Gothic"/>
                </a:rPr>
                <a:t>трудоспособного</a:t>
              </a:r>
              <a:r>
                <a:rPr lang="en-GB" sz="1600" dirty="0">
                  <a:latin typeface="Century Gothic"/>
                </a:rPr>
                <a:t> </a:t>
              </a:r>
              <a:r>
                <a:rPr lang="en-GB" sz="1600" dirty="0" err="1">
                  <a:latin typeface="Century Gothic"/>
                </a:rPr>
                <a:t>возраста</a:t>
              </a:r>
              <a:r>
                <a:rPr lang="en-GB" sz="1600" dirty="0">
                  <a:latin typeface="Century Gothic"/>
                </a:rPr>
                <a:t> </a:t>
              </a:r>
              <a:r>
                <a:rPr lang="en-GB" sz="1600" dirty="0" err="1">
                  <a:latin typeface="Century Gothic"/>
                </a:rPr>
                <a:t>не</a:t>
              </a:r>
              <a:r>
                <a:rPr lang="en-GB" sz="1600" dirty="0">
                  <a:latin typeface="Century Gothic"/>
                </a:rPr>
                <a:t> </a:t>
              </a:r>
              <a:r>
                <a:rPr lang="en-GB" sz="1600" dirty="0" err="1">
                  <a:latin typeface="Century Gothic"/>
                </a:rPr>
                <a:t>участвуют</a:t>
              </a:r>
              <a:r>
                <a:rPr lang="en-GB" sz="1600" dirty="0">
                  <a:latin typeface="Century Gothic"/>
                </a:rPr>
                <a:t> в </a:t>
              </a:r>
              <a:r>
                <a:rPr lang="en-GB" sz="1600" dirty="0" err="1">
                  <a:latin typeface="Century Gothic"/>
                </a:rPr>
                <a:t>производительных</a:t>
              </a:r>
              <a:r>
                <a:rPr lang="en-GB" sz="1600" dirty="0">
                  <a:latin typeface="Century Gothic"/>
                </a:rPr>
                <a:t> </a:t>
              </a:r>
              <a:r>
                <a:rPr lang="en-GB" sz="1600" dirty="0" err="1">
                  <a:latin typeface="Century Gothic"/>
                </a:rPr>
                <a:t>отраслях</a:t>
              </a:r>
              <a:endParaRPr lang="ru-RU" sz="1600" dirty="0">
                <a:latin typeface="Century Gothic"/>
              </a:endParaRPr>
            </a:p>
            <a:p>
              <a:endParaRPr lang="en-GB" sz="1600" dirty="0">
                <a:latin typeface="Century Gothic" panose="020B0502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0C824FC-FD7E-AB4D-F3EF-7586DD9B7E74}"/>
                </a:ext>
              </a:extLst>
            </p:cNvPr>
            <p:cNvSpPr txBox="1"/>
            <p:nvPr/>
          </p:nvSpPr>
          <p:spPr>
            <a:xfrm>
              <a:off x="717287" y="3874168"/>
              <a:ext cx="1367800" cy="70788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4000" b="1" dirty="0">
                  <a:latin typeface="Century Gothic"/>
                </a:rPr>
                <a:t>3</a:t>
              </a:r>
              <a:r>
                <a:rPr lang="ru-RU" sz="4000" b="1" dirty="0">
                  <a:latin typeface="Century Gothic"/>
                </a:rPr>
                <a:t>8</a:t>
              </a:r>
              <a:r>
                <a:rPr lang="en-US" sz="4000" b="1" dirty="0">
                  <a:latin typeface="Century Gothic"/>
                </a:rPr>
                <a:t>%</a:t>
              </a:r>
              <a:endParaRPr lang="ru-RU" sz="4000" b="1" dirty="0">
                <a:latin typeface="Century Gothic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D3F70F5-D6EC-00CD-4AEE-37149075C524}"/>
                </a:ext>
              </a:extLst>
            </p:cNvPr>
            <p:cNvSpPr txBox="1"/>
            <p:nvPr/>
          </p:nvSpPr>
          <p:spPr>
            <a:xfrm>
              <a:off x="2060713" y="3661257"/>
              <a:ext cx="2966374" cy="107721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GB" sz="1600" b="1" dirty="0" err="1">
                  <a:latin typeface="Century Gothic"/>
                </a:rPr>
                <a:t>Гендерный</a:t>
              </a:r>
              <a:r>
                <a:rPr lang="en-GB" sz="1600" b="1" dirty="0">
                  <a:latin typeface="Century Gothic"/>
                </a:rPr>
                <a:t> </a:t>
              </a:r>
              <a:r>
                <a:rPr lang="en-GB" sz="1600" b="1" dirty="0" err="1">
                  <a:latin typeface="Century Gothic"/>
                </a:rPr>
                <a:t>разрыв</a:t>
              </a:r>
              <a:r>
                <a:rPr lang="en-GB" sz="1600" b="1" dirty="0">
                  <a:latin typeface="Century Gothic"/>
                </a:rPr>
                <a:t>: </a:t>
              </a:r>
              <a:r>
                <a:rPr lang="en-GB" sz="1600" dirty="0" err="1">
                  <a:latin typeface="Century Gothic"/>
                </a:rPr>
                <a:t>девушек</a:t>
              </a:r>
              <a:r>
                <a:rPr lang="en-GB" sz="1600" dirty="0">
                  <a:latin typeface="Century Gothic"/>
                </a:rPr>
                <a:t> </a:t>
              </a:r>
              <a:r>
                <a:rPr lang="en-GB" sz="1600" dirty="0" err="1">
                  <a:latin typeface="Century Gothic"/>
                </a:rPr>
                <a:t>не</a:t>
              </a:r>
              <a:r>
                <a:rPr lang="en-GB" sz="1600" dirty="0">
                  <a:latin typeface="Century Gothic"/>
                </a:rPr>
                <a:t> </a:t>
              </a:r>
              <a:r>
                <a:rPr lang="en-GB" sz="1600" dirty="0" err="1">
                  <a:latin typeface="Century Gothic"/>
                </a:rPr>
                <a:t>учатся</a:t>
              </a:r>
              <a:r>
                <a:rPr lang="en-GB" sz="1600" dirty="0">
                  <a:latin typeface="Century Gothic"/>
                </a:rPr>
                <a:t> и </a:t>
              </a:r>
              <a:r>
                <a:rPr lang="en-GB" sz="1600" dirty="0" err="1">
                  <a:latin typeface="Century Gothic"/>
                </a:rPr>
                <a:t>не</a:t>
              </a:r>
              <a:r>
                <a:rPr lang="en-GB" sz="1600" dirty="0">
                  <a:latin typeface="Century Gothic"/>
                </a:rPr>
                <a:t> </a:t>
              </a:r>
              <a:r>
                <a:rPr lang="en-GB" sz="1600" dirty="0" err="1">
                  <a:latin typeface="Century Gothic"/>
                </a:rPr>
                <a:t>проходят</a:t>
              </a:r>
              <a:r>
                <a:rPr lang="en-GB" sz="1600" dirty="0">
                  <a:latin typeface="Century Gothic"/>
                </a:rPr>
                <a:t> </a:t>
              </a:r>
              <a:r>
                <a:rPr lang="en-GB" sz="1600" dirty="0" err="1">
                  <a:latin typeface="Century Gothic"/>
                </a:rPr>
                <a:t>обучение</a:t>
              </a:r>
              <a:r>
                <a:rPr lang="en-GB" sz="1600" dirty="0">
                  <a:latin typeface="Century Gothic"/>
                </a:rPr>
                <a:t> — </a:t>
              </a:r>
              <a:r>
                <a:rPr lang="en-GB" sz="1600" dirty="0" err="1">
                  <a:latin typeface="Century Gothic"/>
                </a:rPr>
                <a:t>против</a:t>
              </a:r>
              <a:r>
                <a:rPr lang="en-GB" sz="1600" dirty="0">
                  <a:latin typeface="Century Gothic"/>
                </a:rPr>
                <a:t> 24% </a:t>
              </a:r>
              <a:r>
                <a:rPr lang="en-GB" sz="1600" dirty="0" err="1">
                  <a:latin typeface="Century Gothic"/>
                </a:rPr>
                <a:t>среди</a:t>
              </a:r>
              <a:r>
                <a:rPr lang="en-GB" sz="1600" dirty="0">
                  <a:latin typeface="Century Gothic"/>
                </a:rPr>
                <a:t> </a:t>
              </a:r>
              <a:r>
                <a:rPr lang="en-GB" sz="1600" dirty="0" err="1">
                  <a:latin typeface="Century Gothic"/>
                </a:rPr>
                <a:t>юношей</a:t>
              </a:r>
              <a:endParaRPr lang="en-GB" sz="1600" dirty="0">
                <a:latin typeface="Century Gothic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528963B-6CBD-1FF6-A0B5-0A7BD4165358}"/>
              </a:ext>
            </a:extLst>
          </p:cNvPr>
          <p:cNvSpPr txBox="1"/>
          <p:nvPr/>
        </p:nvSpPr>
        <p:spPr>
          <a:xfrm>
            <a:off x="766737" y="3569397"/>
            <a:ext cx="137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solidFill>
                  <a:srgbClr val="0070C0"/>
                </a:solidFill>
                <a:latin typeface="Century Gothic" panose="020B0502020202020204" pitchFamily="34" charset="0"/>
              </a:rPr>
              <a:t>2x</a:t>
            </a:r>
            <a:endParaRPr lang="ru-RU" sz="4000" b="1">
              <a:solidFill>
                <a:srgbClr val="0070C0"/>
              </a:solidFill>
              <a:latin typeface="Century Gothic" panose="020B0502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572DDD-A550-BB2C-E8E7-F2C116AAE13C}"/>
              </a:ext>
            </a:extLst>
          </p:cNvPr>
          <p:cNvSpPr txBox="1"/>
          <p:nvPr/>
        </p:nvSpPr>
        <p:spPr>
          <a:xfrm>
            <a:off x="2244297" y="3491537"/>
            <a:ext cx="3416817" cy="8771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700">
                <a:solidFill>
                  <a:srgbClr val="0070C0"/>
                </a:solidFill>
                <a:latin typeface="Century Gothic"/>
              </a:rPr>
              <a:t>Самый высокий рост занятости в ИКТ </a:t>
            </a:r>
            <a:r>
              <a:rPr lang="en-GB" sz="1700">
                <a:latin typeface="Century Gothic"/>
              </a:rPr>
              <a:t>за последние 5 лет в Центральной Азии</a:t>
            </a:r>
            <a:endParaRPr lang="en-GB" sz="1700">
              <a:solidFill>
                <a:srgbClr val="00B050"/>
              </a:solidFill>
              <a:latin typeface="Century Gothic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D472D7-5806-C34B-A4DD-0F6AA7180BDE}"/>
              </a:ext>
            </a:extLst>
          </p:cNvPr>
          <p:cNvSpPr txBox="1"/>
          <p:nvPr/>
        </p:nvSpPr>
        <p:spPr>
          <a:xfrm>
            <a:off x="766738" y="2392567"/>
            <a:ext cx="137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solidFill>
                  <a:srgbClr val="0070C0"/>
                </a:solidFill>
                <a:latin typeface="Century Gothic" panose="020B0502020202020204" pitchFamily="34" charset="0"/>
              </a:rPr>
              <a:t>4,3x</a:t>
            </a:r>
            <a:endParaRPr lang="ru-RU" sz="4000" b="1">
              <a:solidFill>
                <a:srgbClr val="0070C0"/>
              </a:solidFill>
              <a:latin typeface="Century Gothic" panose="020B0502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72A816-3F64-0F95-EAA1-F546562093D7}"/>
              </a:ext>
            </a:extLst>
          </p:cNvPr>
          <p:cNvSpPr txBox="1"/>
          <p:nvPr/>
        </p:nvSpPr>
        <p:spPr>
          <a:xfrm>
            <a:off x="2244298" y="2392567"/>
            <a:ext cx="3783089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700">
                <a:solidFill>
                  <a:srgbClr val="0070C0"/>
                </a:solidFill>
                <a:latin typeface="Century Gothic"/>
              </a:rPr>
              <a:t>Самый высокий рост зарплат в ИКТ </a:t>
            </a:r>
            <a:r>
              <a:rPr lang="en-GB" sz="1700">
                <a:latin typeface="Century Gothic"/>
              </a:rPr>
              <a:t>за последние 5 лет в Центральной Азии </a:t>
            </a:r>
          </a:p>
        </p:txBody>
      </p:sp>
      <p:cxnSp>
        <p:nvCxnSpPr>
          <p:cNvPr id="29" name="Прямая соединительная линия 13">
            <a:extLst>
              <a:ext uri="{FF2B5EF4-FFF2-40B4-BE49-F238E27FC236}">
                <a16:creationId xmlns:a16="http://schemas.microsoft.com/office/drawing/2014/main" id="{32DAB905-D6C8-CA5F-3302-91CDA280A0FC}"/>
              </a:ext>
            </a:extLst>
          </p:cNvPr>
          <p:cNvCxnSpPr>
            <a:cxnSpLocks/>
          </p:cNvCxnSpPr>
          <p:nvPr/>
        </p:nvCxnSpPr>
        <p:spPr>
          <a:xfrm>
            <a:off x="6320639" y="2390196"/>
            <a:ext cx="0" cy="2975203"/>
          </a:xfrm>
          <a:prstGeom prst="line">
            <a:avLst/>
          </a:prstGeom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C353521-603F-5813-1A30-EC3E9BA5ACF8}"/>
              </a:ext>
            </a:extLst>
          </p:cNvPr>
          <p:cNvSpPr txBox="1"/>
          <p:nvPr/>
        </p:nvSpPr>
        <p:spPr>
          <a:xfrm>
            <a:off x="5115759" y="6330235"/>
            <a:ext cx="68682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r">
              <a:spcBef>
                <a:spcPts val="120"/>
              </a:spcBef>
            </a:pPr>
            <a:r>
              <a:rPr lang="en-US" sz="1000" spc="-3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Verdana" panose="020B0604030504040204" pitchFamily="34" charset="0"/>
              </a:rPr>
              <a:t>Источники: </a:t>
            </a:r>
            <a:r>
              <a:rPr lang="en-GB" sz="1000" spc="-3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Verdana" panose="020B0604030504040204" pitchFamily="34" charset="0"/>
              </a:rPr>
              <a:t>Jobs in the Digital Transition</a:t>
            </a:r>
            <a:r>
              <a:rPr lang="en-US" sz="1000" spc="-3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Verdana" panose="020B0604030504040204" pitchFamily="34" charset="0"/>
              </a:rPr>
              <a:t> — доклад о рабочих местах в Центральной Азии, Всемирный банк, 2025</a:t>
            </a:r>
          </a:p>
        </p:txBody>
      </p:sp>
    </p:spTree>
    <p:extLst>
      <p:ext uri="{BB962C8B-B14F-4D97-AF65-F5344CB8AC3E}">
        <p14:creationId xmlns:p14="http://schemas.microsoft.com/office/powerpoint/2010/main" val="2656569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32138B7-EA97-FDD2-6A03-4E080F0A87BF}"/>
              </a:ext>
            </a:extLst>
          </p:cNvPr>
          <p:cNvSpPr txBox="1">
            <a:spLocks/>
          </p:cNvSpPr>
          <p:nvPr/>
        </p:nvSpPr>
        <p:spPr>
          <a:xfrm>
            <a:off x="286105" y="429430"/>
            <a:ext cx="9412699" cy="815955"/>
          </a:xfrm>
          <a:prstGeom prst="rect">
            <a:avLst/>
          </a:prstGeom>
        </p:spPr>
        <p:txBody>
          <a:bodyPr lIns="96012" tIns="48006" rIns="96012" bIns="48006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500" b="1">
                <a:solidFill>
                  <a:srgbClr val="006AB6"/>
                </a:solidFill>
                <a:latin typeface="Century Gothic"/>
                <a:ea typeface="Tw Cen MT Condensed Extra Bold" charset="0"/>
                <a:cs typeface="Tw Cen MT Condensed Extra Bold" charset="0"/>
              </a:rPr>
              <a:t>СПРОС НА ЦИФРОВЫЕ РАБОЧИЕ МЕСТА СТРЕМИТЕЛЬНО РАСТЁТ, </a:t>
            </a:r>
            <a:r>
              <a:rPr lang="en-US" sz="3500" b="1">
                <a:solidFill>
                  <a:srgbClr val="006AB6"/>
                </a:solidFill>
                <a:latin typeface="Century Gothic"/>
                <a:ea typeface="Tw Cen MT Condensed Extra Bold" charset="0"/>
                <a:cs typeface="Tw Cen MT Condensed Extra Bold" charset="0"/>
              </a:rPr>
              <a:t>НО</a:t>
            </a:r>
            <a:r>
              <a:rPr lang="en-GB" sz="3500" b="1">
                <a:solidFill>
                  <a:srgbClr val="006AB6"/>
                </a:solidFill>
                <a:latin typeface="Century Gothic"/>
                <a:ea typeface="Tw Cen MT Condensed Extra Bold" charset="0"/>
                <a:cs typeface="Tw Cen MT Condensed Extra Bold" charset="0"/>
              </a:rPr>
              <a:t> </a:t>
            </a:r>
            <a:r>
              <a:rPr lang="en-GB" sz="3500" b="1">
                <a:solidFill>
                  <a:srgbClr val="00B050"/>
                </a:solidFill>
                <a:latin typeface="Century Gothic"/>
                <a:ea typeface="Tw Cen MT Condensed Extra Bold" charset="0"/>
                <a:cs typeface="Tw Cen MT Condensed Extra Bold" charset="0"/>
              </a:rPr>
              <a:t>НАВЫКИ ЗА НИМ НЕ ПОСПЕВАЮТ</a:t>
            </a:r>
          </a:p>
        </p:txBody>
      </p:sp>
      <p:pic>
        <p:nvPicPr>
          <p:cNvPr id="4" name="Рисунок 2">
            <a:extLst>
              <a:ext uri="{FF2B5EF4-FFF2-40B4-BE49-F238E27FC236}">
                <a16:creationId xmlns:a16="http://schemas.microsoft.com/office/drawing/2014/main" id="{FE818E12-AD61-DD67-D9C6-3DCC89C56D1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21310" y="121432"/>
            <a:ext cx="684584" cy="68458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906267A-B46F-EBD9-3A0B-61ABEDF3BA3B}"/>
              </a:ext>
            </a:extLst>
          </p:cNvPr>
          <p:cNvSpPr txBox="1"/>
          <p:nvPr/>
        </p:nvSpPr>
        <p:spPr>
          <a:xfrm>
            <a:off x="830714" y="4440251"/>
            <a:ext cx="1991411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600">
                <a:solidFill>
                  <a:srgbClr val="0070C0"/>
                </a:solidFill>
                <a:latin typeface="Century Gothic"/>
              </a:rPr>
              <a:t>Вакансии вне сферы ИКТ, требующие цифровых навыков</a:t>
            </a:r>
            <a:r>
              <a:rPr lang="en-GB" sz="1600">
                <a:latin typeface="Century Gothic"/>
              </a:rPr>
              <a:t>, в Узбекистане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1FE8897-A8DD-1C9A-1EAF-CC311C5B7A6B}"/>
              </a:ext>
            </a:extLst>
          </p:cNvPr>
          <p:cNvSpPr/>
          <p:nvPr/>
        </p:nvSpPr>
        <p:spPr>
          <a:xfrm>
            <a:off x="902732" y="1946507"/>
            <a:ext cx="1122831" cy="2395745"/>
          </a:xfrm>
          <a:prstGeom prst="rect">
            <a:avLst/>
          </a:prstGeom>
          <a:solidFill>
            <a:srgbClr val="0070C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87F5DE-629C-91A9-2D38-D36C45C0432F}"/>
              </a:ext>
            </a:extLst>
          </p:cNvPr>
          <p:cNvSpPr txBox="1"/>
          <p:nvPr/>
        </p:nvSpPr>
        <p:spPr>
          <a:xfrm>
            <a:off x="321147" y="2104694"/>
            <a:ext cx="2285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solidFill>
                  <a:srgbClr val="F8FBFD"/>
                </a:solidFill>
                <a:latin typeface="Century Gothic" panose="020B0502020202020204" pitchFamily="34" charset="0"/>
              </a:rPr>
              <a:t>73%</a:t>
            </a:r>
            <a:endParaRPr lang="ru-RU" sz="4000">
              <a:solidFill>
                <a:srgbClr val="F8FBFD"/>
              </a:solidFill>
              <a:latin typeface="Century Gothic" panose="020B0502020202020204" pitchFamily="34" charset="0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07DDA0B8-2E83-2F8D-3FB9-75FE6226975E}"/>
              </a:ext>
            </a:extLst>
          </p:cNvPr>
          <p:cNvSpPr/>
          <p:nvPr/>
        </p:nvSpPr>
        <p:spPr>
          <a:xfrm>
            <a:off x="2709586" y="3061075"/>
            <a:ext cx="1122831" cy="1240635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E4A15B9-4393-785A-3A79-3F354C99D94F}"/>
              </a:ext>
            </a:extLst>
          </p:cNvPr>
          <p:cNvSpPr txBox="1"/>
          <p:nvPr/>
        </p:nvSpPr>
        <p:spPr>
          <a:xfrm>
            <a:off x="2128001" y="3061075"/>
            <a:ext cx="2285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>
                <a:solidFill>
                  <a:srgbClr val="F8FBFD"/>
                </a:solidFill>
                <a:latin typeface="Century Gothic" panose="020B0502020202020204" pitchFamily="34" charset="0"/>
              </a:rPr>
              <a:t>36</a:t>
            </a:r>
            <a:r>
              <a:rPr lang="en-US" sz="4000">
                <a:solidFill>
                  <a:srgbClr val="F8FBFD"/>
                </a:solidFill>
                <a:latin typeface="Century Gothic" panose="020B0502020202020204" pitchFamily="34" charset="0"/>
              </a:rPr>
              <a:t>%</a:t>
            </a:r>
            <a:endParaRPr lang="ru-RU" sz="4000">
              <a:solidFill>
                <a:srgbClr val="F8FBFD"/>
              </a:solidFill>
              <a:latin typeface="Century Gothic" panose="020B0502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EBAE39-D78D-5407-032D-81B016A2D0CF}"/>
              </a:ext>
            </a:extLst>
          </p:cNvPr>
          <p:cNvSpPr txBox="1"/>
          <p:nvPr/>
        </p:nvSpPr>
        <p:spPr>
          <a:xfrm>
            <a:off x="2709586" y="4440251"/>
            <a:ext cx="21499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>
                <a:solidFill>
                  <a:srgbClr val="0070C0"/>
                </a:solidFill>
                <a:latin typeface="Century Gothic" panose="020B0502020202020204" pitchFamily="34" charset="0"/>
              </a:rPr>
              <a:t>Работников</a:t>
            </a:r>
            <a:r>
              <a:rPr lang="en-GB" sz="1600">
                <a:latin typeface="Century Gothic" panose="020B0502020202020204" pitchFamily="34" charset="0"/>
              </a:rPr>
              <a:t> </a:t>
            </a:r>
            <a:r>
              <a:rPr lang="en-GB" sz="1600">
                <a:solidFill>
                  <a:srgbClr val="0070C0"/>
                </a:solidFill>
                <a:latin typeface="Century Gothic" panose="020B0502020202020204" pitchFamily="34" charset="0"/>
              </a:rPr>
              <a:t>со средним </a:t>
            </a:r>
            <a:r>
              <a:rPr lang="en-GB" sz="1600">
                <a:latin typeface="Century Gothic" panose="020B0502020202020204" pitchFamily="34" charset="0"/>
              </a:rPr>
              <a:t>или продвинутым уровнем цифровых навыков</a:t>
            </a:r>
            <a:r>
              <a:rPr lang="ru-RU" sz="1600">
                <a:latin typeface="Century Gothic" panose="020B0502020202020204" pitchFamily="34" charset="0"/>
              </a:rPr>
              <a:t> </a:t>
            </a:r>
            <a:r>
              <a:rPr lang="en-GB" sz="1600">
                <a:latin typeface="Century Gothic" panose="020B0502020202020204" pitchFamily="34" charset="0"/>
              </a:rPr>
              <a:t>в Узбекистане</a:t>
            </a:r>
          </a:p>
        </p:txBody>
      </p:sp>
      <p:sp>
        <p:nvSpPr>
          <p:cNvPr id="16" name="CuadroTexto 39">
            <a:extLst>
              <a:ext uri="{FF2B5EF4-FFF2-40B4-BE49-F238E27FC236}">
                <a16:creationId xmlns:a16="http://schemas.microsoft.com/office/drawing/2014/main" id="{7A0F6050-A9E9-855A-6541-E867B1AD077D}"/>
              </a:ext>
            </a:extLst>
          </p:cNvPr>
          <p:cNvSpPr txBox="1"/>
          <p:nvPr/>
        </p:nvSpPr>
        <p:spPr>
          <a:xfrm>
            <a:off x="-348219" y="6428570"/>
            <a:ext cx="59107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r">
              <a:spcBef>
                <a:spcPts val="120"/>
              </a:spcBef>
            </a:pPr>
            <a:r>
              <a:rPr lang="en-US" sz="1000" spc="-30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Источники</a:t>
            </a:r>
            <a:r>
              <a:rPr lang="en-US" sz="1000" spc="-3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</a:t>
            </a:r>
            <a:r>
              <a:rPr lang="en-GB" sz="1000" spc="-3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Jobs in the Digital Transition</a:t>
            </a:r>
            <a:r>
              <a:rPr lang="en-US" sz="1000" spc="-3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— </a:t>
            </a:r>
            <a:r>
              <a:rPr lang="en-US" sz="1000" spc="-30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доклад</a:t>
            </a:r>
            <a:r>
              <a:rPr lang="en-US" sz="1000" spc="-3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о </a:t>
            </a:r>
            <a:r>
              <a:rPr lang="en-US" sz="1000" spc="-30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рабочих</a:t>
            </a:r>
            <a:r>
              <a:rPr lang="en-US" sz="1000" spc="-3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000" spc="-30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местах</a:t>
            </a:r>
            <a:r>
              <a:rPr lang="en-US" sz="1000" spc="-3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в </a:t>
            </a:r>
            <a:r>
              <a:rPr lang="en-US" sz="1000" spc="-30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Центральной</a:t>
            </a:r>
            <a:r>
              <a:rPr lang="en-US" sz="1000" spc="-3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000" spc="-30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Азии</a:t>
            </a:r>
            <a:r>
              <a:rPr lang="en-US" sz="1000" spc="-3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1000" spc="-30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Всемирный</a:t>
            </a:r>
            <a:r>
              <a:rPr lang="en-US" sz="1000" spc="-3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000" spc="-30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банк</a:t>
            </a:r>
            <a:r>
              <a:rPr lang="en-US" sz="1000" spc="-3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2025</a:t>
            </a:r>
          </a:p>
        </p:txBody>
      </p:sp>
      <p:sp>
        <p:nvSpPr>
          <p:cNvPr id="6" name="Скругленный прямоугольник 14">
            <a:extLst>
              <a:ext uri="{FF2B5EF4-FFF2-40B4-BE49-F238E27FC236}">
                <a16:creationId xmlns:a16="http://schemas.microsoft.com/office/drawing/2014/main" id="{418E394D-2DBF-1B8C-C529-B3C975F0B4EF}"/>
              </a:ext>
            </a:extLst>
          </p:cNvPr>
          <p:cNvSpPr/>
          <p:nvPr/>
        </p:nvSpPr>
        <p:spPr>
          <a:xfrm>
            <a:off x="5403147" y="2230427"/>
            <a:ext cx="6502747" cy="1350925"/>
          </a:xfrm>
          <a:prstGeom prst="roundRect">
            <a:avLst/>
          </a:prstGeom>
          <a:solidFill>
            <a:schemeClr val="bg2">
              <a:lumMod val="50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932A8A-CC82-12C6-6873-BFA901BD3DE2}"/>
              </a:ext>
            </a:extLst>
          </p:cNvPr>
          <p:cNvSpPr txBox="1"/>
          <p:nvPr/>
        </p:nvSpPr>
        <p:spPr>
          <a:xfrm>
            <a:off x="9529031" y="2245467"/>
            <a:ext cx="204825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00B050"/>
                </a:solidFill>
                <a:latin typeface="Century Gothic" panose="020B0502020202020204" pitchFamily="34" charset="0"/>
              </a:rPr>
              <a:t>2 </a:t>
            </a:r>
            <a:r>
              <a:rPr lang="en-GB" sz="1400" b="1" dirty="0" err="1">
                <a:solidFill>
                  <a:srgbClr val="00B050"/>
                </a:solidFill>
                <a:latin typeface="Century Gothic" panose="020B0502020202020204" pitchFamily="34" charset="0"/>
              </a:rPr>
              <a:t>млрд</a:t>
            </a:r>
            <a:r>
              <a:rPr lang="en-GB" sz="1400" b="1" dirty="0">
                <a:solidFill>
                  <a:srgbClr val="00B050"/>
                </a:solidFill>
                <a:latin typeface="Century Gothic" panose="020B0502020202020204" pitchFamily="34" charset="0"/>
              </a:rPr>
              <a:t> </a:t>
            </a:r>
            <a:r>
              <a:rPr lang="en-GB" sz="1400" b="1" dirty="0" err="1">
                <a:solidFill>
                  <a:srgbClr val="00B050"/>
                </a:solidFill>
                <a:latin typeface="Century Gothic" panose="020B0502020202020204" pitchFamily="34" charset="0"/>
              </a:rPr>
              <a:t>долл</a:t>
            </a:r>
            <a:r>
              <a:rPr lang="en-GB" sz="1400" b="1" dirty="0">
                <a:solidFill>
                  <a:srgbClr val="00B050"/>
                </a:solidFill>
                <a:latin typeface="Century Gothic" panose="020B0502020202020204" pitchFamily="34" charset="0"/>
              </a:rPr>
              <a:t>. США </a:t>
            </a:r>
            <a:r>
              <a:rPr lang="en-GB" sz="1400" b="1" dirty="0" err="1">
                <a:solidFill>
                  <a:srgbClr val="00B050"/>
                </a:solidFill>
                <a:latin typeface="Century Gothic" panose="020B0502020202020204" pitchFamily="34" charset="0"/>
              </a:rPr>
              <a:t>инвестировано</a:t>
            </a:r>
            <a:r>
              <a:rPr lang="en-GB" sz="1400" b="1" dirty="0">
                <a:solidFill>
                  <a:srgbClr val="00B050"/>
                </a:solidFill>
                <a:latin typeface="Century Gothic" panose="020B0502020202020204" pitchFamily="34" charset="0"/>
              </a:rPr>
              <a:t> 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в ИКТ (2018–2023), в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том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числе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 700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млн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долл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.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прямых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иностранных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инвестиций</a:t>
            </a:r>
            <a:endParaRPr lang="en-GB" sz="1200" dirty="0">
              <a:solidFill>
                <a:srgbClr val="0070C0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Стрелка вверх 21">
            <a:extLst>
              <a:ext uri="{FF2B5EF4-FFF2-40B4-BE49-F238E27FC236}">
                <a16:creationId xmlns:a16="http://schemas.microsoft.com/office/drawing/2014/main" id="{F334B4F2-8F1E-3F05-7C7C-06B06F45695B}"/>
              </a:ext>
            </a:extLst>
          </p:cNvPr>
          <p:cNvSpPr/>
          <p:nvPr/>
        </p:nvSpPr>
        <p:spPr>
          <a:xfrm>
            <a:off x="8869531" y="2423998"/>
            <a:ext cx="694481" cy="902825"/>
          </a:xfrm>
          <a:prstGeom prst="up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7250BF-3E57-4EF6-FF79-7EBF7E70085A}"/>
              </a:ext>
            </a:extLst>
          </p:cNvPr>
          <p:cNvSpPr txBox="1"/>
          <p:nvPr/>
        </p:nvSpPr>
        <p:spPr>
          <a:xfrm>
            <a:off x="6384974" y="2299569"/>
            <a:ext cx="204905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00B050"/>
                </a:solidFill>
                <a:latin typeface="Century Gothic" panose="020B0502020202020204" pitchFamily="34" charset="0"/>
              </a:rPr>
              <a:t>Рост экспорта </a:t>
            </a:r>
            <a:r>
              <a:rPr lang="en-GB" sz="1200" b="1" dirty="0">
                <a:solidFill>
                  <a:srgbClr val="00B050"/>
                </a:solidFill>
                <a:latin typeface="Century Gothic" panose="020B0502020202020204" pitchFamily="34" charset="0"/>
              </a:rPr>
              <a:t>ИТ-услуг 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с 0,6 млн долл. в 2017 г. до 130 млн долл. в 2022 г. и 1 млрд долл. в 2025 г.; сейчас цель — 5 млрд долл. </a:t>
            </a:r>
            <a:endParaRPr lang="en-GB" sz="1200" dirty="0">
              <a:solidFill>
                <a:srgbClr val="0070C0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Стрелка вверх 24">
            <a:extLst>
              <a:ext uri="{FF2B5EF4-FFF2-40B4-BE49-F238E27FC236}">
                <a16:creationId xmlns:a16="http://schemas.microsoft.com/office/drawing/2014/main" id="{24089443-7997-48A0-6344-3FF6E4ABE5EF}"/>
              </a:ext>
            </a:extLst>
          </p:cNvPr>
          <p:cNvSpPr/>
          <p:nvPr/>
        </p:nvSpPr>
        <p:spPr>
          <a:xfrm>
            <a:off x="5596115" y="2425757"/>
            <a:ext cx="694481" cy="902825"/>
          </a:xfrm>
          <a:prstGeom prst="up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кругленный прямоугольник 15">
            <a:extLst>
              <a:ext uri="{FF2B5EF4-FFF2-40B4-BE49-F238E27FC236}">
                <a16:creationId xmlns:a16="http://schemas.microsoft.com/office/drawing/2014/main" id="{B5B92B5E-976A-A6F3-3111-C3D1B73FA9BC}"/>
              </a:ext>
            </a:extLst>
          </p:cNvPr>
          <p:cNvSpPr/>
          <p:nvPr/>
        </p:nvSpPr>
        <p:spPr>
          <a:xfrm>
            <a:off x="5403147" y="4168361"/>
            <a:ext cx="6502747" cy="1336944"/>
          </a:xfrm>
          <a:prstGeom prst="roundRect">
            <a:avLst/>
          </a:prstGeom>
          <a:solidFill>
            <a:schemeClr val="bg2">
              <a:lumMod val="50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FE1A0A-C96B-B00A-9D26-6DC417BB09C9}"/>
              </a:ext>
            </a:extLst>
          </p:cNvPr>
          <p:cNvSpPr txBox="1"/>
          <p:nvPr/>
        </p:nvSpPr>
        <p:spPr>
          <a:xfrm>
            <a:off x="6355828" y="4359780"/>
            <a:ext cx="2310500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1400" b="1">
                <a:latin typeface="Century Gothic"/>
                <a:ea typeface="+mn-lt"/>
                <a:cs typeface="+mn-lt"/>
              </a:rPr>
              <a:t>Регионы отстают</a:t>
            </a:r>
            <a:r>
              <a:rPr lang="en-GB" sz="1400">
                <a:latin typeface="Century Gothic"/>
                <a:ea typeface="+mn-lt"/>
                <a:cs typeface="+mn-lt"/>
              </a:rPr>
              <a:t>. </a:t>
            </a:r>
          </a:p>
          <a:p>
            <a:pPr algn="ctr"/>
            <a:r>
              <a:rPr lang="en-GB" sz="1400">
                <a:latin typeface="Century Gothic"/>
                <a:ea typeface="+mn-lt"/>
                <a:cs typeface="+mn-lt"/>
              </a:rPr>
              <a:t>90% рабочих мест и услуг в сфере ИКТ сосредоточены в Ташкенте</a:t>
            </a:r>
            <a:endParaRPr lang="en-GB" sz="1400">
              <a:latin typeface="Century Gothic" panose="020B0502020202020204" pitchFamily="34" charset="0"/>
            </a:endParaRPr>
          </a:p>
        </p:txBody>
      </p:sp>
      <p:sp>
        <p:nvSpPr>
          <p:cNvPr id="13" name="Стрелка вверх 22">
            <a:extLst>
              <a:ext uri="{FF2B5EF4-FFF2-40B4-BE49-F238E27FC236}">
                <a16:creationId xmlns:a16="http://schemas.microsoft.com/office/drawing/2014/main" id="{C9D9B19B-3C38-D732-E77E-DB59B794A28E}"/>
              </a:ext>
            </a:extLst>
          </p:cNvPr>
          <p:cNvSpPr/>
          <p:nvPr/>
        </p:nvSpPr>
        <p:spPr>
          <a:xfrm rot="10800000">
            <a:off x="5638060" y="4385420"/>
            <a:ext cx="694481" cy="902825"/>
          </a:xfrm>
          <a:prstGeom prst="up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трелка вверх 26">
            <a:extLst>
              <a:ext uri="{FF2B5EF4-FFF2-40B4-BE49-F238E27FC236}">
                <a16:creationId xmlns:a16="http://schemas.microsoft.com/office/drawing/2014/main" id="{8A023B98-58BA-BC9E-88B3-F0AB0E51C94F}"/>
              </a:ext>
            </a:extLst>
          </p:cNvPr>
          <p:cNvSpPr/>
          <p:nvPr/>
        </p:nvSpPr>
        <p:spPr>
          <a:xfrm rot="10800000">
            <a:off x="8869530" y="4385420"/>
            <a:ext cx="694481" cy="902825"/>
          </a:xfrm>
          <a:prstGeom prst="up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C8E723-C1B7-FA49-BE32-EA85E1C06FCC}"/>
              </a:ext>
            </a:extLst>
          </p:cNvPr>
          <p:cNvSpPr txBox="1"/>
          <p:nvPr/>
        </p:nvSpPr>
        <p:spPr>
          <a:xfrm>
            <a:off x="9564011" y="4094360"/>
            <a:ext cx="204825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 err="1">
                <a:latin typeface="Century Gothic" panose="020B0502020202020204" pitchFamily="34" charset="0"/>
              </a:rPr>
              <a:t>Гендерные</a:t>
            </a:r>
            <a:r>
              <a:rPr lang="en-GB" sz="1400" b="1" dirty="0">
                <a:latin typeface="Century Gothic" panose="020B0502020202020204" pitchFamily="34" charset="0"/>
              </a:rPr>
              <a:t> </a:t>
            </a:r>
            <a:r>
              <a:rPr lang="en-GB" sz="1400" b="1" dirty="0" err="1">
                <a:latin typeface="Century Gothic" panose="020B0502020202020204" pitchFamily="34" charset="0"/>
              </a:rPr>
              <a:t>разрывы</a:t>
            </a:r>
            <a:r>
              <a:rPr lang="en-GB" sz="1400" b="1" dirty="0">
                <a:latin typeface="Century Gothic" panose="020B0502020202020204" pitchFamily="34" charset="0"/>
              </a:rPr>
              <a:t>: </a:t>
            </a:r>
            <a:r>
              <a:rPr lang="en-GB" sz="1400" dirty="0" err="1">
                <a:latin typeface="Century Gothic" panose="020B0502020202020204" pitchFamily="34" charset="0"/>
              </a:rPr>
              <a:t>женщины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составляют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лишь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b="1" dirty="0">
                <a:latin typeface="Century Gothic" panose="020B0502020202020204" pitchFamily="34" charset="0"/>
              </a:rPr>
              <a:t>11% </a:t>
            </a:r>
            <a:r>
              <a:rPr lang="en-GB" sz="1400" b="1" dirty="0" err="1">
                <a:latin typeface="Century Gothic" panose="020B0502020202020204" pitchFamily="34" charset="0"/>
              </a:rPr>
              <a:t>студентов</a:t>
            </a:r>
            <a:r>
              <a:rPr lang="en-GB" sz="1400" b="1" dirty="0">
                <a:latin typeface="Century Gothic" panose="020B0502020202020204" pitchFamily="34" charset="0"/>
              </a:rPr>
              <a:t> ИТ-</a:t>
            </a:r>
            <a:r>
              <a:rPr lang="en-GB" sz="1400" b="1" dirty="0" err="1">
                <a:latin typeface="Century Gothic" panose="020B0502020202020204" pitchFamily="34" charset="0"/>
              </a:rPr>
              <a:t>специальностей</a:t>
            </a:r>
            <a:r>
              <a:rPr lang="en-GB" sz="1400" b="1" dirty="0">
                <a:latin typeface="Century Gothic" panose="020B0502020202020204" pitchFamily="34" charset="0"/>
              </a:rPr>
              <a:t> </a:t>
            </a:r>
            <a:r>
              <a:rPr lang="en-GB" sz="1400" dirty="0">
                <a:latin typeface="Century Gothic" panose="020B0502020202020204" pitchFamily="34" charset="0"/>
              </a:rPr>
              <a:t>и </a:t>
            </a:r>
            <a:r>
              <a:rPr lang="en-GB" sz="1400" b="1" dirty="0">
                <a:latin typeface="Century Gothic" panose="020B0502020202020204" pitchFamily="34" charset="0"/>
              </a:rPr>
              <a:t>28% </a:t>
            </a:r>
            <a:r>
              <a:rPr lang="en-GB" sz="1400" b="1" dirty="0" err="1">
                <a:latin typeface="Century Gothic" panose="020B0502020202020204" pitchFamily="34" charset="0"/>
              </a:rPr>
              <a:t>занятых</a:t>
            </a:r>
            <a:r>
              <a:rPr lang="en-GB" sz="1400" b="1" dirty="0">
                <a:latin typeface="Century Gothic" panose="020B0502020202020204" pitchFamily="34" charset="0"/>
              </a:rPr>
              <a:t> в ИТ</a:t>
            </a:r>
          </a:p>
        </p:txBody>
      </p:sp>
      <p:sp>
        <p:nvSpPr>
          <p:cNvPr id="19" name="CuadroTexto 39">
            <a:extLst>
              <a:ext uri="{FF2B5EF4-FFF2-40B4-BE49-F238E27FC236}">
                <a16:creationId xmlns:a16="http://schemas.microsoft.com/office/drawing/2014/main" id="{7974193B-BA9B-3D17-9934-1E1F19A81FBE}"/>
              </a:ext>
            </a:extLst>
          </p:cNvPr>
          <p:cNvSpPr txBox="1"/>
          <p:nvPr/>
        </p:nvSpPr>
        <p:spPr>
          <a:xfrm>
            <a:off x="7669822" y="6564876"/>
            <a:ext cx="42360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r">
              <a:spcBef>
                <a:spcPts val="120"/>
              </a:spcBef>
            </a:pPr>
            <a:r>
              <a:rPr lang="en-US" sz="1000" spc="-3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Источники: указы Президента, Всемирный банк  </a:t>
            </a:r>
          </a:p>
        </p:txBody>
      </p:sp>
    </p:spTree>
    <p:extLst>
      <p:ext uri="{BB962C8B-B14F-4D97-AF65-F5344CB8AC3E}">
        <p14:creationId xmlns:p14="http://schemas.microsoft.com/office/powerpoint/2010/main" val="53736106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 animBg="1"/>
      <p:bldP spid="31" grpId="0" animBg="1"/>
      <p:bldP spid="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3BE83088-478B-FED6-BD21-40BBB7116322}"/>
              </a:ext>
            </a:extLst>
          </p:cNvPr>
          <p:cNvSpPr/>
          <p:nvPr/>
        </p:nvSpPr>
        <p:spPr>
          <a:xfrm>
            <a:off x="3269801" y="2350994"/>
            <a:ext cx="8391092" cy="2532824"/>
          </a:xfrm>
          <a:prstGeom prst="roundRect">
            <a:avLst>
              <a:gd name="adj" fmla="val 24924"/>
            </a:avLst>
          </a:prstGeom>
          <a:solidFill>
            <a:schemeClr val="tx1">
              <a:lumMod val="75000"/>
              <a:lumOff val="25000"/>
              <a:alpha val="930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2">
            <a:extLst>
              <a:ext uri="{FF2B5EF4-FFF2-40B4-BE49-F238E27FC236}">
                <a16:creationId xmlns:a16="http://schemas.microsoft.com/office/drawing/2014/main" id="{8A8768FF-7E68-95FB-165E-26ABD0923BA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497" y="262233"/>
            <a:ext cx="684584" cy="684584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99F50477-86D4-3ED3-5F96-AAF9CED7AE3B}"/>
              </a:ext>
            </a:extLst>
          </p:cNvPr>
          <p:cNvSpPr txBox="1"/>
          <p:nvPr/>
        </p:nvSpPr>
        <p:spPr>
          <a:xfrm>
            <a:off x="7214044" y="2481978"/>
            <a:ext cx="5479601" cy="1674440"/>
          </a:xfrm>
          <a:prstGeom prst="rect">
            <a:avLst/>
          </a:prstGeom>
        </p:spPr>
        <p:txBody>
          <a:bodyPr vert="horz" wrap="square" lIns="0" tIns="12326" rIns="0" bIns="0" rtlCol="0" anchor="t">
            <a:spAutoFit/>
          </a:bodyPr>
          <a:lstStyle/>
          <a:p>
            <a:pPr marL="10795" defTabSz="806867">
              <a:spcBef>
                <a:spcPts val="2647"/>
              </a:spcBef>
            </a:pPr>
            <a:r>
              <a:rPr lang="en-US" sz="3600" b="1" kern="0" spc="-35" dirty="0">
                <a:solidFill>
                  <a:srgbClr val="0070C0"/>
                </a:solidFill>
                <a:latin typeface="Century Gothic"/>
                <a:ea typeface="Verdana"/>
                <a:cs typeface="Verdana" panose="020B0604030504040204" pitchFamily="34" charset="0"/>
              </a:rPr>
              <a:t>КАК </a:t>
            </a:r>
            <a:r>
              <a:rPr lang="en-US" sz="3600" b="1" kern="0" spc="-35" dirty="0" err="1">
                <a:solidFill>
                  <a:srgbClr val="0070C0"/>
                </a:solidFill>
                <a:latin typeface="Century Gothic"/>
                <a:ea typeface="Verdana"/>
                <a:cs typeface="Verdana" panose="020B0604030504040204" pitchFamily="34" charset="0"/>
              </a:rPr>
              <a:t>проект</a:t>
            </a:r>
            <a:r>
              <a:rPr lang="en-US" sz="3600" b="1" kern="0" spc="-35" dirty="0">
                <a:solidFill>
                  <a:srgbClr val="0070C0"/>
                </a:solidFill>
                <a:latin typeface="Century Gothic"/>
                <a:ea typeface="Verdana"/>
                <a:cs typeface="Verdana" panose="020B0604030504040204" pitchFamily="34" charset="0"/>
              </a:rPr>
              <a:t> </a:t>
            </a:r>
            <a:r>
              <a:rPr lang="en-US" sz="3600" b="1" kern="0" spc="-35" dirty="0" err="1">
                <a:solidFill>
                  <a:srgbClr val="0070C0"/>
                </a:solidFill>
                <a:latin typeface="Century Gothic"/>
                <a:ea typeface="Verdana"/>
                <a:cs typeface="Verdana" panose="020B0604030504040204" pitchFamily="34" charset="0"/>
              </a:rPr>
              <a:t>Всемирного</a:t>
            </a:r>
            <a:r>
              <a:rPr lang="en-US" sz="3600" b="1" kern="0" spc="-35" dirty="0">
                <a:solidFill>
                  <a:srgbClr val="0070C0"/>
                </a:solidFill>
                <a:latin typeface="Century Gothic"/>
                <a:ea typeface="Verdana"/>
                <a:cs typeface="Verdana" panose="020B0604030504040204" pitchFamily="34" charset="0"/>
              </a:rPr>
              <a:t> </a:t>
            </a:r>
            <a:r>
              <a:rPr lang="en-US" sz="3600" b="1" kern="0" spc="-35" dirty="0" err="1">
                <a:solidFill>
                  <a:srgbClr val="0070C0"/>
                </a:solidFill>
                <a:latin typeface="Century Gothic"/>
                <a:ea typeface="Verdana"/>
                <a:cs typeface="Verdana" panose="020B0604030504040204" pitchFamily="34" charset="0"/>
              </a:rPr>
              <a:t>банка</a:t>
            </a:r>
            <a:r>
              <a:rPr lang="en-US" sz="3600" b="1" kern="0" spc="-35" dirty="0">
                <a:solidFill>
                  <a:srgbClr val="0070C0"/>
                </a:solidFill>
                <a:latin typeface="Century Gothic"/>
                <a:ea typeface="Verdana"/>
                <a:cs typeface="Verdana" panose="020B0604030504040204" pitchFamily="34" charset="0"/>
              </a:rPr>
              <a:t> </a:t>
            </a:r>
            <a:r>
              <a:rPr lang="en-US" sz="3600" b="1" kern="0" spc="-35" dirty="0" err="1">
                <a:solidFill>
                  <a:srgbClr val="0070C0"/>
                </a:solidFill>
                <a:latin typeface="Century Gothic"/>
                <a:ea typeface="Verdana"/>
                <a:cs typeface="Verdana" panose="020B0604030504040204" pitchFamily="34" charset="0"/>
              </a:rPr>
              <a:t>отвечает</a:t>
            </a:r>
            <a:r>
              <a:rPr lang="en-US" sz="3600" b="1" kern="0" spc="-35" dirty="0">
                <a:solidFill>
                  <a:srgbClr val="0070C0"/>
                </a:solidFill>
                <a:latin typeface="Century Gothic"/>
                <a:ea typeface="Verdana"/>
                <a:cs typeface="Verdana" panose="020B0604030504040204" pitchFamily="34" charset="0"/>
              </a:rPr>
              <a:t> </a:t>
            </a:r>
            <a:r>
              <a:rPr lang="en-US" sz="3600" b="1" kern="0" spc="-35" dirty="0" err="1">
                <a:solidFill>
                  <a:srgbClr val="0070C0"/>
                </a:solidFill>
                <a:latin typeface="Century Gothic"/>
                <a:ea typeface="Verdana"/>
                <a:cs typeface="Verdana" panose="020B0604030504040204" pitchFamily="34" charset="0"/>
              </a:rPr>
              <a:t>на</a:t>
            </a:r>
            <a:r>
              <a:rPr lang="en-US" sz="3600" b="1" kern="0" spc="-35" dirty="0">
                <a:solidFill>
                  <a:srgbClr val="0070C0"/>
                </a:solidFill>
                <a:latin typeface="Century Gothic"/>
                <a:ea typeface="Verdana"/>
                <a:cs typeface="Verdana" panose="020B0604030504040204" pitchFamily="34" charset="0"/>
              </a:rPr>
              <a:t> </a:t>
            </a:r>
            <a:r>
              <a:rPr lang="en-US" sz="3600" b="1" kern="0" spc="-35" dirty="0" err="1">
                <a:solidFill>
                  <a:srgbClr val="0070C0"/>
                </a:solidFill>
                <a:latin typeface="Century Gothic"/>
                <a:ea typeface="Verdana"/>
                <a:cs typeface="Verdana" panose="020B0604030504040204" pitchFamily="34" charset="0"/>
              </a:rPr>
              <a:t>эти</a:t>
            </a:r>
            <a:r>
              <a:rPr lang="en-US" sz="3600" b="1" kern="0" spc="-35" dirty="0">
                <a:solidFill>
                  <a:srgbClr val="0070C0"/>
                </a:solidFill>
                <a:latin typeface="Century Gothic"/>
                <a:ea typeface="Verdana"/>
                <a:cs typeface="Verdana" panose="020B0604030504040204" pitchFamily="34" charset="0"/>
              </a:rPr>
              <a:t> </a:t>
            </a:r>
            <a:r>
              <a:rPr lang="en-US" sz="3600" b="1" kern="0" spc="-35" dirty="0" err="1">
                <a:solidFill>
                  <a:srgbClr val="0070C0"/>
                </a:solidFill>
                <a:latin typeface="Century Gothic"/>
                <a:ea typeface="Verdana"/>
                <a:cs typeface="Verdana" panose="020B0604030504040204" pitchFamily="34" charset="0"/>
              </a:rPr>
              <a:t>вызовы</a:t>
            </a:r>
            <a:r>
              <a:rPr lang="en-US" sz="3600" b="1" kern="0" spc="-35" dirty="0">
                <a:solidFill>
                  <a:srgbClr val="0070C0"/>
                </a:solidFill>
                <a:latin typeface="Century Gothic"/>
                <a:ea typeface="Verdana"/>
                <a:cs typeface="Verdana" panose="020B0604030504040204" pitchFamily="34" charset="0"/>
              </a:rPr>
              <a:t>? </a:t>
            </a:r>
            <a:endParaRPr lang="en-US" dirty="0">
              <a:latin typeface="Century Gothic"/>
              <a:ea typeface="Verdana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C6185D3-0C38-08CC-D283-EA903B61018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784192" y="269715"/>
            <a:ext cx="6129463" cy="61617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1365B5-9660-D617-E207-2E0FACFC7E0B}"/>
              </a:ext>
            </a:extLst>
          </p:cNvPr>
          <p:cNvSpPr txBox="1"/>
          <p:nvPr/>
        </p:nvSpPr>
        <p:spPr>
          <a:xfrm>
            <a:off x="3927534" y="477279"/>
            <a:ext cx="34166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>
                <a:solidFill>
                  <a:schemeClr val="bg1"/>
                </a:solidFill>
                <a:latin typeface="Century Gothic" panose="020B0502020202020204" pitchFamily="34" charset="0"/>
              </a:rPr>
              <a:t>#</a:t>
            </a:r>
            <a:r>
              <a:rPr lang="en-US" sz="1600" err="1">
                <a:solidFill>
                  <a:schemeClr val="bg1"/>
                </a:solidFill>
                <a:latin typeface="Century Gothic" panose="020B0502020202020204" pitchFamily="34" charset="0"/>
              </a:rPr>
              <a:t>Digital_Inclusion</a:t>
            </a:r>
            <a:endParaRPr lang="ru-RU" sz="160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768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Скругленная соединительная линия 75">
            <a:extLst>
              <a:ext uri="{FF2B5EF4-FFF2-40B4-BE49-F238E27FC236}">
                <a16:creationId xmlns:a16="http://schemas.microsoft.com/office/drawing/2014/main" id="{BF6D70EB-BB9B-8E20-3BA5-95E2B1D4CB5E}"/>
              </a:ext>
            </a:extLst>
          </p:cNvPr>
          <p:cNvCxnSpPr>
            <a:cxnSpLocks/>
          </p:cNvCxnSpPr>
          <p:nvPr/>
        </p:nvCxnSpPr>
        <p:spPr>
          <a:xfrm flipV="1">
            <a:off x="2203156" y="3087674"/>
            <a:ext cx="5522341" cy="1307934"/>
          </a:xfrm>
          <a:prstGeom prst="curvedConnector3">
            <a:avLst>
              <a:gd name="adj1" fmla="val 84519"/>
            </a:avLst>
          </a:prstGeom>
          <a:ln w="317500">
            <a:solidFill>
              <a:schemeClr val="accent1">
                <a:alpha val="28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Круговая стрелка 71">
            <a:extLst>
              <a:ext uri="{FF2B5EF4-FFF2-40B4-BE49-F238E27FC236}">
                <a16:creationId xmlns:a16="http://schemas.microsoft.com/office/drawing/2014/main" id="{E4070DAC-48CC-E542-4DEF-AFB9CE1E28CF}"/>
              </a:ext>
            </a:extLst>
          </p:cNvPr>
          <p:cNvSpPr/>
          <p:nvPr/>
        </p:nvSpPr>
        <p:spPr>
          <a:xfrm rot="8220773">
            <a:off x="6920120" y="1578625"/>
            <a:ext cx="4517821" cy="4536412"/>
          </a:xfrm>
          <a:prstGeom prst="circularArrow">
            <a:avLst>
              <a:gd name="adj1" fmla="val 5176"/>
              <a:gd name="adj2" fmla="val 1339399"/>
              <a:gd name="adj3" fmla="val 20206917"/>
              <a:gd name="adj4" fmla="val 1918573"/>
              <a:gd name="adj5" fmla="val 8471"/>
            </a:avLst>
          </a:prstGeom>
          <a:solidFill>
            <a:schemeClr val="accent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5B9772B-ABC3-7D18-8BB0-1A9FE16C659E}"/>
              </a:ext>
            </a:extLst>
          </p:cNvPr>
          <p:cNvGrpSpPr/>
          <p:nvPr/>
        </p:nvGrpSpPr>
        <p:grpSpPr>
          <a:xfrm>
            <a:off x="3813479" y="2928477"/>
            <a:ext cx="1982172" cy="2340338"/>
            <a:chOff x="3627500" y="2916364"/>
            <a:chExt cx="1982172" cy="2340338"/>
          </a:xfrm>
        </p:grpSpPr>
        <p:grpSp>
          <p:nvGrpSpPr>
            <p:cNvPr id="40" name="Группа 39">
              <a:extLst>
                <a:ext uri="{FF2B5EF4-FFF2-40B4-BE49-F238E27FC236}">
                  <a16:creationId xmlns:a16="http://schemas.microsoft.com/office/drawing/2014/main" id="{A89A6F26-ED3A-DFEF-C7DA-D3A2C4B2E53C}"/>
                </a:ext>
              </a:extLst>
            </p:cNvPr>
            <p:cNvGrpSpPr/>
            <p:nvPr/>
          </p:nvGrpSpPr>
          <p:grpSpPr>
            <a:xfrm>
              <a:off x="3627500" y="2916364"/>
              <a:ext cx="1982172" cy="2340338"/>
              <a:chOff x="1204582" y="1615380"/>
              <a:chExt cx="1982172" cy="2340338"/>
            </a:xfrm>
          </p:grpSpPr>
          <p:grpSp>
            <p:nvGrpSpPr>
              <p:cNvPr id="41" name="Группа 40">
                <a:extLst>
                  <a:ext uri="{FF2B5EF4-FFF2-40B4-BE49-F238E27FC236}">
                    <a16:creationId xmlns:a16="http://schemas.microsoft.com/office/drawing/2014/main" id="{19D84D85-5F6C-004B-F56C-FDBD3A539DB8}"/>
                  </a:ext>
                </a:extLst>
              </p:cNvPr>
              <p:cNvGrpSpPr/>
              <p:nvPr/>
            </p:nvGrpSpPr>
            <p:grpSpPr>
              <a:xfrm>
                <a:off x="1204585" y="1615381"/>
                <a:ext cx="1890553" cy="2340337"/>
                <a:chOff x="2285996" y="2667000"/>
                <a:chExt cx="2881393" cy="3471278"/>
              </a:xfrm>
              <a:solidFill>
                <a:schemeClr val="accent1">
                  <a:lumMod val="20000"/>
                  <a:lumOff val="80000"/>
                </a:schemeClr>
              </a:solidFill>
            </p:grpSpPr>
            <p:grpSp>
              <p:nvGrpSpPr>
                <p:cNvPr id="45" name="Группа 44">
                  <a:extLst>
                    <a:ext uri="{FF2B5EF4-FFF2-40B4-BE49-F238E27FC236}">
                      <a16:creationId xmlns:a16="http://schemas.microsoft.com/office/drawing/2014/main" id="{266D2244-1220-B6AD-6808-0CBBFDE4AFE6}"/>
                    </a:ext>
                  </a:extLst>
                </p:cNvPr>
                <p:cNvGrpSpPr/>
                <p:nvPr/>
              </p:nvGrpSpPr>
              <p:grpSpPr>
                <a:xfrm>
                  <a:off x="2286000" y="2667000"/>
                  <a:ext cx="2881389" cy="3471278"/>
                  <a:chOff x="685800" y="4155800"/>
                  <a:chExt cx="2647762" cy="950062"/>
                </a:xfrm>
                <a:grpFill/>
              </p:grpSpPr>
              <p:sp>
                <p:nvSpPr>
                  <p:cNvPr id="47" name="Скругленный прямоугольник 46">
                    <a:extLst>
                      <a:ext uri="{FF2B5EF4-FFF2-40B4-BE49-F238E27FC236}">
                        <a16:creationId xmlns:a16="http://schemas.microsoft.com/office/drawing/2014/main" id="{5CD02FAC-DFC8-A669-6DF5-5FA30A13BF67}"/>
                      </a:ext>
                    </a:extLst>
                  </p:cNvPr>
                  <p:cNvSpPr/>
                  <p:nvPr/>
                </p:nvSpPr>
                <p:spPr>
                  <a:xfrm>
                    <a:off x="685800" y="4155800"/>
                    <a:ext cx="2590799" cy="950062"/>
                  </a:xfrm>
                  <a:prstGeom prst="roundRect">
                    <a:avLst>
                      <a:gd name="adj" fmla="val 8975"/>
                    </a:avLst>
                  </a:prstGeom>
                  <a:grpFill/>
                  <a:ln>
                    <a:noFill/>
                  </a:ln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sz="1400"/>
                  </a:p>
                </p:txBody>
              </p:sp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C98A5A72-B4A9-BC30-3A8F-2668B2615DF7}"/>
                      </a:ext>
                    </a:extLst>
                  </p:cNvPr>
                  <p:cNvSpPr txBox="1"/>
                  <p:nvPr/>
                </p:nvSpPr>
                <p:spPr>
                  <a:xfrm>
                    <a:off x="742764" y="4651131"/>
                    <a:ext cx="2590798" cy="3873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GB" sz="1400">
                        <a:latin typeface="Century Gothic" panose="020B0502020202020204" pitchFamily="34" charset="0"/>
                      </a:rPr>
                      <a:t>Инклюзивная, </a:t>
                    </a:r>
                  </a:p>
                  <a:p>
                    <a:pPr algn="ctr"/>
                    <a:r>
                      <a:rPr lang="en-GB" sz="1400">
                        <a:latin typeface="Century Gothic" panose="020B0502020202020204" pitchFamily="34" charset="0"/>
                      </a:rPr>
                      <a:t>качественная занятость без миграции</a:t>
                    </a:r>
                  </a:p>
                </p:txBody>
              </p:sp>
            </p:grpSp>
            <p:sp>
              <p:nvSpPr>
                <p:cNvPr id="46" name="Открывающая квадратная скобка 45">
                  <a:extLst>
                    <a:ext uri="{FF2B5EF4-FFF2-40B4-BE49-F238E27FC236}">
                      <a16:creationId xmlns:a16="http://schemas.microsoft.com/office/drawing/2014/main" id="{485F34B6-4A2E-D992-99B4-A2B5A773A036}"/>
                    </a:ext>
                  </a:extLst>
                </p:cNvPr>
                <p:cNvSpPr/>
                <p:nvPr/>
              </p:nvSpPr>
              <p:spPr>
                <a:xfrm rot="5400000">
                  <a:off x="3581397" y="1396717"/>
                  <a:ext cx="228600" cy="2819401"/>
                </a:xfrm>
                <a:prstGeom prst="leftBracket">
                  <a:avLst>
                    <a:gd name="adj" fmla="val 84262"/>
                  </a:avLst>
                </a:prstGeom>
                <a:grpFill/>
                <a:ln w="31750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sp>
            <p:nvSpPr>
              <p:cNvPr id="42" name="Прямоугольник с двумя скругленными соседними углами 41">
                <a:extLst>
                  <a:ext uri="{FF2B5EF4-FFF2-40B4-BE49-F238E27FC236}">
                    <a16:creationId xmlns:a16="http://schemas.microsoft.com/office/drawing/2014/main" id="{3B633104-2845-F0BF-2104-46BA74477AFE}"/>
                  </a:ext>
                </a:extLst>
              </p:cNvPr>
              <p:cNvSpPr/>
              <p:nvPr/>
            </p:nvSpPr>
            <p:spPr>
              <a:xfrm>
                <a:off x="1204582" y="1615380"/>
                <a:ext cx="1849879" cy="1169551"/>
              </a:xfrm>
              <a:prstGeom prst="round2SameRect">
                <a:avLst>
                  <a:gd name="adj1" fmla="val 19721"/>
                  <a:gd name="adj2" fmla="val 0"/>
                </a:avLst>
              </a:prstGeom>
              <a:solidFill>
                <a:srgbClr val="0070C0">
                  <a:alpha val="1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61DD576-D11E-67CB-608B-8405D7BB3E77}"/>
                  </a:ext>
                </a:extLst>
              </p:cNvPr>
              <p:cNvSpPr txBox="1"/>
              <p:nvPr/>
            </p:nvSpPr>
            <p:spPr>
              <a:xfrm>
                <a:off x="2011097" y="2015607"/>
                <a:ext cx="11756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GB" sz="1200" b="1">
                    <a:solidFill>
                      <a:srgbClr val="0070C0"/>
                    </a:solidFill>
                    <a:latin typeface="Century Gothic" panose="020B0502020202020204" pitchFamily="34" charset="0"/>
                  </a:rPr>
                  <a:t>ЦИФРОВЫЕ</a:t>
                </a:r>
              </a:p>
              <a:p>
                <a:pPr algn="l"/>
                <a:r>
                  <a:rPr lang="en-GB" sz="1200" b="1">
                    <a:solidFill>
                      <a:srgbClr val="0070C0"/>
                    </a:solidFill>
                    <a:latin typeface="Century Gothic" panose="020B0502020202020204" pitchFamily="34" charset="0"/>
                  </a:rPr>
                  <a:t>РАБОЧИЕ МЕСТА</a:t>
                </a:r>
              </a:p>
            </p:txBody>
          </p:sp>
        </p:grpSp>
        <p:pic>
          <p:nvPicPr>
            <p:cNvPr id="50" name="Рисунок 49">
              <a:extLst>
                <a:ext uri="{FF2B5EF4-FFF2-40B4-BE49-F238E27FC236}">
                  <a16:creationId xmlns:a16="http://schemas.microsoft.com/office/drawing/2014/main" id="{6EC5A096-5F07-8E51-2853-FC81BC184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9181" y="3221632"/>
              <a:ext cx="654834" cy="654834"/>
            </a:xfrm>
            <a:prstGeom prst="rect">
              <a:avLst/>
            </a:prstGeom>
          </p:spPr>
        </p:pic>
      </p:grpSp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7986EE4C-98CC-69F2-B346-7CA8BD7E8A62}"/>
              </a:ext>
            </a:extLst>
          </p:cNvPr>
          <p:cNvGrpSpPr/>
          <p:nvPr/>
        </p:nvGrpSpPr>
        <p:grpSpPr>
          <a:xfrm>
            <a:off x="1534654" y="2928477"/>
            <a:ext cx="1867206" cy="2328646"/>
            <a:chOff x="1204577" y="1615380"/>
            <a:chExt cx="1867206" cy="2328646"/>
          </a:xfrm>
        </p:grpSpPr>
        <p:grpSp>
          <p:nvGrpSpPr>
            <p:cNvPr id="39" name="Группа 38">
              <a:extLst>
                <a:ext uri="{FF2B5EF4-FFF2-40B4-BE49-F238E27FC236}">
                  <a16:creationId xmlns:a16="http://schemas.microsoft.com/office/drawing/2014/main" id="{C6390F33-65FB-26E4-2F36-82CBDE54F2F6}"/>
                </a:ext>
              </a:extLst>
            </p:cNvPr>
            <p:cNvGrpSpPr/>
            <p:nvPr/>
          </p:nvGrpSpPr>
          <p:grpSpPr>
            <a:xfrm>
              <a:off x="1204581" y="1615380"/>
              <a:ext cx="1867202" cy="2328646"/>
              <a:chOff x="1204581" y="1615380"/>
              <a:chExt cx="1867202" cy="2328646"/>
            </a:xfrm>
          </p:grpSpPr>
          <p:grpSp>
            <p:nvGrpSpPr>
              <p:cNvPr id="9" name="Группа 8">
                <a:extLst>
                  <a:ext uri="{FF2B5EF4-FFF2-40B4-BE49-F238E27FC236}">
                    <a16:creationId xmlns:a16="http://schemas.microsoft.com/office/drawing/2014/main" id="{37F17E41-0E6B-3723-B5F1-BEDD0517AD29}"/>
                  </a:ext>
                </a:extLst>
              </p:cNvPr>
              <p:cNvGrpSpPr/>
              <p:nvPr/>
            </p:nvGrpSpPr>
            <p:grpSpPr>
              <a:xfrm>
                <a:off x="1204581" y="1615380"/>
                <a:ext cx="1849885" cy="2328646"/>
                <a:chOff x="2285990" y="2666999"/>
                <a:chExt cx="2819410" cy="3453937"/>
              </a:xfrm>
              <a:solidFill>
                <a:schemeClr val="accent1">
                  <a:lumMod val="20000"/>
                  <a:lumOff val="80000"/>
                </a:schemeClr>
              </a:solidFill>
            </p:grpSpPr>
            <p:grpSp>
              <p:nvGrpSpPr>
                <p:cNvPr id="14" name="Группа 13">
                  <a:extLst>
                    <a:ext uri="{FF2B5EF4-FFF2-40B4-BE49-F238E27FC236}">
                      <a16:creationId xmlns:a16="http://schemas.microsoft.com/office/drawing/2014/main" id="{459C12A0-A3DF-6E59-E45A-8D11AC78EFC3}"/>
                    </a:ext>
                  </a:extLst>
                </p:cNvPr>
                <p:cNvGrpSpPr/>
                <p:nvPr/>
              </p:nvGrpSpPr>
              <p:grpSpPr>
                <a:xfrm>
                  <a:off x="2286000" y="2666999"/>
                  <a:ext cx="2819400" cy="3453937"/>
                  <a:chOff x="685800" y="4155800"/>
                  <a:chExt cx="2590799" cy="945316"/>
                </a:xfrm>
                <a:grpFill/>
              </p:grpSpPr>
              <p:sp>
                <p:nvSpPr>
                  <p:cNvPr id="16" name="Скругленный прямоугольник 15">
                    <a:extLst>
                      <a:ext uri="{FF2B5EF4-FFF2-40B4-BE49-F238E27FC236}">
                        <a16:creationId xmlns:a16="http://schemas.microsoft.com/office/drawing/2014/main" id="{297AA8C7-B517-32F5-5BB0-BAE1BB510A86}"/>
                      </a:ext>
                    </a:extLst>
                  </p:cNvPr>
                  <p:cNvSpPr/>
                  <p:nvPr/>
                </p:nvSpPr>
                <p:spPr>
                  <a:xfrm>
                    <a:off x="685800" y="4155800"/>
                    <a:ext cx="2590799" cy="945316"/>
                  </a:xfrm>
                  <a:prstGeom prst="roundRect">
                    <a:avLst>
                      <a:gd name="adj" fmla="val 8975"/>
                    </a:avLst>
                  </a:prstGeom>
                  <a:grpFill/>
                  <a:ln>
                    <a:noFill/>
                  </a:ln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sz="1400"/>
                  </a:p>
                </p:txBody>
              </p:sp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156A6A8B-C157-4849-6F43-A1E5414399B8}"/>
                      </a:ext>
                    </a:extLst>
                  </p:cNvPr>
                  <p:cNvSpPr txBox="1"/>
                  <p:nvPr/>
                </p:nvSpPr>
                <p:spPr>
                  <a:xfrm>
                    <a:off x="873551" y="4665471"/>
                    <a:ext cx="2215278" cy="3873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GB" sz="1400">
                        <a:latin typeface="Century Gothic" panose="020B0502020202020204" pitchFamily="34" charset="0"/>
                      </a:rPr>
                      <a:t>Рост ИТ-сектора и рабочие места для безработных</a:t>
                    </a:r>
                    <a:endParaRPr lang="en-GB" sz="1400" b="1">
                      <a:latin typeface="Century Gothic" panose="020B0502020202020204" pitchFamily="34" charset="0"/>
                    </a:endParaRPr>
                  </a:p>
                </p:txBody>
              </p:sp>
            </p:grpSp>
            <p:sp>
              <p:nvSpPr>
                <p:cNvPr id="13" name="Открывающая квадратная скобка 12">
                  <a:extLst>
                    <a:ext uri="{FF2B5EF4-FFF2-40B4-BE49-F238E27FC236}">
                      <a16:creationId xmlns:a16="http://schemas.microsoft.com/office/drawing/2014/main" id="{065634C6-0713-CC60-F8D8-70DBE3429B53}"/>
                    </a:ext>
                  </a:extLst>
                </p:cNvPr>
                <p:cNvSpPr/>
                <p:nvPr/>
              </p:nvSpPr>
              <p:spPr>
                <a:xfrm rot="5400000">
                  <a:off x="3581391" y="1397179"/>
                  <a:ext cx="228600" cy="2819401"/>
                </a:xfrm>
                <a:prstGeom prst="leftBracket">
                  <a:avLst>
                    <a:gd name="adj" fmla="val 84262"/>
                  </a:avLst>
                </a:prstGeom>
                <a:grpFill/>
                <a:ln w="31750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sp>
            <p:nvSpPr>
              <p:cNvPr id="18" name="Прямоугольник с двумя скругленными соседними углами 17">
                <a:extLst>
                  <a:ext uri="{FF2B5EF4-FFF2-40B4-BE49-F238E27FC236}">
                    <a16:creationId xmlns:a16="http://schemas.microsoft.com/office/drawing/2014/main" id="{6BB57860-3B38-5A91-B573-8D9EEDD645A3}"/>
                  </a:ext>
                </a:extLst>
              </p:cNvPr>
              <p:cNvSpPr/>
              <p:nvPr/>
            </p:nvSpPr>
            <p:spPr>
              <a:xfrm>
                <a:off x="1204582" y="1615380"/>
                <a:ext cx="1849879" cy="1169551"/>
              </a:xfrm>
              <a:prstGeom prst="round2SameRect">
                <a:avLst>
                  <a:gd name="adj1" fmla="val 19721"/>
                  <a:gd name="adj2" fmla="val 0"/>
                </a:avLst>
              </a:prstGeom>
              <a:solidFill>
                <a:srgbClr val="0070C0">
                  <a:alpha val="1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19C4751-7D0B-49D8-C905-05382D74311B}"/>
                  </a:ext>
                </a:extLst>
              </p:cNvPr>
              <p:cNvSpPr txBox="1"/>
              <p:nvPr/>
            </p:nvSpPr>
            <p:spPr>
              <a:xfrm>
                <a:off x="1896126" y="2031719"/>
                <a:ext cx="11756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GB" sz="1200" b="1">
                    <a:solidFill>
                      <a:srgbClr val="0070C0"/>
                    </a:solidFill>
                    <a:latin typeface="Century Gothic" panose="020B0502020202020204" pitchFamily="34" charset="0"/>
                  </a:rPr>
                  <a:t>НАЦИОНАЛЬНОЕ ВИДЕНИЕ</a:t>
                </a:r>
              </a:p>
            </p:txBody>
          </p:sp>
        </p:grpSp>
        <p:pic>
          <p:nvPicPr>
            <p:cNvPr id="52" name="Рисунок 51">
              <a:extLst>
                <a:ext uri="{FF2B5EF4-FFF2-40B4-BE49-F238E27FC236}">
                  <a16:creationId xmlns:a16="http://schemas.microsoft.com/office/drawing/2014/main" id="{03138909-D56B-9D2D-3D4D-0DE5C7236B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04577" y="1832739"/>
              <a:ext cx="802423" cy="802423"/>
            </a:xfrm>
            <a:prstGeom prst="rect">
              <a:avLst/>
            </a:prstGeom>
          </p:spPr>
        </p:pic>
      </p:grpSp>
      <p:sp>
        <p:nvSpPr>
          <p:cNvPr id="82" name="Title 1">
            <a:extLst>
              <a:ext uri="{FF2B5EF4-FFF2-40B4-BE49-F238E27FC236}">
                <a16:creationId xmlns:a16="http://schemas.microsoft.com/office/drawing/2014/main" id="{B4772D43-F3BB-A201-FDAD-A615E960C760}"/>
              </a:ext>
            </a:extLst>
          </p:cNvPr>
          <p:cNvSpPr txBox="1">
            <a:spLocks/>
          </p:cNvSpPr>
          <p:nvPr/>
        </p:nvSpPr>
        <p:spPr>
          <a:xfrm>
            <a:off x="712492" y="647421"/>
            <a:ext cx="8131709" cy="815955"/>
          </a:xfrm>
          <a:prstGeom prst="rect">
            <a:avLst/>
          </a:prstGeom>
        </p:spPr>
        <p:txBody>
          <a:bodyPr lIns="96012" tIns="48006" rIns="96012" bIns="48006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500" b="1">
                <a:solidFill>
                  <a:srgbClr val="00B050"/>
                </a:solidFill>
                <a:latin typeface="Century Gothic"/>
                <a:ea typeface="Tw Cen MT Condensed Extra Bold" charset="0"/>
                <a:cs typeface="Tw Cen MT Condensed Extra Bold" charset="0"/>
              </a:rPr>
              <a:t>Проект #Digital_Inclusion </a:t>
            </a:r>
            <a:r>
              <a:rPr lang="en-GB" sz="3500" b="1">
                <a:solidFill>
                  <a:srgbClr val="006AB6"/>
                </a:solidFill>
                <a:latin typeface="Century Gothic"/>
                <a:ea typeface="Tw Cen MT Condensed Extra Bold" charset="0"/>
                <a:cs typeface="Tw Cen MT Condensed Extra Bold" charset="0"/>
              </a:rPr>
              <a:t>меняет ландшафт отрасли ИТ-услуг в Узбекистане </a:t>
            </a:r>
          </a:p>
        </p:txBody>
      </p:sp>
      <p:grpSp>
        <p:nvGrpSpPr>
          <p:cNvPr id="85" name="Группа 84">
            <a:extLst>
              <a:ext uri="{FF2B5EF4-FFF2-40B4-BE49-F238E27FC236}">
                <a16:creationId xmlns:a16="http://schemas.microsoft.com/office/drawing/2014/main" id="{CB9D757D-7536-5FAD-BD1B-B06BEEDDCA63}"/>
              </a:ext>
            </a:extLst>
          </p:cNvPr>
          <p:cNvGrpSpPr/>
          <p:nvPr/>
        </p:nvGrpSpPr>
        <p:grpSpPr>
          <a:xfrm>
            <a:off x="8700099" y="1664975"/>
            <a:ext cx="1681055" cy="1296487"/>
            <a:chOff x="685800" y="4155800"/>
            <a:chExt cx="2590799" cy="922707"/>
          </a:xfrm>
          <a:solidFill>
            <a:schemeClr val="bg1">
              <a:lumMod val="95000"/>
            </a:schemeClr>
          </a:solidFill>
        </p:grpSpPr>
        <p:sp>
          <p:nvSpPr>
            <p:cNvPr id="86" name="Скругленный прямоугольник 85">
              <a:extLst>
                <a:ext uri="{FF2B5EF4-FFF2-40B4-BE49-F238E27FC236}">
                  <a16:creationId xmlns:a16="http://schemas.microsoft.com/office/drawing/2014/main" id="{FFC4F200-26BE-86F5-573F-6C9615E9724C}"/>
                </a:ext>
              </a:extLst>
            </p:cNvPr>
            <p:cNvSpPr/>
            <p:nvPr/>
          </p:nvSpPr>
          <p:spPr>
            <a:xfrm>
              <a:off x="685800" y="4155800"/>
              <a:ext cx="2590799" cy="832367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0E1A1920-D483-D84B-FB42-40880A3960E3}"/>
                </a:ext>
              </a:extLst>
            </p:cNvPr>
            <p:cNvSpPr txBox="1"/>
            <p:nvPr/>
          </p:nvSpPr>
          <p:spPr>
            <a:xfrm>
              <a:off x="770464" y="4246140"/>
              <a:ext cx="2447901" cy="832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 err="1">
                  <a:solidFill>
                    <a:srgbClr val="00B050"/>
                  </a:solidFill>
                  <a:latin typeface="Century Gothic" panose="020B0502020202020204" pitchFamily="34" charset="0"/>
                </a:rPr>
                <a:t>Развивать</a:t>
              </a:r>
              <a:r>
                <a:rPr lang="en-US" sz="1400" b="1" dirty="0">
                  <a:solidFill>
                    <a:srgbClr val="00B050"/>
                  </a:solidFill>
                  <a:latin typeface="Century Gothic" panose="020B0502020202020204" pitchFamily="34" charset="0"/>
                </a:rPr>
                <a:t> </a:t>
              </a:r>
              <a:r>
                <a:rPr lang="en-US" sz="1400" b="1" dirty="0" err="1">
                  <a:solidFill>
                    <a:srgbClr val="00B050"/>
                  </a:solidFill>
                  <a:latin typeface="Century Gothic" panose="020B0502020202020204" pitchFamily="34" charset="0"/>
                </a:rPr>
                <a:t>цифровые</a:t>
              </a:r>
              <a:r>
                <a:rPr lang="en-US" sz="1400" b="1" dirty="0">
                  <a:solidFill>
                    <a:srgbClr val="00B050"/>
                  </a:solidFill>
                  <a:latin typeface="Century Gothic" panose="020B0502020202020204" pitchFamily="34" charset="0"/>
                </a:rPr>
                <a:t> и </a:t>
              </a:r>
            </a:p>
            <a:p>
              <a:pPr algn="ctr"/>
              <a:r>
                <a:rPr lang="en-US" sz="1400" b="1" dirty="0">
                  <a:solidFill>
                    <a:srgbClr val="00B050"/>
                  </a:solidFill>
                  <a:latin typeface="Century Gothic" panose="020B0502020202020204" pitchFamily="34" charset="0"/>
                </a:rPr>
                <a:t>“</a:t>
              </a:r>
              <a:r>
                <a:rPr lang="en-US" sz="1400" b="1" dirty="0" err="1">
                  <a:solidFill>
                    <a:srgbClr val="00B050"/>
                  </a:solidFill>
                  <a:latin typeface="Century Gothic" panose="020B0502020202020204" pitchFamily="34" charset="0"/>
                </a:rPr>
                <a:t>мягкие</a:t>
              </a:r>
              <a:r>
                <a:rPr lang="en-US" sz="1400" b="1" dirty="0">
                  <a:solidFill>
                    <a:srgbClr val="00B050"/>
                  </a:solidFill>
                  <a:latin typeface="Century Gothic" panose="020B0502020202020204" pitchFamily="34" charset="0"/>
                </a:rPr>
                <a:t>” </a:t>
              </a:r>
              <a:r>
                <a:rPr lang="en-US" sz="1400" b="1" dirty="0" err="1">
                  <a:solidFill>
                    <a:srgbClr val="00B050"/>
                  </a:solidFill>
                  <a:latin typeface="Century Gothic" panose="020B0502020202020204" pitchFamily="34" charset="0"/>
                </a:rPr>
                <a:t>навыки</a:t>
              </a:r>
              <a:r>
                <a:rPr lang="en-US" sz="1400" b="1" dirty="0">
                  <a:solidFill>
                    <a:srgbClr val="00B050"/>
                  </a:solidFill>
                  <a:latin typeface="Century Gothic" panose="020B0502020202020204" pitchFamily="34" charset="0"/>
                </a:rPr>
                <a:t> </a:t>
              </a:r>
              <a:r>
                <a:rPr lang="en-US" sz="1400" b="1" dirty="0" err="1">
                  <a:solidFill>
                    <a:srgbClr val="00B050"/>
                  </a:solidFill>
                  <a:latin typeface="Century Gothic" panose="020B0502020202020204" pitchFamily="34" charset="0"/>
                </a:rPr>
                <a:t>молодёжи</a:t>
              </a:r>
              <a:endParaRPr lang="en-GB" sz="1400" b="1" dirty="0">
                <a:solidFill>
                  <a:srgbClr val="00B050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89" name="Группа 88">
            <a:extLst>
              <a:ext uri="{FF2B5EF4-FFF2-40B4-BE49-F238E27FC236}">
                <a16:creationId xmlns:a16="http://schemas.microsoft.com/office/drawing/2014/main" id="{F6F55562-7EDE-3ABF-E723-0E6021430312}"/>
              </a:ext>
            </a:extLst>
          </p:cNvPr>
          <p:cNvGrpSpPr/>
          <p:nvPr/>
        </p:nvGrpSpPr>
        <p:grpSpPr>
          <a:xfrm>
            <a:off x="10013696" y="3500927"/>
            <a:ext cx="1681055" cy="1181566"/>
            <a:chOff x="685800" y="4155800"/>
            <a:chExt cx="2590799" cy="840918"/>
          </a:xfrm>
          <a:solidFill>
            <a:schemeClr val="bg1">
              <a:lumMod val="95000"/>
            </a:schemeClr>
          </a:solidFill>
        </p:grpSpPr>
        <p:sp>
          <p:nvSpPr>
            <p:cNvPr id="90" name="Скругленный прямоугольник 89">
              <a:extLst>
                <a:ext uri="{FF2B5EF4-FFF2-40B4-BE49-F238E27FC236}">
                  <a16:creationId xmlns:a16="http://schemas.microsoft.com/office/drawing/2014/main" id="{8185BF2F-6E9E-74C1-44C8-3D7D250A0260}"/>
                </a:ext>
              </a:extLst>
            </p:cNvPr>
            <p:cNvSpPr/>
            <p:nvPr/>
          </p:nvSpPr>
          <p:spPr>
            <a:xfrm>
              <a:off x="685800" y="4155800"/>
              <a:ext cx="2590799" cy="832367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AD37A916-A1D0-88A3-5C6C-DA3F55DEAC9C}"/>
                </a:ext>
              </a:extLst>
            </p:cNvPr>
            <p:cNvSpPr txBox="1"/>
            <p:nvPr/>
          </p:nvSpPr>
          <p:spPr>
            <a:xfrm>
              <a:off x="746140" y="4164351"/>
              <a:ext cx="2476721" cy="832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rgbClr val="00B050"/>
                  </a:solidFill>
                  <a:latin typeface="Century Gothic" panose="020B0502020202020204" pitchFamily="34" charset="0"/>
                </a:rPr>
                <a:t>Привлекать </a:t>
              </a:r>
            </a:p>
            <a:p>
              <a:pPr algn="ctr"/>
              <a:r>
                <a:rPr lang="en-US" sz="1400" b="1">
                  <a:solidFill>
                    <a:srgbClr val="00B050"/>
                  </a:solidFill>
                  <a:latin typeface="Century Gothic" panose="020B0502020202020204" pitchFamily="34" charset="0"/>
                </a:rPr>
                <a:t>компании ITES в Узбекистан</a:t>
              </a:r>
              <a:endParaRPr lang="en-GB" sz="1400" b="1">
                <a:solidFill>
                  <a:srgbClr val="00B050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92" name="Группа 91">
            <a:extLst>
              <a:ext uri="{FF2B5EF4-FFF2-40B4-BE49-F238E27FC236}">
                <a16:creationId xmlns:a16="http://schemas.microsoft.com/office/drawing/2014/main" id="{1EDB6B30-1E8F-D92B-95B0-5FC2AC352070}"/>
              </a:ext>
            </a:extLst>
          </p:cNvPr>
          <p:cNvGrpSpPr/>
          <p:nvPr/>
        </p:nvGrpSpPr>
        <p:grpSpPr>
          <a:xfrm>
            <a:off x="9825394" y="1414443"/>
            <a:ext cx="740190" cy="565938"/>
            <a:chOff x="233672" y="4155800"/>
            <a:chExt cx="3600749" cy="832367"/>
          </a:xfrm>
          <a:solidFill>
            <a:schemeClr val="bg1">
              <a:lumMod val="95000"/>
            </a:schemeClr>
          </a:solidFill>
        </p:grpSpPr>
        <p:sp>
          <p:nvSpPr>
            <p:cNvPr id="93" name="Скругленный прямоугольник 92">
              <a:extLst>
                <a:ext uri="{FF2B5EF4-FFF2-40B4-BE49-F238E27FC236}">
                  <a16:creationId xmlns:a16="http://schemas.microsoft.com/office/drawing/2014/main" id="{F8B6F743-5BD1-F848-87CA-E312E14FD0B3}"/>
                </a:ext>
              </a:extLst>
            </p:cNvPr>
            <p:cNvSpPr/>
            <p:nvPr/>
          </p:nvSpPr>
          <p:spPr>
            <a:xfrm>
              <a:off x="685800" y="4155800"/>
              <a:ext cx="2590799" cy="832367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473A12C2-E849-D284-0B26-0BE1C25DE2BE}"/>
                </a:ext>
              </a:extLst>
            </p:cNvPr>
            <p:cNvSpPr txBox="1"/>
            <p:nvPr/>
          </p:nvSpPr>
          <p:spPr>
            <a:xfrm>
              <a:off x="233672" y="4164581"/>
              <a:ext cx="3600749" cy="814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b="1">
                  <a:solidFill>
                    <a:srgbClr val="00B050"/>
                  </a:solidFill>
                  <a:latin typeface="Century Gothic" panose="020B0502020202020204" pitchFamily="34" charset="0"/>
                </a:rPr>
                <a:t>1</a:t>
              </a:r>
              <a:endParaRPr lang="en-GB" sz="3000" b="1">
                <a:solidFill>
                  <a:srgbClr val="00B050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95" name="Группа 94">
            <a:extLst>
              <a:ext uri="{FF2B5EF4-FFF2-40B4-BE49-F238E27FC236}">
                <a16:creationId xmlns:a16="http://schemas.microsoft.com/office/drawing/2014/main" id="{4CEFD7C8-9BBB-0FF2-A16E-0E51D0108C04}"/>
              </a:ext>
            </a:extLst>
          </p:cNvPr>
          <p:cNvGrpSpPr/>
          <p:nvPr/>
        </p:nvGrpSpPr>
        <p:grpSpPr>
          <a:xfrm>
            <a:off x="11335738" y="3208569"/>
            <a:ext cx="532579" cy="584255"/>
            <a:chOff x="685800" y="4128861"/>
            <a:chExt cx="2590799" cy="859306"/>
          </a:xfrm>
          <a:solidFill>
            <a:schemeClr val="bg1">
              <a:lumMod val="95000"/>
            </a:schemeClr>
          </a:solidFill>
        </p:grpSpPr>
        <p:sp>
          <p:nvSpPr>
            <p:cNvPr id="96" name="Скругленный прямоугольник 95">
              <a:extLst>
                <a:ext uri="{FF2B5EF4-FFF2-40B4-BE49-F238E27FC236}">
                  <a16:creationId xmlns:a16="http://schemas.microsoft.com/office/drawing/2014/main" id="{89805ED0-CA1F-8373-2B5C-DB133F71C4A5}"/>
                </a:ext>
              </a:extLst>
            </p:cNvPr>
            <p:cNvSpPr/>
            <p:nvPr/>
          </p:nvSpPr>
          <p:spPr>
            <a:xfrm>
              <a:off x="685800" y="4155800"/>
              <a:ext cx="2590799" cy="832367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380E45F3-561E-9E49-E806-FA6C8C92B606}"/>
                </a:ext>
              </a:extLst>
            </p:cNvPr>
            <p:cNvSpPr txBox="1"/>
            <p:nvPr/>
          </p:nvSpPr>
          <p:spPr>
            <a:xfrm>
              <a:off x="814893" y="4128861"/>
              <a:ext cx="2447901" cy="8148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b="1">
                  <a:solidFill>
                    <a:srgbClr val="00B050"/>
                  </a:solidFill>
                  <a:latin typeface="Century Gothic" panose="020B0502020202020204" pitchFamily="34" charset="0"/>
                </a:rPr>
                <a:t>2</a:t>
              </a:r>
              <a:endParaRPr lang="en-GB" sz="3000" b="1">
                <a:solidFill>
                  <a:srgbClr val="00B050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98" name="Группа 97">
            <a:extLst>
              <a:ext uri="{FF2B5EF4-FFF2-40B4-BE49-F238E27FC236}">
                <a16:creationId xmlns:a16="http://schemas.microsoft.com/office/drawing/2014/main" id="{9D1709D0-4A2A-0134-098E-903574096D70}"/>
              </a:ext>
            </a:extLst>
          </p:cNvPr>
          <p:cNvGrpSpPr/>
          <p:nvPr/>
        </p:nvGrpSpPr>
        <p:grpSpPr>
          <a:xfrm>
            <a:off x="8802742" y="5368400"/>
            <a:ext cx="1681055" cy="1169551"/>
            <a:chOff x="685800" y="4155800"/>
            <a:chExt cx="2590799" cy="832367"/>
          </a:xfrm>
          <a:solidFill>
            <a:schemeClr val="bg1">
              <a:lumMod val="95000"/>
            </a:schemeClr>
          </a:solidFill>
        </p:grpSpPr>
        <p:sp>
          <p:nvSpPr>
            <p:cNvPr id="99" name="Скругленный прямоугольник 98">
              <a:extLst>
                <a:ext uri="{FF2B5EF4-FFF2-40B4-BE49-F238E27FC236}">
                  <a16:creationId xmlns:a16="http://schemas.microsoft.com/office/drawing/2014/main" id="{D1CD7785-D43C-9DD6-DA41-406680A6382E}"/>
                </a:ext>
              </a:extLst>
            </p:cNvPr>
            <p:cNvSpPr/>
            <p:nvPr/>
          </p:nvSpPr>
          <p:spPr>
            <a:xfrm>
              <a:off x="685800" y="4155800"/>
              <a:ext cx="2590799" cy="832367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37939DC7-11A7-2247-9DAC-52FFBE45D94A}"/>
                </a:ext>
              </a:extLst>
            </p:cNvPr>
            <p:cNvSpPr txBox="1"/>
            <p:nvPr/>
          </p:nvSpPr>
          <p:spPr>
            <a:xfrm>
              <a:off x="916719" y="4308010"/>
              <a:ext cx="2128958" cy="5257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 err="1">
                  <a:solidFill>
                    <a:srgbClr val="00B050"/>
                  </a:solidFill>
                  <a:latin typeface="Century Gothic" panose="020B0502020202020204" pitchFamily="34" charset="0"/>
                </a:rPr>
                <a:t>Создать</a:t>
              </a:r>
              <a:r>
                <a:rPr lang="en-US" sz="1400" b="1" dirty="0">
                  <a:solidFill>
                    <a:srgbClr val="00B050"/>
                  </a:solidFill>
                  <a:latin typeface="Century Gothic" panose="020B0502020202020204" pitchFamily="34" charset="0"/>
                </a:rPr>
                <a:t> </a:t>
              </a:r>
            </a:p>
            <a:p>
              <a:pPr algn="ctr"/>
              <a:r>
                <a:rPr lang="en-US" sz="1400" b="1" dirty="0" err="1">
                  <a:solidFill>
                    <a:srgbClr val="00B050"/>
                  </a:solidFill>
                  <a:latin typeface="Century Gothic" panose="020B0502020202020204" pitchFamily="34" charset="0"/>
                </a:rPr>
                <a:t>бренд</a:t>
              </a:r>
              <a:r>
                <a:rPr lang="en-US" sz="1400" b="1" dirty="0">
                  <a:solidFill>
                    <a:srgbClr val="00B050"/>
                  </a:solidFill>
                  <a:latin typeface="Century Gothic" panose="020B0502020202020204" pitchFamily="34" charset="0"/>
                </a:rPr>
                <a:t> </a:t>
              </a:r>
              <a:r>
                <a:rPr lang="en-US" sz="1400" b="1" dirty="0" err="1">
                  <a:solidFill>
                    <a:srgbClr val="00B050"/>
                  </a:solidFill>
                  <a:latin typeface="Century Gothic" panose="020B0502020202020204" pitchFamily="34" charset="0"/>
                </a:rPr>
                <a:t>цифрового</a:t>
              </a:r>
              <a:r>
                <a:rPr lang="en-US" sz="1400" b="1" dirty="0">
                  <a:solidFill>
                    <a:srgbClr val="00B050"/>
                  </a:solidFill>
                  <a:latin typeface="Century Gothic" panose="020B0502020202020204" pitchFamily="34" charset="0"/>
                </a:rPr>
                <a:t> </a:t>
              </a:r>
              <a:r>
                <a:rPr lang="en-US" sz="1400" b="1" dirty="0" err="1">
                  <a:solidFill>
                    <a:srgbClr val="00B050"/>
                  </a:solidFill>
                  <a:latin typeface="Century Gothic" panose="020B0502020202020204" pitchFamily="34" charset="0"/>
                </a:rPr>
                <a:t>хаба</a:t>
              </a:r>
              <a:endParaRPr lang="en-GB" sz="1400" b="1" dirty="0">
                <a:solidFill>
                  <a:srgbClr val="00B050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01" name="Группа 100">
            <a:extLst>
              <a:ext uri="{FF2B5EF4-FFF2-40B4-BE49-F238E27FC236}">
                <a16:creationId xmlns:a16="http://schemas.microsoft.com/office/drawing/2014/main" id="{E484CCF7-7314-6366-33FD-E3C6F1367A5F}"/>
              </a:ext>
            </a:extLst>
          </p:cNvPr>
          <p:cNvGrpSpPr/>
          <p:nvPr/>
        </p:nvGrpSpPr>
        <p:grpSpPr>
          <a:xfrm>
            <a:off x="10050218" y="5217252"/>
            <a:ext cx="532579" cy="569059"/>
            <a:chOff x="685800" y="4151211"/>
            <a:chExt cx="2590799" cy="836956"/>
          </a:xfrm>
          <a:solidFill>
            <a:schemeClr val="bg1">
              <a:lumMod val="95000"/>
            </a:schemeClr>
          </a:solidFill>
        </p:grpSpPr>
        <p:sp>
          <p:nvSpPr>
            <p:cNvPr id="102" name="Скругленный прямоугольник 101">
              <a:extLst>
                <a:ext uri="{FF2B5EF4-FFF2-40B4-BE49-F238E27FC236}">
                  <a16:creationId xmlns:a16="http://schemas.microsoft.com/office/drawing/2014/main" id="{DB80BBC2-5091-99E9-663F-01F427C35065}"/>
                </a:ext>
              </a:extLst>
            </p:cNvPr>
            <p:cNvSpPr/>
            <p:nvPr/>
          </p:nvSpPr>
          <p:spPr>
            <a:xfrm>
              <a:off x="685800" y="4155800"/>
              <a:ext cx="2590799" cy="832367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2FEE60FC-F98E-8B1B-CEF2-D5065033E780}"/>
                </a:ext>
              </a:extLst>
            </p:cNvPr>
            <p:cNvSpPr txBox="1"/>
            <p:nvPr/>
          </p:nvSpPr>
          <p:spPr>
            <a:xfrm>
              <a:off x="776501" y="4151211"/>
              <a:ext cx="2447901" cy="8148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b="1">
                  <a:solidFill>
                    <a:srgbClr val="00B050"/>
                  </a:solidFill>
                  <a:latin typeface="Century Gothic" panose="020B0502020202020204" pitchFamily="34" charset="0"/>
                </a:rPr>
                <a:t>3</a:t>
              </a:r>
              <a:endParaRPr lang="en-GB" sz="3000" b="1">
                <a:solidFill>
                  <a:srgbClr val="00B050"/>
                </a:solidFill>
                <a:latin typeface="Century Gothic" panose="020B0502020202020204" pitchFamily="34" charset="0"/>
              </a:endParaRPr>
            </a:p>
          </p:txBody>
        </p:sp>
      </p:grpSp>
      <p:pic>
        <p:nvPicPr>
          <p:cNvPr id="107" name="Рисунок 106">
            <a:extLst>
              <a:ext uri="{FF2B5EF4-FFF2-40B4-BE49-F238E27FC236}">
                <a16:creationId xmlns:a16="http://schemas.microsoft.com/office/drawing/2014/main" id="{AC50733B-9CE9-38F4-2022-40736748CD6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497" y="262233"/>
            <a:ext cx="684584" cy="684584"/>
          </a:xfrm>
          <a:prstGeom prst="rect">
            <a:avLst/>
          </a:prstGeom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444060F6-685C-FEBE-70DC-70DE57A9D45A}"/>
              </a:ext>
            </a:extLst>
          </p:cNvPr>
          <p:cNvSpPr txBox="1"/>
          <p:nvPr/>
        </p:nvSpPr>
        <p:spPr>
          <a:xfrm rot="19359546">
            <a:off x="7146033" y="2031765"/>
            <a:ext cx="2085703" cy="828413"/>
          </a:xfrm>
          <a:prstGeom prst="rect">
            <a:avLst/>
          </a:prstGeom>
          <a:noFill/>
        </p:spPr>
        <p:txBody>
          <a:bodyPr wrap="square">
            <a:prstTxWarp prst="textArchUp">
              <a:avLst>
                <a:gd name="adj" fmla="val 11925703"/>
              </a:avLst>
            </a:prstTxWarp>
            <a:spAutoFit/>
          </a:bodyPr>
          <a:lstStyle/>
          <a:p>
            <a:pPr algn="ctr"/>
            <a:r>
              <a:rPr lang="en-US" sz="1200" b="1">
                <a:solidFill>
                  <a:srgbClr val="00B050"/>
                </a:solidFill>
                <a:latin typeface="Century Gothic" panose="020B0502020202020204" pitchFamily="34" charset="0"/>
              </a:rPr>
              <a:t> </a:t>
            </a:r>
          </a:p>
          <a:p>
            <a:pPr algn="ctr"/>
            <a:r>
              <a:rPr lang="en-US" sz="1200" b="1">
                <a:solidFill>
                  <a:srgbClr val="00B050"/>
                </a:solidFill>
                <a:latin typeface="Century Gothic" panose="020B0502020202020204" pitchFamily="34" charset="0"/>
              </a:rPr>
              <a:t>Путь реализации</a:t>
            </a:r>
            <a:endParaRPr lang="ru-RU" sz="1200" b="1">
              <a:solidFill>
                <a:srgbClr val="00B050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6729A7-2906-1B5B-A24A-3DD43329E71A}"/>
              </a:ext>
            </a:extLst>
          </p:cNvPr>
          <p:cNvSpPr txBox="1"/>
          <p:nvPr/>
        </p:nvSpPr>
        <p:spPr>
          <a:xfrm>
            <a:off x="1650383" y="5273838"/>
            <a:ext cx="15817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>
                <a:latin typeface="Century Gothic" panose="020B0502020202020204" pitchFamily="34" charset="0"/>
              </a:rPr>
              <a:t>Цель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9D7CC4-122B-A5FF-8748-AB5680F42A90}"/>
              </a:ext>
            </a:extLst>
          </p:cNvPr>
          <p:cNvSpPr txBox="1"/>
          <p:nvPr/>
        </p:nvSpPr>
        <p:spPr>
          <a:xfrm>
            <a:off x="3946820" y="5273838"/>
            <a:ext cx="15817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>
                <a:latin typeface="Century Gothic" panose="020B0502020202020204" pitchFamily="34" charset="0"/>
              </a:rPr>
              <a:t>Решение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37C051-602C-D982-1CAA-39335617EFBD}"/>
              </a:ext>
            </a:extLst>
          </p:cNvPr>
          <p:cNvSpPr txBox="1"/>
          <p:nvPr/>
        </p:nvSpPr>
        <p:spPr>
          <a:xfrm>
            <a:off x="6206755" y="5273838"/>
            <a:ext cx="15817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>
                <a:latin typeface="Century Gothic" panose="020B0502020202020204" pitchFamily="34" charset="0"/>
              </a:rPr>
              <a:t>Поддержка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2BF7F0E0-3B97-B272-A514-32E9132D7ECE}"/>
              </a:ext>
            </a:extLst>
          </p:cNvPr>
          <p:cNvGrpSpPr/>
          <p:nvPr/>
        </p:nvGrpSpPr>
        <p:grpSpPr>
          <a:xfrm>
            <a:off x="6038311" y="2926588"/>
            <a:ext cx="1882841" cy="2342225"/>
            <a:chOff x="5852332" y="2914475"/>
            <a:chExt cx="1882841" cy="2342225"/>
          </a:xfrm>
        </p:grpSpPr>
        <p:grpSp>
          <p:nvGrpSpPr>
            <p:cNvPr id="63" name="Группа 62">
              <a:extLst>
                <a:ext uri="{FF2B5EF4-FFF2-40B4-BE49-F238E27FC236}">
                  <a16:creationId xmlns:a16="http://schemas.microsoft.com/office/drawing/2014/main" id="{F3015AC6-032E-CCFB-4C08-ADF31206D66E}"/>
                </a:ext>
              </a:extLst>
            </p:cNvPr>
            <p:cNvGrpSpPr/>
            <p:nvPr/>
          </p:nvGrpSpPr>
          <p:grpSpPr>
            <a:xfrm>
              <a:off x="5852332" y="2914475"/>
              <a:ext cx="1882841" cy="2342225"/>
              <a:chOff x="1204582" y="1615380"/>
              <a:chExt cx="1882841" cy="2342225"/>
            </a:xfrm>
          </p:grpSpPr>
          <p:grpSp>
            <p:nvGrpSpPr>
              <p:cNvPr id="65" name="Группа 64">
                <a:extLst>
                  <a:ext uri="{FF2B5EF4-FFF2-40B4-BE49-F238E27FC236}">
                    <a16:creationId xmlns:a16="http://schemas.microsoft.com/office/drawing/2014/main" id="{974432E5-C8B3-293E-30EA-A7255DDCE909}"/>
                  </a:ext>
                </a:extLst>
              </p:cNvPr>
              <p:cNvGrpSpPr/>
              <p:nvPr/>
            </p:nvGrpSpPr>
            <p:grpSpPr>
              <a:xfrm>
                <a:off x="1204585" y="1615381"/>
                <a:ext cx="1849881" cy="2342224"/>
                <a:chOff x="2285996" y="2667001"/>
                <a:chExt cx="2819404" cy="3474077"/>
              </a:xfrm>
              <a:solidFill>
                <a:schemeClr val="accent1">
                  <a:lumMod val="20000"/>
                  <a:lumOff val="80000"/>
                </a:schemeClr>
              </a:solidFill>
            </p:grpSpPr>
            <p:grpSp>
              <p:nvGrpSpPr>
                <p:cNvPr id="68" name="Группа 67">
                  <a:extLst>
                    <a:ext uri="{FF2B5EF4-FFF2-40B4-BE49-F238E27FC236}">
                      <a16:creationId xmlns:a16="http://schemas.microsoft.com/office/drawing/2014/main" id="{DA453D3D-0A9C-394C-6453-BEBEC39C3F53}"/>
                    </a:ext>
                  </a:extLst>
                </p:cNvPr>
                <p:cNvGrpSpPr/>
                <p:nvPr/>
              </p:nvGrpSpPr>
              <p:grpSpPr>
                <a:xfrm>
                  <a:off x="2286000" y="2667001"/>
                  <a:ext cx="2819400" cy="3474077"/>
                  <a:chOff x="685800" y="4155800"/>
                  <a:chExt cx="2590799" cy="950828"/>
                </a:xfrm>
                <a:grpFill/>
              </p:grpSpPr>
              <p:sp>
                <p:nvSpPr>
                  <p:cNvPr id="70" name="Скругленный прямоугольник 69">
                    <a:extLst>
                      <a:ext uri="{FF2B5EF4-FFF2-40B4-BE49-F238E27FC236}">
                        <a16:creationId xmlns:a16="http://schemas.microsoft.com/office/drawing/2014/main" id="{43F82D64-0138-AB7C-8A42-3ACB794D205B}"/>
                      </a:ext>
                    </a:extLst>
                  </p:cNvPr>
                  <p:cNvSpPr/>
                  <p:nvPr/>
                </p:nvSpPr>
                <p:spPr>
                  <a:xfrm>
                    <a:off x="685800" y="4155800"/>
                    <a:ext cx="2590799" cy="950828"/>
                  </a:xfrm>
                  <a:prstGeom prst="roundRect">
                    <a:avLst>
                      <a:gd name="adj" fmla="val 8975"/>
                    </a:avLst>
                  </a:prstGeom>
                  <a:grpFill/>
                  <a:ln>
                    <a:noFill/>
                  </a:ln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sz="1400"/>
                  </a:p>
                </p:txBody>
              </p:sp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81B9E38-A15F-1491-438F-61D3A5FB2ACB}"/>
                      </a:ext>
                    </a:extLst>
                  </p:cNvPr>
                  <p:cNvSpPr txBox="1"/>
                  <p:nvPr/>
                </p:nvSpPr>
                <p:spPr>
                  <a:xfrm>
                    <a:off x="790365" y="4704789"/>
                    <a:ext cx="2372300" cy="29986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GB" sz="1400">
                        <a:latin typeface="Century Gothic" panose="020B0502020202020204" pitchFamily="34" charset="0"/>
                      </a:rPr>
                      <a:t>Обучение молодёжи, рабочие места и условия</a:t>
                    </a:r>
                    <a:endParaRPr lang="en-GB" sz="1400" b="1">
                      <a:latin typeface="Century Gothic" panose="020B0502020202020204" pitchFamily="34" charset="0"/>
                    </a:endParaRPr>
                  </a:p>
                </p:txBody>
              </p:sp>
            </p:grpSp>
            <p:sp>
              <p:nvSpPr>
                <p:cNvPr id="69" name="Открывающая квадратная скобка 68">
                  <a:extLst>
                    <a:ext uri="{FF2B5EF4-FFF2-40B4-BE49-F238E27FC236}">
                      <a16:creationId xmlns:a16="http://schemas.microsoft.com/office/drawing/2014/main" id="{7ED6A96C-5BB3-7480-8596-E4657959EB59}"/>
                    </a:ext>
                  </a:extLst>
                </p:cNvPr>
                <p:cNvSpPr/>
                <p:nvPr/>
              </p:nvSpPr>
              <p:spPr>
                <a:xfrm rot="5400000">
                  <a:off x="3581397" y="1396717"/>
                  <a:ext cx="228600" cy="2819401"/>
                </a:xfrm>
                <a:prstGeom prst="leftBracket">
                  <a:avLst>
                    <a:gd name="adj" fmla="val 84262"/>
                  </a:avLst>
                </a:prstGeom>
                <a:grpFill/>
                <a:ln w="31750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sp>
            <p:nvSpPr>
              <p:cNvPr id="66" name="Прямоугольник с двумя скругленными соседними углами 65">
                <a:extLst>
                  <a:ext uri="{FF2B5EF4-FFF2-40B4-BE49-F238E27FC236}">
                    <a16:creationId xmlns:a16="http://schemas.microsoft.com/office/drawing/2014/main" id="{060BE1A9-241F-EE60-C6DE-12124C4F35EB}"/>
                  </a:ext>
                </a:extLst>
              </p:cNvPr>
              <p:cNvSpPr/>
              <p:nvPr/>
            </p:nvSpPr>
            <p:spPr>
              <a:xfrm>
                <a:off x="1204582" y="1615380"/>
                <a:ext cx="1849879" cy="1169551"/>
              </a:xfrm>
              <a:prstGeom prst="round2SameRect">
                <a:avLst>
                  <a:gd name="adj1" fmla="val 19721"/>
                  <a:gd name="adj2" fmla="val 0"/>
                </a:avLst>
              </a:prstGeom>
              <a:solidFill>
                <a:srgbClr val="0070C0">
                  <a:alpha val="1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B9E1FA1-50B3-2EEB-7AA6-46B38AEEC70B}"/>
                  </a:ext>
                </a:extLst>
              </p:cNvPr>
              <p:cNvSpPr txBox="1"/>
              <p:nvPr/>
            </p:nvSpPr>
            <p:spPr>
              <a:xfrm>
                <a:off x="1911766" y="2070561"/>
                <a:ext cx="11756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GB" sz="1200" b="1">
                    <a:solidFill>
                      <a:srgbClr val="0070C0"/>
                    </a:solidFill>
                    <a:latin typeface="Century Gothic" panose="020B0502020202020204" pitchFamily="34" charset="0"/>
                  </a:rPr>
                  <a:t>ПРОЕКТ ВСЕМИРНОГО БАНКА</a:t>
                </a:r>
              </a:p>
            </p:txBody>
          </p:sp>
        </p:grpSp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9E1F1286-FD5E-705C-5EBB-46C25D8E11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966399" y="3316591"/>
              <a:ext cx="563999" cy="563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1575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8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8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8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8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8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8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8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8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8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8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8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8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8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8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8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8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8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8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00"/>
                            </p:stCondLst>
                            <p:childTnLst>
                              <p:par>
                                <p:cTn id="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108" grpId="0"/>
      <p:bldP spid="5" grpId="0"/>
      <p:bldP spid="6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Скругленный прямоугольник 21">
            <a:extLst>
              <a:ext uri="{FF2B5EF4-FFF2-40B4-BE49-F238E27FC236}">
                <a16:creationId xmlns:a16="http://schemas.microsoft.com/office/drawing/2014/main" id="{544B22EC-FD26-B2A5-0AC7-2EE9C11865BD}"/>
              </a:ext>
            </a:extLst>
          </p:cNvPr>
          <p:cNvSpPr/>
          <p:nvPr/>
        </p:nvSpPr>
        <p:spPr>
          <a:xfrm>
            <a:off x="833365" y="2946400"/>
            <a:ext cx="5225144" cy="2157955"/>
          </a:xfrm>
          <a:prstGeom prst="roundRect">
            <a:avLst>
              <a:gd name="adj" fmla="val 24924"/>
            </a:avLst>
          </a:prstGeom>
          <a:solidFill>
            <a:schemeClr val="bg1">
              <a:lumMod val="65000"/>
              <a:alpha val="2178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2">
            <a:extLst>
              <a:ext uri="{FF2B5EF4-FFF2-40B4-BE49-F238E27FC236}">
                <a16:creationId xmlns:a16="http://schemas.microsoft.com/office/drawing/2014/main" id="{8A8768FF-7E68-95FB-165E-26ABD0923BA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497" y="262233"/>
            <a:ext cx="684584" cy="68458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7722426-9CB3-FA8D-A859-36ED21198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8866" y="2933982"/>
            <a:ext cx="1867946" cy="18679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0B6048-937E-E7F3-82E1-B9753A87A231}"/>
              </a:ext>
            </a:extLst>
          </p:cNvPr>
          <p:cNvSpPr txBox="1"/>
          <p:nvPr/>
        </p:nvSpPr>
        <p:spPr>
          <a:xfrm>
            <a:off x="1186606" y="3296706"/>
            <a:ext cx="4761073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>
                <a:solidFill>
                  <a:srgbClr val="00B050"/>
                </a:solidFill>
                <a:latin typeface="Century Gothic" panose="020B0502020202020204" pitchFamily="34" charset="0"/>
              </a:rPr>
              <a:t>Мадина</a:t>
            </a:r>
            <a:r>
              <a:rPr lang="en-US" sz="3200" b="1">
                <a:solidFill>
                  <a:srgbClr val="006AB6"/>
                </a:solidFill>
                <a:latin typeface="Century Gothic" panose="020B0502020202020204" pitchFamily="34" charset="0"/>
              </a:rPr>
              <a:t> — </a:t>
            </a: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006AB6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молодая безработная девушка из Андижана</a:t>
            </a:r>
            <a:r>
              <a:rPr kumimoji="0" lang="ru-RU" sz="3200" b="1" i="0" u="none" strike="noStrike" kern="1200" cap="none" spc="0" normalizeH="0" baseline="0" noProof="0">
                <a:ln>
                  <a:noFill/>
                </a:ln>
                <a:solidFill>
                  <a:srgbClr val="006AB6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 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006AB6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21B9E0E-3D44-0F40-26C4-06451A00E0A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497" y="262233"/>
            <a:ext cx="684584" cy="684584"/>
          </a:xfrm>
          <a:prstGeom prst="rect">
            <a:avLst/>
          </a:prstGeom>
        </p:spPr>
      </p:pic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F5C64848-27D3-4794-72BD-587A18C5E751}"/>
              </a:ext>
            </a:extLst>
          </p:cNvPr>
          <p:cNvGrpSpPr/>
          <p:nvPr/>
        </p:nvGrpSpPr>
        <p:grpSpPr>
          <a:xfrm rot="21013257">
            <a:off x="5787423" y="255314"/>
            <a:ext cx="2497158" cy="2497158"/>
            <a:chOff x="7134962" y="311473"/>
            <a:chExt cx="2497158" cy="249715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095FF6C-3C93-5B2F-EEBC-7A73068ACACB}"/>
                </a:ext>
              </a:extLst>
            </p:cNvPr>
            <p:cNvSpPr txBox="1"/>
            <p:nvPr/>
          </p:nvSpPr>
          <p:spPr>
            <a:xfrm rot="395280">
              <a:off x="7372931" y="1041293"/>
              <a:ext cx="182640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>
                  <a:solidFill>
                    <a:srgbClr val="0070C0"/>
                  </a:solidFill>
                  <a:latin typeface="Century Gothic" panose="020B0502020202020204" pitchFamily="34" charset="0"/>
                </a:rPr>
                <a:t>Уехать в Ташкент, </a:t>
              </a:r>
              <a:r>
                <a:rPr lang="en-GB" sz="1400">
                  <a:solidFill>
                    <a:srgbClr val="0070C0"/>
                  </a:solidFill>
                  <a:latin typeface="Century Gothic" panose="020B0502020202020204" pitchFamily="34" charset="0"/>
                </a:rPr>
                <a:t>чтобы найти работу</a:t>
              </a:r>
            </a:p>
          </p:txBody>
        </p:sp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75DB0155-843F-CCDE-E909-84686469A2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13000"/>
            </a:blip>
            <a:stretch>
              <a:fillRect/>
            </a:stretch>
          </p:blipFill>
          <p:spPr>
            <a:xfrm rot="20816221">
              <a:off x="7134962" y="311473"/>
              <a:ext cx="2497158" cy="2497158"/>
            </a:xfrm>
            <a:prstGeom prst="rect">
              <a:avLst/>
            </a:prstGeom>
          </p:spPr>
        </p:pic>
        <p:pic>
          <p:nvPicPr>
            <p:cNvPr id="13" name="Рисунок 12">
              <a:extLst>
                <a:ext uri="{FF2B5EF4-FFF2-40B4-BE49-F238E27FC236}">
                  <a16:creationId xmlns:a16="http://schemas.microsoft.com/office/drawing/2014/main" id="{105CBC6C-1EFA-B23A-F5D3-6BCD93187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203003">
              <a:off x="9195869" y="1203269"/>
              <a:ext cx="267757" cy="267757"/>
            </a:xfrm>
            <a:prstGeom prst="rect">
              <a:avLst/>
            </a:prstGeom>
          </p:spPr>
        </p:pic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04FBFB80-DAC5-6D6D-A977-BBE1A8AC063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0852542">
              <a:off x="7915259" y="495633"/>
              <a:ext cx="404463" cy="404463"/>
            </a:xfrm>
            <a:prstGeom prst="rect">
              <a:avLst/>
            </a:prstGeom>
          </p:spPr>
        </p:pic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0B6B11C0-652D-44E1-9DF2-1DB381A02B76}"/>
              </a:ext>
            </a:extLst>
          </p:cNvPr>
          <p:cNvGrpSpPr/>
          <p:nvPr/>
        </p:nvGrpSpPr>
        <p:grpSpPr>
          <a:xfrm rot="-1920000">
            <a:off x="8706473" y="795279"/>
            <a:ext cx="2497158" cy="2497158"/>
            <a:chOff x="8895469" y="2276775"/>
            <a:chExt cx="2497158" cy="2497158"/>
          </a:xfrm>
        </p:grpSpPr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D9DFF63A-DF13-0838-3321-951EA4729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13000"/>
            </a:blip>
            <a:stretch>
              <a:fillRect/>
            </a:stretch>
          </p:blipFill>
          <p:spPr>
            <a:xfrm rot="2355192">
              <a:off x="8895469" y="2276775"/>
              <a:ext cx="2497158" cy="2497158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F8C6984-A131-F1BA-12FB-133F94F79E43}"/>
                </a:ext>
              </a:extLst>
            </p:cNvPr>
            <p:cNvSpPr txBox="1"/>
            <p:nvPr/>
          </p:nvSpPr>
          <p:spPr>
            <a:xfrm rot="2111816">
              <a:off x="9375671" y="2825439"/>
              <a:ext cx="182640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>
                  <a:solidFill>
                    <a:srgbClr val="0070C0"/>
                  </a:solidFill>
                  <a:latin typeface="Century Gothic" panose="020B0502020202020204" pitchFamily="34" charset="0"/>
                </a:rPr>
                <a:t>Уехать из Узбекистана, </a:t>
              </a:r>
              <a:r>
                <a:rPr lang="en-GB" sz="1400">
                  <a:solidFill>
                    <a:srgbClr val="0070C0"/>
                  </a:solidFill>
                  <a:latin typeface="Century Gothic" panose="020B0502020202020204" pitchFamily="34" charset="0"/>
                </a:rPr>
                <a:t>чтобы учиться и работать за рубежом</a:t>
              </a:r>
            </a:p>
          </p:txBody>
        </p:sp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639F0225-EDDF-0119-8953-8D3755653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6326181">
              <a:off x="10171022" y="3915905"/>
              <a:ext cx="267757" cy="259810"/>
            </a:xfrm>
            <a:prstGeom prst="rect">
              <a:avLst/>
            </a:prstGeom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E0B908A8-762B-F64A-3989-E55A23AA1E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0843110">
              <a:off x="10331875" y="2551312"/>
              <a:ext cx="267757" cy="259810"/>
            </a:xfrm>
            <a:prstGeom prst="rect">
              <a:avLst/>
            </a:prstGeom>
          </p:spPr>
        </p:pic>
      </p:grp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3D88697A-F50A-0350-47E9-FB7F318526A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6808866" y="4599878"/>
            <a:ext cx="1867947" cy="48611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DB00EF8-0475-25B0-0D05-2ECAF4438381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6000"/>
          </a:blip>
          <a:stretch>
            <a:fillRect/>
          </a:stretch>
        </p:blipFill>
        <p:spPr>
          <a:xfrm>
            <a:off x="12347549" y="2046224"/>
            <a:ext cx="3342191" cy="334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662539"/>
      </p:ext>
    </p:extLst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64B29B1-CF4A-0EA8-9D58-E7592ECD1C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7959237" y="1708651"/>
            <a:ext cx="3342191" cy="334219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DEF72EF-F791-F923-F605-D9945BE994F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497" y="262233"/>
            <a:ext cx="684584" cy="684584"/>
          </a:xfrm>
          <a:prstGeom prst="rect">
            <a:avLst/>
          </a:prstGeom>
        </p:spPr>
      </p:pic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291C3103-90D1-42C2-9420-819B8D439D71}"/>
              </a:ext>
            </a:extLst>
          </p:cNvPr>
          <p:cNvGrpSpPr/>
          <p:nvPr/>
        </p:nvGrpSpPr>
        <p:grpSpPr>
          <a:xfrm rot="17987123">
            <a:off x="-4818685" y="1568162"/>
            <a:ext cx="2497158" cy="2497158"/>
            <a:chOff x="7134962" y="311473"/>
            <a:chExt cx="2497158" cy="249715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A04B7AB-5A4B-D572-1C70-7A21EDF890A1}"/>
                </a:ext>
              </a:extLst>
            </p:cNvPr>
            <p:cNvSpPr txBox="1"/>
            <p:nvPr/>
          </p:nvSpPr>
          <p:spPr>
            <a:xfrm rot="395280">
              <a:off x="7372931" y="1041293"/>
              <a:ext cx="182640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>
                  <a:solidFill>
                    <a:srgbClr val="0070C0"/>
                  </a:solidFill>
                  <a:latin typeface="Century Gothic" panose="020B0502020202020204" pitchFamily="34" charset="0"/>
                </a:rPr>
                <a:t>Уехать в Ташкент, </a:t>
              </a:r>
              <a:r>
                <a:rPr lang="en-GB" sz="1400">
                  <a:solidFill>
                    <a:srgbClr val="0070C0"/>
                  </a:solidFill>
                  <a:latin typeface="Century Gothic" panose="020B0502020202020204" pitchFamily="34" charset="0"/>
                </a:rPr>
                <a:t>чтобы найти работу</a:t>
              </a:r>
            </a:p>
          </p:txBody>
        </p:sp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91D1677D-46EE-BD0D-BFEF-0E69E670C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13000"/>
            </a:blip>
            <a:stretch>
              <a:fillRect/>
            </a:stretch>
          </p:blipFill>
          <p:spPr>
            <a:xfrm rot="20816221">
              <a:off x="7134962" y="311473"/>
              <a:ext cx="2497158" cy="2497158"/>
            </a:xfrm>
            <a:prstGeom prst="rect">
              <a:avLst/>
            </a:prstGeom>
          </p:spPr>
        </p:pic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4F9DACE5-72ED-B17A-CC13-BCA5A20BBC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203003">
              <a:off x="9195869" y="1203269"/>
              <a:ext cx="267757" cy="267757"/>
            </a:xfrm>
            <a:prstGeom prst="rect">
              <a:avLst/>
            </a:prstGeom>
          </p:spPr>
        </p:pic>
        <p:pic>
          <p:nvPicPr>
            <p:cNvPr id="24" name="Рисунок 23">
              <a:extLst>
                <a:ext uri="{FF2B5EF4-FFF2-40B4-BE49-F238E27FC236}">
                  <a16:creationId xmlns:a16="http://schemas.microsoft.com/office/drawing/2014/main" id="{0CCA5C9A-FDF3-4784-C9F1-D26F5C6C1A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0852542">
              <a:off x="7915259" y="495633"/>
              <a:ext cx="404463" cy="404463"/>
            </a:xfrm>
            <a:prstGeom prst="rect">
              <a:avLst/>
            </a:prstGeom>
          </p:spPr>
        </p:pic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1601BFB2-7A42-252E-ADA3-9CB937F8991E}"/>
              </a:ext>
            </a:extLst>
          </p:cNvPr>
          <p:cNvGrpSpPr/>
          <p:nvPr/>
        </p:nvGrpSpPr>
        <p:grpSpPr>
          <a:xfrm rot="18679503">
            <a:off x="-2802267" y="2177636"/>
            <a:ext cx="2497158" cy="2497158"/>
            <a:chOff x="8895469" y="2276775"/>
            <a:chExt cx="2497158" cy="2497158"/>
          </a:xfrm>
        </p:grpSpPr>
        <p:pic>
          <p:nvPicPr>
            <p:cNvPr id="26" name="Рисунок 25">
              <a:extLst>
                <a:ext uri="{FF2B5EF4-FFF2-40B4-BE49-F238E27FC236}">
                  <a16:creationId xmlns:a16="http://schemas.microsoft.com/office/drawing/2014/main" id="{1B3CF514-1E9D-CBD0-EE32-FF1924C0A2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13000"/>
            </a:blip>
            <a:stretch>
              <a:fillRect/>
            </a:stretch>
          </p:blipFill>
          <p:spPr>
            <a:xfrm rot="2355192">
              <a:off x="8895469" y="2276775"/>
              <a:ext cx="2497158" cy="2497158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4B51124-81F9-9BA0-1FD7-04339FD1FBC5}"/>
                </a:ext>
              </a:extLst>
            </p:cNvPr>
            <p:cNvSpPr txBox="1"/>
            <p:nvPr/>
          </p:nvSpPr>
          <p:spPr>
            <a:xfrm rot="2111816">
              <a:off x="9375671" y="2825439"/>
              <a:ext cx="182640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>
                  <a:solidFill>
                    <a:srgbClr val="0070C0"/>
                  </a:solidFill>
                  <a:latin typeface="Century Gothic" panose="020B0502020202020204" pitchFamily="34" charset="0"/>
                </a:rPr>
                <a:t>Уехать из Узбекистана, </a:t>
              </a:r>
              <a:r>
                <a:rPr lang="en-GB" sz="1400">
                  <a:solidFill>
                    <a:srgbClr val="0070C0"/>
                  </a:solidFill>
                  <a:latin typeface="Century Gothic" panose="020B0502020202020204" pitchFamily="34" charset="0"/>
                </a:rPr>
                <a:t>чтобы учиться и работать за рубежом</a:t>
              </a:r>
            </a:p>
          </p:txBody>
        </p:sp>
        <p:pic>
          <p:nvPicPr>
            <p:cNvPr id="28" name="Рисунок 27">
              <a:extLst>
                <a:ext uri="{FF2B5EF4-FFF2-40B4-BE49-F238E27FC236}">
                  <a16:creationId xmlns:a16="http://schemas.microsoft.com/office/drawing/2014/main" id="{65AF7A8D-2936-4A86-AC4D-55EC23C8D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6326181">
              <a:off x="10171022" y="3915905"/>
              <a:ext cx="267757" cy="259810"/>
            </a:xfrm>
            <a:prstGeom prst="rect">
              <a:avLst/>
            </a:prstGeom>
          </p:spPr>
        </p:pic>
        <p:pic>
          <p:nvPicPr>
            <p:cNvPr id="29" name="Рисунок 28">
              <a:extLst>
                <a:ext uri="{FF2B5EF4-FFF2-40B4-BE49-F238E27FC236}">
                  <a16:creationId xmlns:a16="http://schemas.microsoft.com/office/drawing/2014/main" id="{A1625062-0708-561A-A256-D016C3403E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0843110">
              <a:off x="10331875" y="2551312"/>
              <a:ext cx="267757" cy="259810"/>
            </a:xfrm>
            <a:prstGeom prst="rect">
              <a:avLst/>
            </a:prstGeom>
          </p:spPr>
        </p:pic>
      </p:grp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5130BCC-F82C-67A5-B15A-E1D0A5491E05}"/>
              </a:ext>
            </a:extLst>
          </p:cNvPr>
          <p:cNvSpPr/>
          <p:nvPr/>
        </p:nvSpPr>
        <p:spPr>
          <a:xfrm>
            <a:off x="0" y="76193"/>
            <a:ext cx="5106521" cy="4182458"/>
          </a:xfrm>
          <a:prstGeom prst="rect">
            <a:avLst/>
          </a:prstGeom>
          <a:solidFill>
            <a:srgbClr val="F8FBFD">
              <a:alpha val="6850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олилиния 30">
            <a:extLst>
              <a:ext uri="{FF2B5EF4-FFF2-40B4-BE49-F238E27FC236}">
                <a16:creationId xmlns:a16="http://schemas.microsoft.com/office/drawing/2014/main" id="{27B1335D-948F-8FDF-0E65-8E09A5BD8C37}"/>
              </a:ext>
            </a:extLst>
          </p:cNvPr>
          <p:cNvSpPr/>
          <p:nvPr/>
        </p:nvSpPr>
        <p:spPr>
          <a:xfrm>
            <a:off x="2459357" y="3653247"/>
            <a:ext cx="8034467" cy="1512294"/>
          </a:xfrm>
          <a:custGeom>
            <a:avLst/>
            <a:gdLst>
              <a:gd name="connsiteX0" fmla="*/ 0 w 8090115"/>
              <a:gd name="connsiteY0" fmla="*/ 1162373 h 1240780"/>
              <a:gd name="connsiteX1" fmla="*/ 3146156 w 8090115"/>
              <a:gd name="connsiteY1" fmla="*/ 216976 h 1240780"/>
              <a:gd name="connsiteX2" fmla="*/ 5827363 w 8090115"/>
              <a:gd name="connsiteY2" fmla="*/ 1239864 h 1240780"/>
              <a:gd name="connsiteX3" fmla="*/ 8090115 w 8090115"/>
              <a:gd name="connsiteY3" fmla="*/ 0 h 1240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90115" h="1240780">
                <a:moveTo>
                  <a:pt x="0" y="1162373"/>
                </a:moveTo>
                <a:cubicBezTo>
                  <a:pt x="1087464" y="683217"/>
                  <a:pt x="2174929" y="204061"/>
                  <a:pt x="3146156" y="216976"/>
                </a:cubicBezTo>
                <a:cubicBezTo>
                  <a:pt x="4117383" y="229891"/>
                  <a:pt x="5003370" y="1276027"/>
                  <a:pt x="5827363" y="1239864"/>
                </a:cubicBezTo>
                <a:cubicBezTo>
                  <a:pt x="6651356" y="1203701"/>
                  <a:pt x="7370735" y="601850"/>
                  <a:pt x="8090115" y="0"/>
                </a:cubicBezTo>
              </a:path>
            </a:pathLst>
          </a:custGeom>
          <a:noFill/>
          <a:ln w="508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75EB7E5B-B43E-AEAA-B4D7-EC9CE2FF28D7}"/>
              </a:ext>
            </a:extLst>
          </p:cNvPr>
          <p:cNvSpPr txBox="1">
            <a:spLocks/>
          </p:cNvSpPr>
          <p:nvPr/>
        </p:nvSpPr>
        <p:spPr>
          <a:xfrm>
            <a:off x="1874867" y="1360670"/>
            <a:ext cx="4671154" cy="609824"/>
          </a:xfrm>
          <a:prstGeom prst="rect">
            <a:avLst/>
          </a:prstGeom>
        </p:spPr>
        <p:txBody>
          <a:bodyPr lIns="96012" tIns="48006" rIns="96012" bIns="48006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3200" b="1">
                <a:solidFill>
                  <a:srgbClr val="00B050"/>
                </a:solidFill>
                <a:latin typeface="Century Gothic"/>
                <a:ea typeface="Tw Cen MT Condensed Extra Bold" charset="0"/>
                <a:cs typeface="Tw Cen MT Condensed Extra Bold" charset="0"/>
              </a:rPr>
              <a:t>#</a:t>
            </a:r>
            <a:r>
              <a:rPr lang="en-US" sz="3200" b="1" err="1">
                <a:solidFill>
                  <a:srgbClr val="00B050"/>
                </a:solidFill>
                <a:latin typeface="Century Gothic"/>
                <a:ea typeface="Tw Cen MT Condensed Extra Bold" charset="0"/>
                <a:cs typeface="Tw Cen MT Condensed Extra Bold" charset="0"/>
              </a:rPr>
              <a:t>Digital_Inclusion</a:t>
            </a:r>
            <a:endParaRPr lang="en-US" sz="3200" b="1">
              <a:solidFill>
                <a:srgbClr val="00B050"/>
              </a:solidFill>
              <a:latin typeface="Century Gothic"/>
              <a:ea typeface="Tw Cen MT Condensed Extra Bold" charset="0"/>
              <a:cs typeface="Tw Cen MT Condensed Extra Bold" charset="0"/>
            </a:endParaRPr>
          </a:p>
          <a:p>
            <a:pPr algn="r"/>
            <a:r>
              <a:rPr lang="en-US" sz="3200">
                <a:latin typeface="Century Gothic"/>
                <a:ea typeface="Tw Cen MT Condensed Extra Bold" charset="0"/>
                <a:cs typeface="Tw Cen MT Condensed Extra Bold" charset="0"/>
              </a:rPr>
              <a:t>Пакет для </a:t>
            </a:r>
            <a:r>
              <a:rPr lang="en-US" sz="3200" err="1">
                <a:solidFill>
                  <a:srgbClr val="00B050"/>
                </a:solidFill>
                <a:latin typeface="Century Gothic"/>
                <a:ea typeface="Tw Cen MT Condensed Extra Bold" charset="0"/>
                <a:cs typeface="Tw Cen MT Condensed Extra Bold" charset="0"/>
              </a:rPr>
              <a:t>Мадины</a:t>
            </a:r>
            <a:endParaRPr lang="en-GB" sz="3200">
              <a:solidFill>
                <a:srgbClr val="00B050"/>
              </a:solidFill>
              <a:latin typeface="Century Gothic"/>
              <a:ea typeface="Tw Cen MT Condensed Extra Bold" charset="0"/>
              <a:cs typeface="Tw Cen MT Condensed Extra Bold" charset="0"/>
            </a:endParaRPr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05D2703C-249D-E27B-5E0E-BB20A8164D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659" y="3247704"/>
            <a:ext cx="1867946" cy="1867946"/>
          </a:xfrm>
          <a:prstGeom prst="rect">
            <a:avLst/>
          </a:prstGeom>
        </p:spPr>
      </p:pic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22491467-95AC-ECB3-7546-E6EFF1D4D4BB}"/>
              </a:ext>
            </a:extLst>
          </p:cNvPr>
          <p:cNvGrpSpPr/>
          <p:nvPr/>
        </p:nvGrpSpPr>
        <p:grpSpPr>
          <a:xfrm>
            <a:off x="3157060" y="3576021"/>
            <a:ext cx="1749694" cy="1469418"/>
            <a:chOff x="1204581" y="1615380"/>
            <a:chExt cx="1849885" cy="2972278"/>
          </a:xfrm>
        </p:grpSpPr>
        <p:grpSp>
          <p:nvGrpSpPr>
            <p:cNvPr id="35" name="Группа 34">
              <a:extLst>
                <a:ext uri="{FF2B5EF4-FFF2-40B4-BE49-F238E27FC236}">
                  <a16:creationId xmlns:a16="http://schemas.microsoft.com/office/drawing/2014/main" id="{13864674-1BCB-F9DE-0BD0-FC80043BD56A}"/>
                </a:ext>
              </a:extLst>
            </p:cNvPr>
            <p:cNvGrpSpPr/>
            <p:nvPr/>
          </p:nvGrpSpPr>
          <p:grpSpPr>
            <a:xfrm>
              <a:off x="1204581" y="1632313"/>
              <a:ext cx="1849885" cy="2955345"/>
              <a:chOff x="2285990" y="2692115"/>
              <a:chExt cx="2819410" cy="4383480"/>
            </a:xfrm>
            <a:solidFill>
              <a:schemeClr val="accent1">
                <a:lumMod val="20000"/>
                <a:lumOff val="80000"/>
              </a:schemeClr>
            </a:solidFill>
          </p:grpSpPr>
          <p:grpSp>
            <p:nvGrpSpPr>
              <p:cNvPr id="38" name="Группа 37">
                <a:extLst>
                  <a:ext uri="{FF2B5EF4-FFF2-40B4-BE49-F238E27FC236}">
                    <a16:creationId xmlns:a16="http://schemas.microsoft.com/office/drawing/2014/main" id="{1A3FBCEE-B9DD-0262-E805-D9887290992B}"/>
                  </a:ext>
                </a:extLst>
              </p:cNvPr>
              <p:cNvGrpSpPr/>
              <p:nvPr/>
            </p:nvGrpSpPr>
            <p:grpSpPr>
              <a:xfrm>
                <a:off x="2286000" y="2692115"/>
                <a:ext cx="2819400" cy="4383480"/>
                <a:chOff x="685800" y="4162675"/>
                <a:chExt cx="2590799" cy="1199725"/>
              </a:xfrm>
              <a:grpFill/>
            </p:grpSpPr>
            <p:sp>
              <p:nvSpPr>
                <p:cNvPr id="40" name="Скругленный прямоугольник 39">
                  <a:extLst>
                    <a:ext uri="{FF2B5EF4-FFF2-40B4-BE49-F238E27FC236}">
                      <a16:creationId xmlns:a16="http://schemas.microsoft.com/office/drawing/2014/main" id="{A8322816-C37F-CABC-DCC4-7B3260075D59}"/>
                    </a:ext>
                  </a:extLst>
                </p:cNvPr>
                <p:cNvSpPr/>
                <p:nvPr/>
              </p:nvSpPr>
              <p:spPr>
                <a:xfrm>
                  <a:off x="685800" y="4162675"/>
                  <a:ext cx="2590799" cy="1199725"/>
                </a:xfrm>
                <a:prstGeom prst="roundRect">
                  <a:avLst>
                    <a:gd name="adj" fmla="val 8975"/>
                  </a:avLst>
                </a:prstGeom>
                <a:grpFill/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400"/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E8052FE-414E-17A7-7990-AF86BAEB408B}"/>
                    </a:ext>
                  </a:extLst>
                </p:cNvPr>
                <p:cNvSpPr txBox="1"/>
                <p:nvPr/>
              </p:nvSpPr>
              <p:spPr>
                <a:xfrm>
                  <a:off x="1003874" y="4640931"/>
                  <a:ext cx="1954633" cy="682365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t">
                  <a:spAutoFit/>
                </a:bodyPr>
                <a:lstStyle/>
                <a:p>
                  <a:pPr algn="ctr"/>
                  <a:r>
                    <a:rPr lang="en-GB" sz="1200" dirty="0" err="1">
                      <a:latin typeface="Century Gothic"/>
                    </a:rPr>
                    <a:t>цифровые</a:t>
                  </a:r>
                  <a:r>
                    <a:rPr lang="en-GB" sz="1200" dirty="0">
                      <a:latin typeface="Century Gothic"/>
                    </a:rPr>
                    <a:t> </a:t>
                  </a:r>
                  <a:r>
                    <a:rPr lang="en-GB" sz="1200" dirty="0" err="1">
                      <a:latin typeface="Century Gothic"/>
                    </a:rPr>
                    <a:t>навыки</a:t>
                  </a:r>
                  <a:r>
                    <a:rPr lang="en-GB" sz="1200" dirty="0">
                      <a:latin typeface="Century Gothic"/>
                    </a:rPr>
                    <a:t> (ИТ, </a:t>
                  </a:r>
                  <a:r>
                    <a:rPr lang="en-GB" sz="1200" dirty="0" err="1">
                      <a:latin typeface="Century Gothic"/>
                    </a:rPr>
                    <a:t>языки</a:t>
                  </a:r>
                  <a:r>
                    <a:rPr lang="en-GB" sz="1200" dirty="0">
                      <a:latin typeface="Century Gothic"/>
                    </a:rPr>
                    <a:t>, </a:t>
                  </a:r>
                  <a:r>
                    <a:rPr lang="en-GB" sz="1200" dirty="0" err="1">
                      <a:latin typeface="Century Gothic"/>
                    </a:rPr>
                    <a:t>мягкие</a:t>
                  </a:r>
                  <a:r>
                    <a:rPr lang="en-GB" sz="1200" dirty="0">
                      <a:latin typeface="Century Gothic"/>
                    </a:rPr>
                    <a:t> </a:t>
                  </a:r>
                  <a:r>
                    <a:rPr lang="en-GB" sz="1200" dirty="0" err="1">
                      <a:latin typeface="Century Gothic"/>
                    </a:rPr>
                    <a:t>навыки</a:t>
                  </a:r>
                  <a:r>
                    <a:rPr lang="en-GB" sz="1200" dirty="0">
                      <a:latin typeface="Century Gothic"/>
                    </a:rPr>
                    <a:t>)</a:t>
                  </a:r>
                  <a:endParaRPr lang="en-GB" sz="1200" b="1" dirty="0">
                    <a:latin typeface="Century Gothic" panose="020B0502020202020204" pitchFamily="34" charset="0"/>
                  </a:endParaRPr>
                </a:p>
              </p:txBody>
            </p:sp>
          </p:grpSp>
          <p:sp>
            <p:nvSpPr>
              <p:cNvPr id="39" name="Открывающая квадратная скобка 38">
                <a:extLst>
                  <a:ext uri="{FF2B5EF4-FFF2-40B4-BE49-F238E27FC236}">
                    <a16:creationId xmlns:a16="http://schemas.microsoft.com/office/drawing/2014/main" id="{0D1FEE3D-68E3-BDE1-428D-8650FB23AB07}"/>
                  </a:ext>
                </a:extLst>
              </p:cNvPr>
              <p:cNvSpPr/>
              <p:nvPr/>
            </p:nvSpPr>
            <p:spPr>
              <a:xfrm rot="5400000">
                <a:off x="3581391" y="1397179"/>
                <a:ext cx="228600" cy="2819401"/>
              </a:xfrm>
              <a:prstGeom prst="leftBracket">
                <a:avLst>
                  <a:gd name="adj" fmla="val 84262"/>
                </a:avLst>
              </a:prstGeom>
              <a:grpFill/>
              <a:ln w="317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36" name="Прямоугольник с двумя скругленными соседними углами 35">
              <a:extLst>
                <a:ext uri="{FF2B5EF4-FFF2-40B4-BE49-F238E27FC236}">
                  <a16:creationId xmlns:a16="http://schemas.microsoft.com/office/drawing/2014/main" id="{4F6AF1AE-4F55-0868-45B9-378BC93FE328}"/>
                </a:ext>
              </a:extLst>
            </p:cNvPr>
            <p:cNvSpPr/>
            <p:nvPr/>
          </p:nvSpPr>
          <p:spPr>
            <a:xfrm>
              <a:off x="1204582" y="1615380"/>
              <a:ext cx="1849879" cy="1169551"/>
            </a:xfrm>
            <a:prstGeom prst="round2SameRect">
              <a:avLst>
                <a:gd name="adj1" fmla="val 19721"/>
                <a:gd name="adj2" fmla="val 0"/>
              </a:avLst>
            </a:prstGeom>
            <a:solidFill>
              <a:srgbClr val="0070C0">
                <a:alpha val="1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CFCE5FC-D008-A3F3-C192-6CB83B35723B}"/>
                </a:ext>
              </a:extLst>
            </p:cNvPr>
            <p:cNvSpPr txBox="1"/>
            <p:nvPr/>
          </p:nvSpPr>
          <p:spPr>
            <a:xfrm>
              <a:off x="1356243" y="1911676"/>
              <a:ext cx="1612527" cy="7470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>
                  <a:solidFill>
                    <a:srgbClr val="0070C0"/>
                  </a:solidFill>
                  <a:latin typeface="Century Gothic" panose="020B0502020202020204" pitchFamily="34" charset="0"/>
                </a:rPr>
                <a:t>ОБУЧЕНИЕ</a:t>
              </a:r>
            </a:p>
          </p:txBody>
        </p:sp>
      </p:grp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4A30F59A-2AA9-1343-00D2-7EECF890E24E}"/>
              </a:ext>
            </a:extLst>
          </p:cNvPr>
          <p:cNvGrpSpPr/>
          <p:nvPr/>
        </p:nvGrpSpPr>
        <p:grpSpPr>
          <a:xfrm>
            <a:off x="8483035" y="4409373"/>
            <a:ext cx="1749694" cy="1620145"/>
            <a:chOff x="1204581" y="1564568"/>
            <a:chExt cx="1849885" cy="3277162"/>
          </a:xfrm>
        </p:grpSpPr>
        <p:grpSp>
          <p:nvGrpSpPr>
            <p:cNvPr id="43" name="Группа 42">
              <a:extLst>
                <a:ext uri="{FF2B5EF4-FFF2-40B4-BE49-F238E27FC236}">
                  <a16:creationId xmlns:a16="http://schemas.microsoft.com/office/drawing/2014/main" id="{CB4F158E-EE94-D1E9-CE2C-A19DCA5F008C}"/>
                </a:ext>
              </a:extLst>
            </p:cNvPr>
            <p:cNvGrpSpPr/>
            <p:nvPr/>
          </p:nvGrpSpPr>
          <p:grpSpPr>
            <a:xfrm>
              <a:off x="1204581" y="1564568"/>
              <a:ext cx="1849885" cy="3277162"/>
              <a:chOff x="2285990" y="2591632"/>
              <a:chExt cx="2819410" cy="4860812"/>
            </a:xfrm>
            <a:solidFill>
              <a:schemeClr val="accent1">
                <a:lumMod val="20000"/>
                <a:lumOff val="80000"/>
              </a:schemeClr>
            </a:solidFill>
          </p:grpSpPr>
          <p:grpSp>
            <p:nvGrpSpPr>
              <p:cNvPr id="46" name="Группа 45">
                <a:extLst>
                  <a:ext uri="{FF2B5EF4-FFF2-40B4-BE49-F238E27FC236}">
                    <a16:creationId xmlns:a16="http://schemas.microsoft.com/office/drawing/2014/main" id="{334D8F26-6FF7-2594-1DD4-BE5BEE15E587}"/>
                  </a:ext>
                </a:extLst>
              </p:cNvPr>
              <p:cNvGrpSpPr/>
              <p:nvPr/>
            </p:nvGrpSpPr>
            <p:grpSpPr>
              <a:xfrm>
                <a:off x="2286000" y="2591632"/>
                <a:ext cx="2819400" cy="4860812"/>
                <a:chOff x="685800" y="4135173"/>
                <a:chExt cx="2590799" cy="1330367"/>
              </a:xfrm>
              <a:grpFill/>
            </p:grpSpPr>
            <p:sp>
              <p:nvSpPr>
                <p:cNvPr id="48" name="Скругленный прямоугольник 47">
                  <a:extLst>
                    <a:ext uri="{FF2B5EF4-FFF2-40B4-BE49-F238E27FC236}">
                      <a16:creationId xmlns:a16="http://schemas.microsoft.com/office/drawing/2014/main" id="{E248146A-A508-BE25-B35A-096FFD19016C}"/>
                    </a:ext>
                  </a:extLst>
                </p:cNvPr>
                <p:cNvSpPr/>
                <p:nvPr/>
              </p:nvSpPr>
              <p:spPr>
                <a:xfrm>
                  <a:off x="685800" y="4135173"/>
                  <a:ext cx="2590799" cy="1330367"/>
                </a:xfrm>
                <a:prstGeom prst="roundRect">
                  <a:avLst>
                    <a:gd name="adj" fmla="val 8975"/>
                  </a:avLst>
                </a:prstGeom>
                <a:grpFill/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400"/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2565D72-5504-DA35-AABF-E3E7856636EB}"/>
                    </a:ext>
                  </a:extLst>
                </p:cNvPr>
                <p:cNvSpPr txBox="1"/>
                <p:nvPr/>
              </p:nvSpPr>
              <p:spPr>
                <a:xfrm>
                  <a:off x="722020" y="4641923"/>
                  <a:ext cx="2424946" cy="6823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200">
                      <a:latin typeface="Century Gothic" panose="020B0502020202020204" pitchFamily="34" charset="0"/>
                    </a:rPr>
                    <a:t>Современные офисы в её городе с интернетом и ИКТ</a:t>
                  </a:r>
                  <a:endParaRPr lang="en-GB" sz="1200" b="1">
                    <a:latin typeface="Century Gothic" panose="020B0502020202020204" pitchFamily="34" charset="0"/>
                  </a:endParaRPr>
                </a:p>
              </p:txBody>
            </p:sp>
          </p:grpSp>
          <p:sp>
            <p:nvSpPr>
              <p:cNvPr id="47" name="Открывающая квадратная скобка 46">
                <a:extLst>
                  <a:ext uri="{FF2B5EF4-FFF2-40B4-BE49-F238E27FC236}">
                    <a16:creationId xmlns:a16="http://schemas.microsoft.com/office/drawing/2014/main" id="{15DF335A-94BE-24CD-4521-82A6249251B5}"/>
                  </a:ext>
                </a:extLst>
              </p:cNvPr>
              <p:cNvSpPr/>
              <p:nvPr/>
            </p:nvSpPr>
            <p:spPr>
              <a:xfrm rot="5400000">
                <a:off x="3581390" y="1323057"/>
                <a:ext cx="228600" cy="2819400"/>
              </a:xfrm>
              <a:prstGeom prst="leftBracket">
                <a:avLst>
                  <a:gd name="adj" fmla="val 84262"/>
                </a:avLst>
              </a:prstGeom>
              <a:grpFill/>
              <a:ln w="317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44" name="Прямоугольник с двумя скругленными соседними углами 43">
              <a:extLst>
                <a:ext uri="{FF2B5EF4-FFF2-40B4-BE49-F238E27FC236}">
                  <a16:creationId xmlns:a16="http://schemas.microsoft.com/office/drawing/2014/main" id="{15F5E73A-2E15-9D72-CD01-2DD320E61FB5}"/>
                </a:ext>
              </a:extLst>
            </p:cNvPr>
            <p:cNvSpPr/>
            <p:nvPr/>
          </p:nvSpPr>
          <p:spPr>
            <a:xfrm>
              <a:off x="1204582" y="1615380"/>
              <a:ext cx="1849879" cy="1169551"/>
            </a:xfrm>
            <a:prstGeom prst="round2SameRect">
              <a:avLst>
                <a:gd name="adj1" fmla="val 19721"/>
                <a:gd name="adj2" fmla="val 0"/>
              </a:avLst>
            </a:prstGeom>
            <a:solidFill>
              <a:srgbClr val="0070C0">
                <a:alpha val="1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B494E96-5C75-BC1E-AB5C-848AD8F72A55}"/>
                </a:ext>
              </a:extLst>
            </p:cNvPr>
            <p:cNvSpPr txBox="1"/>
            <p:nvPr/>
          </p:nvSpPr>
          <p:spPr>
            <a:xfrm>
              <a:off x="1324780" y="1871236"/>
              <a:ext cx="1612527" cy="74706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GB" b="1">
                  <a:solidFill>
                    <a:srgbClr val="0070C0"/>
                  </a:solidFill>
                  <a:latin typeface="Century Gothic"/>
                </a:rPr>
                <a:t>ОФИСЫ</a:t>
              </a:r>
              <a:endParaRPr lang="en-GB" b="1">
                <a:solidFill>
                  <a:srgbClr val="0070C0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50" name="Группа 49">
            <a:extLst>
              <a:ext uri="{FF2B5EF4-FFF2-40B4-BE49-F238E27FC236}">
                <a16:creationId xmlns:a16="http://schemas.microsoft.com/office/drawing/2014/main" id="{26B1DE24-C5CB-C3B0-F230-B08BF430BF5E}"/>
              </a:ext>
            </a:extLst>
          </p:cNvPr>
          <p:cNvGrpSpPr/>
          <p:nvPr/>
        </p:nvGrpSpPr>
        <p:grpSpPr>
          <a:xfrm>
            <a:off x="5818768" y="3656110"/>
            <a:ext cx="1774809" cy="1461047"/>
            <a:chOff x="1204587" y="1581503"/>
            <a:chExt cx="1876438" cy="2955344"/>
          </a:xfrm>
        </p:grpSpPr>
        <p:grpSp>
          <p:nvGrpSpPr>
            <p:cNvPr id="51" name="Группа 50">
              <a:extLst>
                <a:ext uri="{FF2B5EF4-FFF2-40B4-BE49-F238E27FC236}">
                  <a16:creationId xmlns:a16="http://schemas.microsoft.com/office/drawing/2014/main" id="{5F7BEEC4-1B55-B917-936D-315FB17A4279}"/>
                </a:ext>
              </a:extLst>
            </p:cNvPr>
            <p:cNvGrpSpPr/>
            <p:nvPr/>
          </p:nvGrpSpPr>
          <p:grpSpPr>
            <a:xfrm>
              <a:off x="1204587" y="1581503"/>
              <a:ext cx="1876437" cy="2955344"/>
              <a:chOff x="2286000" y="2616751"/>
              <a:chExt cx="2859878" cy="4383477"/>
            </a:xfrm>
            <a:solidFill>
              <a:schemeClr val="accent1">
                <a:lumMod val="20000"/>
                <a:lumOff val="80000"/>
              </a:schemeClr>
            </a:solidFill>
          </p:grpSpPr>
          <p:grpSp>
            <p:nvGrpSpPr>
              <p:cNvPr id="54" name="Группа 53">
                <a:extLst>
                  <a:ext uri="{FF2B5EF4-FFF2-40B4-BE49-F238E27FC236}">
                    <a16:creationId xmlns:a16="http://schemas.microsoft.com/office/drawing/2014/main" id="{5D2C83DB-B38B-849F-FF7F-31A67F0CB5A4}"/>
                  </a:ext>
                </a:extLst>
              </p:cNvPr>
              <p:cNvGrpSpPr/>
              <p:nvPr/>
            </p:nvGrpSpPr>
            <p:grpSpPr>
              <a:xfrm>
                <a:off x="2286000" y="2616751"/>
                <a:ext cx="2859878" cy="4383477"/>
                <a:chOff x="685800" y="4142048"/>
                <a:chExt cx="2627995" cy="1199724"/>
              </a:xfrm>
              <a:grpFill/>
            </p:grpSpPr>
            <p:sp>
              <p:nvSpPr>
                <p:cNvPr id="56" name="Скругленный прямоугольник 55">
                  <a:extLst>
                    <a:ext uri="{FF2B5EF4-FFF2-40B4-BE49-F238E27FC236}">
                      <a16:creationId xmlns:a16="http://schemas.microsoft.com/office/drawing/2014/main" id="{0375CCCA-24D8-8820-B08C-53608A6F3BAB}"/>
                    </a:ext>
                  </a:extLst>
                </p:cNvPr>
                <p:cNvSpPr/>
                <p:nvPr/>
              </p:nvSpPr>
              <p:spPr>
                <a:xfrm>
                  <a:off x="685800" y="4142048"/>
                  <a:ext cx="2627995" cy="1199724"/>
                </a:xfrm>
                <a:prstGeom prst="roundRect">
                  <a:avLst>
                    <a:gd name="adj" fmla="val 8975"/>
                  </a:avLst>
                </a:prstGeom>
                <a:grpFill/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400"/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4E37D12E-9B9C-15E7-06ED-5F6BCF63738C}"/>
                    </a:ext>
                  </a:extLst>
                </p:cNvPr>
                <p:cNvSpPr txBox="1"/>
                <p:nvPr/>
              </p:nvSpPr>
              <p:spPr>
                <a:xfrm>
                  <a:off x="780152" y="4650680"/>
                  <a:ext cx="2496442" cy="682365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t">
                  <a:spAutoFit/>
                </a:bodyPr>
                <a:lstStyle/>
                <a:p>
                  <a:pPr algn="ctr"/>
                  <a:r>
                    <a:rPr lang="en-GB" sz="1200">
                      <a:latin typeface="Century Gothic"/>
                    </a:rPr>
                    <a:t>Стимулы для ИТ-компаний открывать офисы в регионах</a:t>
                  </a:r>
                  <a:endParaRPr lang="en-GB" sz="1200" b="1">
                    <a:latin typeface="Century Gothic" panose="020B0502020202020204" pitchFamily="34" charset="0"/>
                  </a:endParaRPr>
                </a:p>
              </p:txBody>
            </p:sp>
          </p:grpSp>
          <p:sp>
            <p:nvSpPr>
              <p:cNvPr id="55" name="Открывающая квадратная скобка 54">
                <a:extLst>
                  <a:ext uri="{FF2B5EF4-FFF2-40B4-BE49-F238E27FC236}">
                    <a16:creationId xmlns:a16="http://schemas.microsoft.com/office/drawing/2014/main" id="{99ED44BF-1F57-2553-5608-6F8F62069360}"/>
                  </a:ext>
                </a:extLst>
              </p:cNvPr>
              <p:cNvSpPr/>
              <p:nvPr/>
            </p:nvSpPr>
            <p:spPr>
              <a:xfrm rot="5400000">
                <a:off x="3594204" y="1348623"/>
                <a:ext cx="228600" cy="2819400"/>
              </a:xfrm>
              <a:prstGeom prst="leftBracket">
                <a:avLst>
                  <a:gd name="adj" fmla="val 84262"/>
                </a:avLst>
              </a:prstGeom>
              <a:grpFill/>
              <a:ln w="317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52" name="Прямоугольник с двумя скругленными соседними углами 51">
              <a:extLst>
                <a:ext uri="{FF2B5EF4-FFF2-40B4-BE49-F238E27FC236}">
                  <a16:creationId xmlns:a16="http://schemas.microsoft.com/office/drawing/2014/main" id="{A2FC1AC2-0F77-2B08-CDA3-FD81FFC36964}"/>
                </a:ext>
              </a:extLst>
            </p:cNvPr>
            <p:cNvSpPr/>
            <p:nvPr/>
          </p:nvSpPr>
          <p:spPr>
            <a:xfrm>
              <a:off x="1206885" y="1599890"/>
              <a:ext cx="1874140" cy="1169550"/>
            </a:xfrm>
            <a:prstGeom prst="round2SameRect">
              <a:avLst>
                <a:gd name="adj1" fmla="val 19721"/>
                <a:gd name="adj2" fmla="val 0"/>
              </a:avLst>
            </a:prstGeom>
            <a:solidFill>
              <a:srgbClr val="0070C0">
                <a:alpha val="1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038246C-FF75-4C67-3EF3-6D9AFBD2A2BE}"/>
                </a:ext>
              </a:extLst>
            </p:cNvPr>
            <p:cNvSpPr txBox="1"/>
            <p:nvPr/>
          </p:nvSpPr>
          <p:spPr>
            <a:xfrm>
              <a:off x="1323256" y="1930603"/>
              <a:ext cx="1612527" cy="74706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GB" b="1">
                  <a:solidFill>
                    <a:srgbClr val="0070C0"/>
                  </a:solidFill>
                  <a:latin typeface="Century Gothic"/>
                </a:rPr>
                <a:t>РАБОТОДАТЕЛЬ</a:t>
              </a:r>
              <a:endParaRPr lang="en-US"/>
            </a:p>
          </p:txBody>
        </p:sp>
      </p:grpSp>
      <p:grpSp>
        <p:nvGrpSpPr>
          <p:cNvPr id="58" name="Группа 57">
            <a:extLst>
              <a:ext uri="{FF2B5EF4-FFF2-40B4-BE49-F238E27FC236}">
                <a16:creationId xmlns:a16="http://schemas.microsoft.com/office/drawing/2014/main" id="{EEEC7669-C52D-12FD-E21C-C550D8865219}"/>
              </a:ext>
            </a:extLst>
          </p:cNvPr>
          <p:cNvGrpSpPr/>
          <p:nvPr/>
        </p:nvGrpSpPr>
        <p:grpSpPr>
          <a:xfrm>
            <a:off x="9357880" y="2575660"/>
            <a:ext cx="2467649" cy="1358394"/>
            <a:chOff x="1113943" y="1109825"/>
            <a:chExt cx="2067255" cy="2747705"/>
          </a:xfrm>
        </p:grpSpPr>
        <p:grpSp>
          <p:nvGrpSpPr>
            <p:cNvPr id="59" name="Группа 58">
              <a:extLst>
                <a:ext uri="{FF2B5EF4-FFF2-40B4-BE49-F238E27FC236}">
                  <a16:creationId xmlns:a16="http://schemas.microsoft.com/office/drawing/2014/main" id="{DDB5526D-0FF8-C945-B8D1-2FA240EA051C}"/>
                </a:ext>
              </a:extLst>
            </p:cNvPr>
            <p:cNvGrpSpPr/>
            <p:nvPr/>
          </p:nvGrpSpPr>
          <p:grpSpPr>
            <a:xfrm>
              <a:off x="1201656" y="1126900"/>
              <a:ext cx="1852805" cy="2730630"/>
              <a:chOff x="2281531" y="1942465"/>
              <a:chExt cx="2823860" cy="4050174"/>
            </a:xfrm>
            <a:solidFill>
              <a:schemeClr val="accent1">
                <a:lumMod val="20000"/>
                <a:lumOff val="80000"/>
              </a:schemeClr>
            </a:solidFill>
          </p:grpSpPr>
          <p:grpSp>
            <p:nvGrpSpPr>
              <p:cNvPr id="62" name="Группа 61">
                <a:extLst>
                  <a:ext uri="{FF2B5EF4-FFF2-40B4-BE49-F238E27FC236}">
                    <a16:creationId xmlns:a16="http://schemas.microsoft.com/office/drawing/2014/main" id="{82A73217-E64C-E60C-EC34-0D78529428E1}"/>
                  </a:ext>
                </a:extLst>
              </p:cNvPr>
              <p:cNvGrpSpPr/>
              <p:nvPr/>
            </p:nvGrpSpPr>
            <p:grpSpPr>
              <a:xfrm>
                <a:off x="2281531" y="1955843"/>
                <a:ext cx="2819401" cy="4036796"/>
                <a:chOff x="681694" y="3961162"/>
                <a:chExt cx="2590800" cy="1104840"/>
              </a:xfrm>
              <a:grpFill/>
            </p:grpSpPr>
            <p:sp>
              <p:nvSpPr>
                <p:cNvPr id="64" name="Скругленный прямоугольник 63">
                  <a:extLst>
                    <a:ext uri="{FF2B5EF4-FFF2-40B4-BE49-F238E27FC236}">
                      <a16:creationId xmlns:a16="http://schemas.microsoft.com/office/drawing/2014/main" id="{C1555E50-1786-D349-FB3E-4A0F8723CF1A}"/>
                    </a:ext>
                  </a:extLst>
                </p:cNvPr>
                <p:cNvSpPr/>
                <p:nvPr/>
              </p:nvSpPr>
              <p:spPr>
                <a:xfrm>
                  <a:off x="681694" y="3961162"/>
                  <a:ext cx="2590800" cy="1104840"/>
                </a:xfrm>
                <a:prstGeom prst="roundRect">
                  <a:avLst>
                    <a:gd name="adj" fmla="val 8975"/>
                  </a:avLst>
                </a:prstGeom>
                <a:grpFill/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400"/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12FCFE02-D2EE-EFBB-8DC4-D304B3FF0932}"/>
                    </a:ext>
                  </a:extLst>
                </p:cNvPr>
                <p:cNvSpPr txBox="1"/>
                <p:nvPr/>
              </p:nvSpPr>
              <p:spPr>
                <a:xfrm>
                  <a:off x="916486" y="4568961"/>
                  <a:ext cx="2272718" cy="3790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>
                      <a:latin typeface="Century Gothic" panose="020B0502020202020204" pitchFamily="34" charset="0"/>
                    </a:rPr>
                    <a:t> </a:t>
                  </a:r>
                  <a:r>
                    <a:rPr lang="ru-RU" sz="1200" dirty="0">
                      <a:latin typeface="Century Gothic" panose="020B0502020202020204" pitchFamily="34" charset="0"/>
                    </a:rPr>
                    <a:t>Р</a:t>
                  </a:r>
                  <a:r>
                    <a:rPr lang="en-US" sz="1200" dirty="0" err="1">
                      <a:latin typeface="Century Gothic" panose="020B0502020202020204" pitchFamily="34" charset="0"/>
                    </a:rPr>
                    <a:t>абота</a:t>
                  </a:r>
                  <a:r>
                    <a:rPr lang="en-US" sz="1200" dirty="0">
                      <a:latin typeface="Century Gothic" panose="020B0502020202020204" pitchFamily="34" charset="0"/>
                    </a:rPr>
                    <a:t> </a:t>
                  </a:r>
                </a:p>
                <a:p>
                  <a:pPr algn="ctr"/>
                  <a:r>
                    <a:rPr lang="en-US" sz="1200" dirty="0" err="1">
                      <a:latin typeface="Century Gothic" panose="020B0502020202020204" pitchFamily="34" charset="0"/>
                    </a:rPr>
                    <a:t>без</a:t>
                  </a:r>
                  <a:r>
                    <a:rPr lang="en-US" sz="1200" dirty="0">
                      <a:latin typeface="Century Gothic" panose="020B0502020202020204" pitchFamily="34" charset="0"/>
                    </a:rPr>
                    <a:t> </a:t>
                  </a:r>
                  <a:r>
                    <a:rPr lang="en-US" sz="1200" dirty="0" err="1">
                      <a:latin typeface="Century Gothic" panose="020B0502020202020204" pitchFamily="34" charset="0"/>
                    </a:rPr>
                    <a:t>переезда</a:t>
                  </a:r>
                  <a:endParaRPr lang="en-GB" sz="1200" dirty="0">
                    <a:latin typeface="Century Gothic" panose="020B0502020202020204" pitchFamily="34" charset="0"/>
                  </a:endParaRPr>
                </a:p>
              </p:txBody>
            </p:sp>
          </p:grpSp>
          <p:sp>
            <p:nvSpPr>
              <p:cNvPr id="63" name="Открывающая квадратная скобка 62">
                <a:extLst>
                  <a:ext uri="{FF2B5EF4-FFF2-40B4-BE49-F238E27FC236}">
                    <a16:creationId xmlns:a16="http://schemas.microsoft.com/office/drawing/2014/main" id="{A34693FF-14C8-055C-247D-FCB5D21DC474}"/>
                  </a:ext>
                </a:extLst>
              </p:cNvPr>
              <p:cNvSpPr/>
              <p:nvPr/>
            </p:nvSpPr>
            <p:spPr>
              <a:xfrm rot="5400000">
                <a:off x="3581391" y="647064"/>
                <a:ext cx="228600" cy="2819401"/>
              </a:xfrm>
              <a:prstGeom prst="leftBracket">
                <a:avLst>
                  <a:gd name="adj" fmla="val 84262"/>
                </a:avLst>
              </a:prstGeom>
              <a:grpFill/>
              <a:ln w="317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60" name="Прямоугольник с двумя скругленными соседними углами 59">
              <a:extLst>
                <a:ext uri="{FF2B5EF4-FFF2-40B4-BE49-F238E27FC236}">
                  <a16:creationId xmlns:a16="http://schemas.microsoft.com/office/drawing/2014/main" id="{BF7AA7C6-EEBC-3FDE-6670-33A5D2B3C0D0}"/>
                </a:ext>
              </a:extLst>
            </p:cNvPr>
            <p:cNvSpPr/>
            <p:nvPr/>
          </p:nvSpPr>
          <p:spPr>
            <a:xfrm>
              <a:off x="1204581" y="1109825"/>
              <a:ext cx="1849879" cy="1331429"/>
            </a:xfrm>
            <a:prstGeom prst="round2SameRect">
              <a:avLst>
                <a:gd name="adj1" fmla="val 19721"/>
                <a:gd name="adj2" fmla="val 0"/>
              </a:avLst>
            </a:prstGeom>
            <a:solidFill>
              <a:srgbClr val="0070C0">
                <a:alpha val="4434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A9531F0-7567-6633-76FE-A2D0E87D3E95}"/>
                </a:ext>
              </a:extLst>
            </p:cNvPr>
            <p:cNvSpPr txBox="1"/>
            <p:nvPr/>
          </p:nvSpPr>
          <p:spPr>
            <a:xfrm>
              <a:off x="1113943" y="1268646"/>
              <a:ext cx="2067255" cy="11828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>
                  <a:solidFill>
                    <a:srgbClr val="006AB6"/>
                  </a:solidFill>
                  <a:latin typeface="Century Gothic" panose="020B0502020202020204" pitchFamily="34" charset="0"/>
                </a:rPr>
                <a:t>УДАЛЁННАЯ РАБОТА или КОВОРКИНГ</a:t>
              </a:r>
            </a:p>
          </p:txBody>
        </p:sp>
      </p:grpSp>
      <p:pic>
        <p:nvPicPr>
          <p:cNvPr id="66" name="Рисунок 65">
            <a:extLst>
              <a:ext uri="{FF2B5EF4-FFF2-40B4-BE49-F238E27FC236}">
                <a16:creationId xmlns:a16="http://schemas.microsoft.com/office/drawing/2014/main" id="{901EB41A-8C71-11A2-7D25-64E86F02801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1028658" y="4929823"/>
            <a:ext cx="1867947" cy="48611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4F5F9854-6BF9-2194-4180-DC64AABC0FC8}"/>
              </a:ext>
            </a:extLst>
          </p:cNvPr>
          <p:cNvSpPr txBox="1"/>
          <p:nvPr/>
        </p:nvSpPr>
        <p:spPr>
          <a:xfrm>
            <a:off x="5645101" y="6384453"/>
            <a:ext cx="639789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*ITES = услуги на базе ИТ (колл-центры, обработка данных, дизайн, бухгалтерия, маркетинг и др.)</a:t>
            </a:r>
            <a:endParaRPr lang="ru-RU" sz="1050">
              <a:solidFill>
                <a:schemeClr val="bg1">
                  <a:lumMod val="65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822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6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2">
            <a:extLst>
              <a:ext uri="{FF2B5EF4-FFF2-40B4-BE49-F238E27FC236}">
                <a16:creationId xmlns:a16="http://schemas.microsoft.com/office/drawing/2014/main" id="{8A8768FF-7E68-95FB-165E-26ABD0923BA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497" y="262233"/>
            <a:ext cx="684584" cy="68458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21B9E0E-3D44-0F40-26C4-06451A00E0A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497" y="262233"/>
            <a:ext cx="684584" cy="684584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DB00EF8-0475-25B0-0D05-2ECAF443838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"/>
          </a:blip>
          <a:stretch>
            <a:fillRect/>
          </a:stretch>
        </p:blipFill>
        <p:spPr>
          <a:xfrm>
            <a:off x="12347549" y="2046224"/>
            <a:ext cx="3342191" cy="33421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E828E4-E462-7648-D142-E404917977B2}"/>
              </a:ext>
            </a:extLst>
          </p:cNvPr>
          <p:cNvSpPr txBox="1">
            <a:spLocks/>
          </p:cNvSpPr>
          <p:nvPr/>
        </p:nvSpPr>
        <p:spPr>
          <a:xfrm>
            <a:off x="1400062" y="824115"/>
            <a:ext cx="7598163" cy="815955"/>
          </a:xfrm>
          <a:prstGeom prst="rect">
            <a:avLst/>
          </a:prstGeom>
        </p:spPr>
        <p:txBody>
          <a:bodyPr lIns="96012" tIns="48006" rIns="96012" bIns="48006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5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entury Gothic"/>
                <a:ea typeface="Tw Cen MT Condensed Extra Bold" charset="0"/>
                <a:cs typeface="Tw Cen MT Condensed Extra Bold" charset="0"/>
              </a:rPr>
              <a:t>Обучение для Мадины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5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entury Gothic"/>
                <a:ea typeface="Tw Cen MT Condensed Extra Bold" charset="0"/>
                <a:cs typeface="Tw Cen MT Condensed Extra Bold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b="1">
                <a:solidFill>
                  <a:srgbClr val="006AB6"/>
                </a:solidFill>
                <a:latin typeface="Century Gothic"/>
                <a:ea typeface="Tw Cen MT Condensed Extra Bold" charset="0"/>
                <a:cs typeface="Tw Cen MT Condensed Extra Bold" charset="0"/>
              </a:rPr>
              <a:t>Мы делаем упор на н</a:t>
            </a: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006AB6"/>
                </a:solidFill>
                <a:effectLst/>
                <a:uLnTx/>
                <a:uFillTx/>
                <a:latin typeface="Century Gothic"/>
                <a:ea typeface="Tw Cen MT Condensed Extra Bold" charset="0"/>
                <a:cs typeface="Tw Cen MT Condensed Extra Bold" charset="0"/>
              </a:rPr>
              <a:t>авыки для ИТ-отрасли</a:t>
            </a:r>
            <a:r>
              <a:rPr lang="en-US" sz="3500" b="1">
                <a:solidFill>
                  <a:srgbClr val="006AB6"/>
                </a:solidFill>
                <a:latin typeface="Century Gothic"/>
                <a:ea typeface="Tw Cen MT Condensed Extra Bold" charset="0"/>
                <a:cs typeface="Tw Cen MT Condensed Extra Bold" charset="0"/>
              </a:rPr>
              <a:t>:</a:t>
            </a: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006AB6"/>
                </a:solidFill>
                <a:effectLst/>
                <a:uLnTx/>
                <a:uFillTx/>
                <a:latin typeface="Century Gothic"/>
                <a:ea typeface="Tw Cen MT Condensed Extra Bold" charset="0"/>
                <a:cs typeface="Tw Cen MT Condensed Extra Bold" charset="0"/>
              </a:rPr>
              <a:t> </a:t>
            </a:r>
            <a:endParaRPr kumimoji="0" lang="en-GB" sz="3500" b="1" i="0" u="none" strike="noStrike" kern="120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entury Gothic"/>
              <a:ea typeface="Tw Cen MT Condensed Extra Bold" charset="0"/>
              <a:cs typeface="Tw Cen MT Condensed Extra Bold" charset="0"/>
            </a:endParaRP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E09C8144-0CE6-FCB7-0CF8-787D143BDDDC}"/>
              </a:ext>
            </a:extLst>
          </p:cNvPr>
          <p:cNvGrpSpPr/>
          <p:nvPr/>
        </p:nvGrpSpPr>
        <p:grpSpPr>
          <a:xfrm>
            <a:off x="1442553" y="2781535"/>
            <a:ext cx="2836003" cy="3092463"/>
            <a:chOff x="2100818" y="2781535"/>
            <a:chExt cx="2836003" cy="3092463"/>
          </a:xfrm>
        </p:grpSpPr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1CC35D51-A059-189C-26C4-73AC08AC3C2B}"/>
                </a:ext>
              </a:extLst>
            </p:cNvPr>
            <p:cNvGrpSpPr/>
            <p:nvPr/>
          </p:nvGrpSpPr>
          <p:grpSpPr>
            <a:xfrm>
              <a:off x="2100818" y="2781535"/>
              <a:ext cx="2836003" cy="3092463"/>
              <a:chOff x="9293145" y="2085463"/>
              <a:chExt cx="3038717" cy="804822"/>
            </a:xfrm>
          </p:grpSpPr>
          <p:sp>
            <p:nvSpPr>
              <p:cNvPr id="10" name="Скругленный прямоугольник 9">
                <a:extLst>
                  <a:ext uri="{FF2B5EF4-FFF2-40B4-BE49-F238E27FC236}">
                    <a16:creationId xmlns:a16="http://schemas.microsoft.com/office/drawing/2014/main" id="{398E0123-AE9C-F8DD-5394-AD4EE2B93A91}"/>
                  </a:ext>
                </a:extLst>
              </p:cNvPr>
              <p:cNvSpPr/>
              <p:nvPr/>
            </p:nvSpPr>
            <p:spPr>
              <a:xfrm>
                <a:off x="9293145" y="2085463"/>
                <a:ext cx="3038717" cy="804822"/>
              </a:xfrm>
              <a:prstGeom prst="roundRect">
                <a:avLst>
                  <a:gd name="adj" fmla="val 8975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894BDE0-1B92-5AF1-EC74-121A3A415672}"/>
                  </a:ext>
                </a:extLst>
              </p:cNvPr>
              <p:cNvSpPr txBox="1"/>
              <p:nvPr/>
            </p:nvSpPr>
            <p:spPr>
              <a:xfrm>
                <a:off x="9611761" y="2491450"/>
                <a:ext cx="2401484" cy="344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ИИ, </a:t>
                </a:r>
                <a:r>
                  <a:rPr kumimoji="0" 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кибербезопаснось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, </a:t>
                </a:r>
                <a:r>
                  <a:rPr kumimoji="0" 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машинное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 </a:t>
                </a:r>
                <a:r>
                  <a:rPr kumimoji="0" 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обучение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, </a:t>
                </a:r>
                <a:r>
                  <a:rPr kumimoji="0" 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геймдев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, </a:t>
                </a:r>
                <a:r>
                  <a:rPr lang="en-US" sz="1600" dirty="0">
                    <a:solidFill>
                      <a:prstClr val="black"/>
                    </a:solidFill>
                    <a:latin typeface="Century Gothic"/>
                  </a:rPr>
                  <a:t>“</a:t>
                </a:r>
                <a:r>
                  <a:rPr kumimoji="0" 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облака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”</a:t>
                </a:r>
                <a:endParaRPr kumimoji="0" lang="en-GB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442166E-E633-7281-FE8D-16D1805E50D2}"/>
                </a:ext>
              </a:extLst>
            </p:cNvPr>
            <p:cNvSpPr txBox="1"/>
            <p:nvPr/>
          </p:nvSpPr>
          <p:spPr>
            <a:xfrm>
              <a:off x="2100818" y="3953817"/>
              <a:ext cx="2836003" cy="373949"/>
            </a:xfrm>
            <a:prstGeom prst="rect">
              <a:avLst/>
            </a:prstGeom>
            <a:noFill/>
          </p:spPr>
          <p:txBody>
            <a:bodyPr wrap="square" lIns="96012" tIns="48006" rIns="96012" bIns="48006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ИТ-навыки</a:t>
              </a:r>
            </a:p>
          </p:txBody>
        </p:sp>
        <p:pic>
          <p:nvPicPr>
            <p:cNvPr id="25" name="Рисунок 24">
              <a:extLst>
                <a:ext uri="{FF2B5EF4-FFF2-40B4-BE49-F238E27FC236}">
                  <a16:creationId xmlns:a16="http://schemas.microsoft.com/office/drawing/2014/main" id="{AE3EF051-10DB-9232-76BE-2544F3ECBC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21254" y="2985520"/>
              <a:ext cx="795130" cy="795130"/>
            </a:xfrm>
            <a:prstGeom prst="rect">
              <a:avLst/>
            </a:prstGeom>
          </p:spPr>
        </p:pic>
      </p:grp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2B266427-308B-6930-2DC8-FE55358CAF27}"/>
              </a:ext>
            </a:extLst>
          </p:cNvPr>
          <p:cNvGrpSpPr/>
          <p:nvPr/>
        </p:nvGrpSpPr>
        <p:grpSpPr>
          <a:xfrm>
            <a:off x="4781350" y="2781534"/>
            <a:ext cx="2836003" cy="3092463"/>
            <a:chOff x="2100818" y="2781535"/>
            <a:chExt cx="2836003" cy="3092463"/>
          </a:xfrm>
        </p:grpSpPr>
        <p:grpSp>
          <p:nvGrpSpPr>
            <p:cNvPr id="28" name="Группа 27">
              <a:extLst>
                <a:ext uri="{FF2B5EF4-FFF2-40B4-BE49-F238E27FC236}">
                  <a16:creationId xmlns:a16="http://schemas.microsoft.com/office/drawing/2014/main" id="{83A4E8C5-6585-A9EE-C1EA-1213AD3EC251}"/>
                </a:ext>
              </a:extLst>
            </p:cNvPr>
            <p:cNvGrpSpPr/>
            <p:nvPr/>
          </p:nvGrpSpPr>
          <p:grpSpPr>
            <a:xfrm>
              <a:off x="2100818" y="2781535"/>
              <a:ext cx="2836003" cy="3092463"/>
              <a:chOff x="9293145" y="2085463"/>
              <a:chExt cx="3038717" cy="804822"/>
            </a:xfrm>
          </p:grpSpPr>
          <p:sp>
            <p:nvSpPr>
              <p:cNvPr id="31" name="Скругленный прямоугольник 30">
                <a:extLst>
                  <a:ext uri="{FF2B5EF4-FFF2-40B4-BE49-F238E27FC236}">
                    <a16:creationId xmlns:a16="http://schemas.microsoft.com/office/drawing/2014/main" id="{2491C7AC-43F9-A03A-CEE0-725FE1D6EAAF}"/>
                  </a:ext>
                </a:extLst>
              </p:cNvPr>
              <p:cNvSpPr/>
              <p:nvPr/>
            </p:nvSpPr>
            <p:spPr>
              <a:xfrm>
                <a:off x="9293145" y="2085463"/>
                <a:ext cx="3038717" cy="804822"/>
              </a:xfrm>
              <a:prstGeom prst="roundRect">
                <a:avLst>
                  <a:gd name="adj" fmla="val 8975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B99B588-454C-EAD8-76C5-645380A5DF9B}"/>
                  </a:ext>
                </a:extLst>
              </p:cNvPr>
              <p:cNvSpPr txBox="1"/>
              <p:nvPr/>
            </p:nvSpPr>
            <p:spPr>
              <a:xfrm>
                <a:off x="9452452" y="2491450"/>
                <a:ext cx="2720101" cy="216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Нетворкинг, презентации, резюме, профиль и работа в LinkedIn</a:t>
                </a:r>
                <a:endPara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8AD1017-6CA5-97BD-237C-11AC5AC6DE61}"/>
                </a:ext>
              </a:extLst>
            </p:cNvPr>
            <p:cNvSpPr txBox="1"/>
            <p:nvPr/>
          </p:nvSpPr>
          <p:spPr>
            <a:xfrm>
              <a:off x="2100818" y="3953817"/>
              <a:ext cx="2836003" cy="373949"/>
            </a:xfrm>
            <a:prstGeom prst="rect">
              <a:avLst/>
            </a:prstGeom>
            <a:noFill/>
          </p:spPr>
          <p:txBody>
            <a:bodyPr wrap="square" lIns="96012" tIns="48006" rIns="96012" bIns="48006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Мягкие навыки </a:t>
              </a:r>
            </a:p>
          </p:txBody>
        </p:sp>
      </p:grp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0DC39987-B172-CC34-CC16-A247162066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6629" y="3006278"/>
            <a:ext cx="845444" cy="845444"/>
          </a:xfrm>
          <a:prstGeom prst="rect">
            <a:avLst/>
          </a:prstGeom>
        </p:spPr>
      </p:pic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C544F498-565C-9D42-2682-25B4D7C24E92}"/>
              </a:ext>
            </a:extLst>
          </p:cNvPr>
          <p:cNvGrpSpPr/>
          <p:nvPr/>
        </p:nvGrpSpPr>
        <p:grpSpPr>
          <a:xfrm>
            <a:off x="8120147" y="2781533"/>
            <a:ext cx="2836003" cy="3092463"/>
            <a:chOff x="8120147" y="2781533"/>
            <a:chExt cx="2836003" cy="3092463"/>
          </a:xfrm>
        </p:grpSpPr>
        <p:grpSp>
          <p:nvGrpSpPr>
            <p:cNvPr id="35" name="Группа 34">
              <a:extLst>
                <a:ext uri="{FF2B5EF4-FFF2-40B4-BE49-F238E27FC236}">
                  <a16:creationId xmlns:a16="http://schemas.microsoft.com/office/drawing/2014/main" id="{6C4DE7A2-B28B-F5BF-910C-26A3724FCC39}"/>
                </a:ext>
              </a:extLst>
            </p:cNvPr>
            <p:cNvGrpSpPr/>
            <p:nvPr/>
          </p:nvGrpSpPr>
          <p:grpSpPr>
            <a:xfrm>
              <a:off x="8120147" y="2781533"/>
              <a:ext cx="2836003" cy="3092463"/>
              <a:chOff x="2100818" y="2781535"/>
              <a:chExt cx="2836003" cy="3092463"/>
            </a:xfrm>
          </p:grpSpPr>
          <p:grpSp>
            <p:nvGrpSpPr>
              <p:cNvPr id="36" name="Группа 35">
                <a:extLst>
                  <a:ext uri="{FF2B5EF4-FFF2-40B4-BE49-F238E27FC236}">
                    <a16:creationId xmlns:a16="http://schemas.microsoft.com/office/drawing/2014/main" id="{E1A5BF12-2209-3EA5-DCD8-5C6222B52027}"/>
                  </a:ext>
                </a:extLst>
              </p:cNvPr>
              <p:cNvGrpSpPr/>
              <p:nvPr/>
            </p:nvGrpSpPr>
            <p:grpSpPr>
              <a:xfrm>
                <a:off x="2100818" y="2781535"/>
                <a:ext cx="2836003" cy="3092463"/>
                <a:chOff x="9293145" y="2085463"/>
                <a:chExt cx="3038717" cy="804822"/>
              </a:xfrm>
            </p:grpSpPr>
            <p:sp>
              <p:nvSpPr>
                <p:cNvPr id="39" name="Скругленный прямоугольник 38">
                  <a:extLst>
                    <a:ext uri="{FF2B5EF4-FFF2-40B4-BE49-F238E27FC236}">
                      <a16:creationId xmlns:a16="http://schemas.microsoft.com/office/drawing/2014/main" id="{49FF8C0A-532C-3820-B7D9-9D2C4E29A5CF}"/>
                    </a:ext>
                  </a:extLst>
                </p:cNvPr>
                <p:cNvSpPr/>
                <p:nvPr/>
              </p:nvSpPr>
              <p:spPr>
                <a:xfrm>
                  <a:off x="9293145" y="2085463"/>
                  <a:ext cx="3038717" cy="804822"/>
                </a:xfrm>
                <a:prstGeom prst="roundRect">
                  <a:avLst>
                    <a:gd name="adj" fmla="val 8975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F3D78F2-F9F0-A841-D76E-69895B06F441}"/>
                    </a:ext>
                  </a:extLst>
                </p:cNvPr>
                <p:cNvSpPr txBox="1"/>
                <p:nvPr/>
              </p:nvSpPr>
              <p:spPr>
                <a:xfrm>
                  <a:off x="9611761" y="2532941"/>
                  <a:ext cx="2401484" cy="2162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entury Gothic"/>
                      <a:ea typeface="+mn-ea"/>
                      <a:cs typeface="+mn-cs"/>
                    </a:rPr>
                    <a:t>Японский, корейский, немецкий для ИТ-отраслей</a:t>
                  </a:r>
                  <a:endParaRPr kumimoji="0" lang="en-GB" sz="13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D583A03-BD23-0D4D-63C6-60B31EFADDEA}"/>
                  </a:ext>
                </a:extLst>
              </p:cNvPr>
              <p:cNvSpPr txBox="1"/>
              <p:nvPr/>
            </p:nvSpPr>
            <p:spPr>
              <a:xfrm>
                <a:off x="2100818" y="3953817"/>
                <a:ext cx="2836003" cy="373949"/>
              </a:xfrm>
              <a:prstGeom prst="rect">
                <a:avLst/>
              </a:prstGeom>
              <a:noFill/>
            </p:spPr>
            <p:txBody>
              <a:bodyPr wrap="square" lIns="96012" tIns="48006" rIns="96012" bIns="48006" rtlCol="0" anchor="t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Языки</a:t>
                </a:r>
              </a:p>
            </p:txBody>
          </p:sp>
        </p:grpSp>
        <p:pic>
          <p:nvPicPr>
            <p:cNvPr id="42" name="Рисунок 41">
              <a:extLst>
                <a:ext uri="{FF2B5EF4-FFF2-40B4-BE49-F238E27FC236}">
                  <a16:creationId xmlns:a16="http://schemas.microsoft.com/office/drawing/2014/main" id="{FD4F65E1-7DB1-C2BE-92D7-94CEC90E84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37007" y="3076633"/>
              <a:ext cx="775089" cy="7750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7724173"/>
      </p:ext>
    </p:extLst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2" descr="Uzbekistan Map PNGs for Free Download">
            <a:extLst>
              <a:ext uri="{FF2B5EF4-FFF2-40B4-BE49-F238E27FC236}">
                <a16:creationId xmlns:a16="http://schemas.microsoft.com/office/drawing/2014/main" id="{6F32F2AD-E927-FEF4-FBD4-60B7AEB95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01880" y="2301865"/>
            <a:ext cx="4810691" cy="3136655"/>
          </a:xfrm>
          <a:prstGeom prst="rect">
            <a:avLst/>
          </a:prstGeom>
          <a:noFill/>
          <a:effectLst>
            <a:innerShdw blurRad="114300">
              <a:prstClr val="black">
                <a:alpha val="18031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Полилиния 47">
            <a:extLst>
              <a:ext uri="{FF2B5EF4-FFF2-40B4-BE49-F238E27FC236}">
                <a16:creationId xmlns:a16="http://schemas.microsoft.com/office/drawing/2014/main" id="{A0275E63-CF6B-A008-EC54-2F907C073D32}"/>
              </a:ext>
            </a:extLst>
          </p:cNvPr>
          <p:cNvSpPr/>
          <p:nvPr/>
        </p:nvSpPr>
        <p:spPr>
          <a:xfrm>
            <a:off x="3193773" y="2731203"/>
            <a:ext cx="7792243" cy="2080019"/>
          </a:xfrm>
          <a:custGeom>
            <a:avLst/>
            <a:gdLst>
              <a:gd name="connsiteX0" fmla="*/ 0 w 7991026"/>
              <a:gd name="connsiteY0" fmla="*/ 979406 h 2080019"/>
              <a:gd name="connsiteX1" fmla="*/ 2266122 w 7991026"/>
              <a:gd name="connsiteY1" fmla="*/ 171023 h 2080019"/>
              <a:gd name="connsiteX2" fmla="*/ 3684105 w 7991026"/>
              <a:gd name="connsiteY2" fmla="*/ 2079336 h 2080019"/>
              <a:gd name="connsiteX3" fmla="*/ 5049079 w 7991026"/>
              <a:gd name="connsiteY3" fmla="*/ 409562 h 2080019"/>
              <a:gd name="connsiteX4" fmla="*/ 6135757 w 7991026"/>
              <a:gd name="connsiteY4" fmla="*/ 2066084 h 2080019"/>
              <a:gd name="connsiteX5" fmla="*/ 7752522 w 7991026"/>
              <a:gd name="connsiteY5" fmla="*/ 237284 h 2080019"/>
              <a:gd name="connsiteX6" fmla="*/ 7951305 w 7991026"/>
              <a:gd name="connsiteY6" fmla="*/ 78258 h 2080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991026" h="2080019">
                <a:moveTo>
                  <a:pt x="0" y="979406"/>
                </a:moveTo>
                <a:cubicBezTo>
                  <a:pt x="826052" y="483553"/>
                  <a:pt x="1652105" y="-12299"/>
                  <a:pt x="2266122" y="171023"/>
                </a:cubicBezTo>
                <a:cubicBezTo>
                  <a:pt x="2880140" y="354345"/>
                  <a:pt x="3220279" y="2039580"/>
                  <a:pt x="3684105" y="2079336"/>
                </a:cubicBezTo>
                <a:cubicBezTo>
                  <a:pt x="4147931" y="2119092"/>
                  <a:pt x="4640470" y="411771"/>
                  <a:pt x="5049079" y="409562"/>
                </a:cubicBezTo>
                <a:cubicBezTo>
                  <a:pt x="5457688" y="407353"/>
                  <a:pt x="5685183" y="2094797"/>
                  <a:pt x="6135757" y="2066084"/>
                </a:cubicBezTo>
                <a:cubicBezTo>
                  <a:pt x="6586331" y="2037371"/>
                  <a:pt x="7449931" y="568588"/>
                  <a:pt x="7752522" y="237284"/>
                </a:cubicBezTo>
                <a:cubicBezTo>
                  <a:pt x="8055113" y="-94020"/>
                  <a:pt x="8003209" y="-7881"/>
                  <a:pt x="7951305" y="78258"/>
                </a:cubicBezTo>
              </a:path>
            </a:pathLst>
          </a:custGeom>
          <a:noFill/>
          <a:ln w="34925">
            <a:solidFill>
              <a:schemeClr val="tx1">
                <a:lumMod val="50000"/>
                <a:lumOff val="50000"/>
                <a:alpha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DEF72EF-F791-F923-F605-D9945BE994F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497" y="262233"/>
            <a:ext cx="684584" cy="684584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75EB7E5B-B43E-AEAA-B4D7-EC9CE2FF28D7}"/>
              </a:ext>
            </a:extLst>
          </p:cNvPr>
          <p:cNvSpPr txBox="1">
            <a:spLocks/>
          </p:cNvSpPr>
          <p:nvPr/>
        </p:nvSpPr>
        <p:spPr>
          <a:xfrm>
            <a:off x="920241" y="1088852"/>
            <a:ext cx="4671154" cy="609824"/>
          </a:xfrm>
          <a:prstGeom prst="rect">
            <a:avLst/>
          </a:prstGeom>
        </p:spPr>
        <p:txBody>
          <a:bodyPr lIns="96012" tIns="48006" rIns="96012" bIns="48006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entury Gothic"/>
                <a:ea typeface="Tw Cen MT Condensed Extra Bold" charset="0"/>
                <a:cs typeface="Tw Cen MT Condensed Extra Bold" charset="0"/>
              </a:rPr>
              <a:t>#</a:t>
            </a:r>
            <a:r>
              <a:rPr kumimoji="0" lang="en-US" sz="3200" b="1" i="0" u="none" strike="noStrike" kern="1200" cap="none" spc="0" normalizeH="0" baseline="0" noProof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entury Gothic"/>
                <a:ea typeface="Tw Cen MT Condensed Extra Bold" charset="0"/>
                <a:cs typeface="Tw Cen MT Condensed Extra Bold" charset="0"/>
              </a:rPr>
              <a:t>Digital_Inclusion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entury Gothic"/>
              <a:ea typeface="Tw Cen MT Condensed Extra Bold" charset="0"/>
              <a:cs typeface="Tw Cen MT Condensed Extra Bold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Tw Cen MT Condensed Extra Bold" charset="0"/>
                <a:cs typeface="Tw Cen MT Condensed Extra Bold" charset="0"/>
              </a:rPr>
              <a:t>Пакет для </a:t>
            </a:r>
            <a:r>
              <a:rPr kumimoji="0" lang="ru-RU" sz="32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entury Gothic"/>
                <a:ea typeface="Tw Cen MT Condensed Extra Bold" charset="0"/>
                <a:cs typeface="Tw Cen MT Condensed Extra Bold" charset="0"/>
              </a:rPr>
              <a:t>к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entury Gothic"/>
                <a:ea typeface="Tw Cen MT Condensed Extra Bold" charset="0"/>
                <a:cs typeface="Tw Cen MT Condensed Extra Bold" charset="0"/>
              </a:rPr>
              <a:t>омпаний ITES</a:t>
            </a:r>
            <a:endParaRPr kumimoji="0" lang="en-GB" sz="3200" b="0" i="0" u="none" strike="noStrike" kern="120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entury Gothic"/>
              <a:ea typeface="Tw Cen MT Condensed Extra Bold" charset="0"/>
              <a:cs typeface="Tw Cen MT Condensed Extra Bold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77954C-E6C9-C3ED-B24C-792F287275A3}"/>
              </a:ext>
            </a:extLst>
          </p:cNvPr>
          <p:cNvSpPr txBox="1"/>
          <p:nvPr/>
        </p:nvSpPr>
        <p:spPr>
          <a:xfrm>
            <a:off x="542963" y="4657045"/>
            <a:ext cx="3832617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6AB6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К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6AB6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омпания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 из Европы не видит смысла расширять деятельность или открывать офисы в Узбекистане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169F265A-88E1-5940-5E4B-30492461F1AF}"/>
              </a:ext>
            </a:extLst>
          </p:cNvPr>
          <p:cNvGrpSpPr/>
          <p:nvPr/>
        </p:nvGrpSpPr>
        <p:grpSpPr>
          <a:xfrm>
            <a:off x="5104426" y="3844716"/>
            <a:ext cx="2273140" cy="1188683"/>
            <a:chOff x="1136616" y="1539607"/>
            <a:chExt cx="2016411" cy="2404419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44FB84DC-2C17-857A-6F90-DB77C44F95EF}"/>
                </a:ext>
              </a:extLst>
            </p:cNvPr>
            <p:cNvGrpSpPr/>
            <p:nvPr/>
          </p:nvGrpSpPr>
          <p:grpSpPr>
            <a:xfrm>
              <a:off x="1136616" y="1606714"/>
              <a:ext cx="1917851" cy="2337312"/>
              <a:chOff x="2182403" y="2654145"/>
              <a:chExt cx="2922996" cy="3466791"/>
            </a:xfrm>
            <a:solidFill>
              <a:schemeClr val="accent1">
                <a:lumMod val="20000"/>
                <a:lumOff val="80000"/>
              </a:schemeClr>
            </a:solidFill>
          </p:grpSpPr>
          <p:grpSp>
            <p:nvGrpSpPr>
              <p:cNvPr id="11" name="Группа 10">
                <a:extLst>
                  <a:ext uri="{FF2B5EF4-FFF2-40B4-BE49-F238E27FC236}">
                    <a16:creationId xmlns:a16="http://schemas.microsoft.com/office/drawing/2014/main" id="{83852F6E-C1BF-76EC-588B-BD61405E23A4}"/>
                  </a:ext>
                </a:extLst>
              </p:cNvPr>
              <p:cNvGrpSpPr/>
              <p:nvPr/>
            </p:nvGrpSpPr>
            <p:grpSpPr>
              <a:xfrm>
                <a:off x="2182403" y="2666999"/>
                <a:ext cx="2922996" cy="3453937"/>
                <a:chOff x="590603" y="4155800"/>
                <a:chExt cx="2685995" cy="945316"/>
              </a:xfrm>
              <a:grpFill/>
            </p:grpSpPr>
            <p:sp>
              <p:nvSpPr>
                <p:cNvPr id="13" name="Скругленный прямоугольник 12">
                  <a:extLst>
                    <a:ext uri="{FF2B5EF4-FFF2-40B4-BE49-F238E27FC236}">
                      <a16:creationId xmlns:a16="http://schemas.microsoft.com/office/drawing/2014/main" id="{3976825F-158F-E76C-E44B-265092F0B76C}"/>
                    </a:ext>
                  </a:extLst>
                </p:cNvPr>
                <p:cNvSpPr/>
                <p:nvPr/>
              </p:nvSpPr>
              <p:spPr>
                <a:xfrm>
                  <a:off x="685799" y="4155800"/>
                  <a:ext cx="2590799" cy="945316"/>
                </a:xfrm>
                <a:prstGeom prst="roundRect">
                  <a:avLst>
                    <a:gd name="adj" fmla="val 8975"/>
                  </a:avLst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2E4E4BE-2F52-0A2E-7737-AA49473BCAFD}"/>
                    </a:ext>
                  </a:extLst>
                </p:cNvPr>
                <p:cNvSpPr txBox="1"/>
                <p:nvPr/>
              </p:nvSpPr>
              <p:spPr>
                <a:xfrm>
                  <a:off x="590603" y="4658844"/>
                  <a:ext cx="2526931" cy="3790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Бесплатно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, в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регионах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Узбекистана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 </a:t>
                  </a:r>
                </a:p>
              </p:txBody>
            </p:sp>
          </p:grpSp>
          <p:sp>
            <p:nvSpPr>
              <p:cNvPr id="12" name="Открывающая квадратная скобка 11">
                <a:extLst>
                  <a:ext uri="{FF2B5EF4-FFF2-40B4-BE49-F238E27FC236}">
                    <a16:creationId xmlns:a16="http://schemas.microsoft.com/office/drawing/2014/main" id="{AB3D085D-F975-A2C8-1823-E4708590AFFA}"/>
                  </a:ext>
                </a:extLst>
              </p:cNvPr>
              <p:cNvSpPr/>
              <p:nvPr/>
            </p:nvSpPr>
            <p:spPr>
              <a:xfrm rot="5400000">
                <a:off x="3581388" y="1358744"/>
                <a:ext cx="228600" cy="2819401"/>
              </a:xfrm>
              <a:prstGeom prst="leftBracket">
                <a:avLst>
                  <a:gd name="adj" fmla="val 84262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 w="317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8" name="Прямоугольник с двумя скругленными соседними углами 7">
              <a:extLst>
                <a:ext uri="{FF2B5EF4-FFF2-40B4-BE49-F238E27FC236}">
                  <a16:creationId xmlns:a16="http://schemas.microsoft.com/office/drawing/2014/main" id="{7C673139-269B-F1B7-B4FF-29266C2F00A4}"/>
                </a:ext>
              </a:extLst>
            </p:cNvPr>
            <p:cNvSpPr/>
            <p:nvPr/>
          </p:nvSpPr>
          <p:spPr>
            <a:xfrm>
              <a:off x="1183459" y="1539607"/>
              <a:ext cx="1871002" cy="1233774"/>
            </a:xfrm>
            <a:prstGeom prst="round2SameRect">
              <a:avLst>
                <a:gd name="adj1" fmla="val 19721"/>
                <a:gd name="adj2" fmla="val 0"/>
              </a:avLst>
            </a:prstGeom>
            <a:solidFill>
              <a:srgbClr val="00B050">
                <a:alpha val="1053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7BB5892-D26C-CF84-2FE9-E653938D15A2}"/>
                </a:ext>
              </a:extLst>
            </p:cNvPr>
            <p:cNvSpPr txBox="1"/>
            <p:nvPr/>
          </p:nvSpPr>
          <p:spPr>
            <a:xfrm>
              <a:off x="1162327" y="1595965"/>
              <a:ext cx="1990700" cy="130737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defRPr/>
              </a:pPr>
              <a:r>
                <a:rPr kumimoji="0" lang="en-GB" sz="18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entury Gothic"/>
                </a:rPr>
                <a:t>ПЛОЩАДИ</a:t>
              </a:r>
              <a:r>
                <a:rPr lang="en-GB" b="1">
                  <a:solidFill>
                    <a:srgbClr val="0070C0"/>
                  </a:solidFill>
                  <a:latin typeface="Century Gothic"/>
                </a:rPr>
                <a:t> </a:t>
              </a:r>
              <a:endParaRPr lang="en-GB" b="1">
                <a:solidFill>
                  <a:srgbClr val="0070C0"/>
                </a:solidFill>
                <a:latin typeface="Century Gothic" panose="020B0502020202020204" pitchFamily="34" charset="0"/>
              </a:endParaRPr>
            </a:p>
            <a:p>
              <a:pPr algn="ctr">
                <a:defRPr/>
              </a:pPr>
              <a:r>
                <a:rPr lang="en-GB" b="1">
                  <a:solidFill>
                    <a:srgbClr val="0070C0"/>
                  </a:solidFill>
                  <a:latin typeface="Century Gothic"/>
                </a:rPr>
                <a:t>и ИТ</a:t>
              </a:r>
              <a:endParaRPr lang="en-GB" sz="18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02" name="Группа 101">
            <a:extLst>
              <a:ext uri="{FF2B5EF4-FFF2-40B4-BE49-F238E27FC236}">
                <a16:creationId xmlns:a16="http://schemas.microsoft.com/office/drawing/2014/main" id="{36989A07-D2A9-2568-C466-E020ABA1E7FF}"/>
              </a:ext>
            </a:extLst>
          </p:cNvPr>
          <p:cNvGrpSpPr/>
          <p:nvPr/>
        </p:nvGrpSpPr>
        <p:grpSpPr>
          <a:xfrm>
            <a:off x="3614308" y="2383302"/>
            <a:ext cx="2085388" cy="1164870"/>
            <a:chOff x="1204580" y="1587775"/>
            <a:chExt cx="1849887" cy="2356251"/>
          </a:xfrm>
        </p:grpSpPr>
        <p:grpSp>
          <p:nvGrpSpPr>
            <p:cNvPr id="103" name="Группа 102">
              <a:extLst>
                <a:ext uri="{FF2B5EF4-FFF2-40B4-BE49-F238E27FC236}">
                  <a16:creationId xmlns:a16="http://schemas.microsoft.com/office/drawing/2014/main" id="{5010B440-00A9-5DEC-D8D8-82F52107128F}"/>
                </a:ext>
              </a:extLst>
            </p:cNvPr>
            <p:cNvGrpSpPr/>
            <p:nvPr/>
          </p:nvGrpSpPr>
          <p:grpSpPr>
            <a:xfrm>
              <a:off x="1204580" y="1606714"/>
              <a:ext cx="1849887" cy="2337312"/>
              <a:chOff x="2285987" y="2654145"/>
              <a:chExt cx="2819412" cy="3466791"/>
            </a:xfrm>
            <a:solidFill>
              <a:schemeClr val="accent1">
                <a:lumMod val="20000"/>
                <a:lumOff val="80000"/>
              </a:schemeClr>
            </a:solidFill>
          </p:grpSpPr>
          <p:grpSp>
            <p:nvGrpSpPr>
              <p:cNvPr id="106" name="Группа 105">
                <a:extLst>
                  <a:ext uri="{FF2B5EF4-FFF2-40B4-BE49-F238E27FC236}">
                    <a16:creationId xmlns:a16="http://schemas.microsoft.com/office/drawing/2014/main" id="{069DEADB-DCE5-8616-EEF9-E680AC85B467}"/>
                  </a:ext>
                </a:extLst>
              </p:cNvPr>
              <p:cNvGrpSpPr/>
              <p:nvPr/>
            </p:nvGrpSpPr>
            <p:grpSpPr>
              <a:xfrm>
                <a:off x="2285999" y="2666999"/>
                <a:ext cx="2819400" cy="3453937"/>
                <a:chOff x="685799" y="4155800"/>
                <a:chExt cx="2590799" cy="945316"/>
              </a:xfrm>
              <a:grpFill/>
            </p:grpSpPr>
            <p:sp>
              <p:nvSpPr>
                <p:cNvPr id="108" name="Скругленный прямоугольник 107">
                  <a:extLst>
                    <a:ext uri="{FF2B5EF4-FFF2-40B4-BE49-F238E27FC236}">
                      <a16:creationId xmlns:a16="http://schemas.microsoft.com/office/drawing/2014/main" id="{E4F2B540-C359-1790-EFC9-1A472FFA309C}"/>
                    </a:ext>
                  </a:extLst>
                </p:cNvPr>
                <p:cNvSpPr/>
                <p:nvPr/>
              </p:nvSpPr>
              <p:spPr>
                <a:xfrm>
                  <a:off x="685799" y="4155800"/>
                  <a:ext cx="2590799" cy="945316"/>
                </a:xfrm>
                <a:prstGeom prst="roundRect">
                  <a:avLst>
                    <a:gd name="adj" fmla="val 8975"/>
                  </a:avLst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1E0BF43D-0457-E3C3-53AA-3350111D848D}"/>
                    </a:ext>
                  </a:extLst>
                </p:cNvPr>
                <p:cNvSpPr txBox="1"/>
                <p:nvPr/>
              </p:nvSpPr>
              <p:spPr>
                <a:xfrm>
                  <a:off x="844831" y="4746517"/>
                  <a:ext cx="2272714" cy="2274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Поддержка со стороны IT Park</a:t>
                  </a:r>
                  <a:endPara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7" name="Открывающая квадратная скобка 106">
                <a:extLst>
                  <a:ext uri="{FF2B5EF4-FFF2-40B4-BE49-F238E27FC236}">
                    <a16:creationId xmlns:a16="http://schemas.microsoft.com/office/drawing/2014/main" id="{C43F99F4-F52B-21BC-453A-86F826B68056}"/>
                  </a:ext>
                </a:extLst>
              </p:cNvPr>
              <p:cNvSpPr/>
              <p:nvPr/>
            </p:nvSpPr>
            <p:spPr>
              <a:xfrm rot="5400000">
                <a:off x="3581388" y="1358744"/>
                <a:ext cx="228600" cy="2819401"/>
              </a:xfrm>
              <a:prstGeom prst="leftBracket">
                <a:avLst>
                  <a:gd name="adj" fmla="val 84262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 w="317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04" name="Прямоугольник с двумя скругленными соседними углами 103">
              <a:extLst>
                <a:ext uri="{FF2B5EF4-FFF2-40B4-BE49-F238E27FC236}">
                  <a16:creationId xmlns:a16="http://schemas.microsoft.com/office/drawing/2014/main" id="{60F720DF-E169-FABF-5481-6FF0CC6E406C}"/>
                </a:ext>
              </a:extLst>
            </p:cNvPr>
            <p:cNvSpPr/>
            <p:nvPr/>
          </p:nvSpPr>
          <p:spPr>
            <a:xfrm>
              <a:off x="1204581" y="1587775"/>
              <a:ext cx="1849879" cy="1169551"/>
            </a:xfrm>
            <a:prstGeom prst="round2SameRect">
              <a:avLst>
                <a:gd name="adj1" fmla="val 19721"/>
                <a:gd name="adj2" fmla="val 0"/>
              </a:avLst>
            </a:prstGeom>
            <a:solidFill>
              <a:srgbClr val="00B050">
                <a:alpha val="1053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9699B5D6-8CCE-C9BA-CCEC-1B322564F8AE}"/>
                </a:ext>
              </a:extLst>
            </p:cNvPr>
            <p:cNvSpPr txBox="1"/>
            <p:nvPr/>
          </p:nvSpPr>
          <p:spPr>
            <a:xfrm>
              <a:off x="1204581" y="1935591"/>
              <a:ext cx="1849879" cy="7470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НАЛОГОВЫЕ ЛЬГОТЫ</a:t>
              </a:r>
            </a:p>
          </p:txBody>
        </p:sp>
      </p:grpSp>
      <p:grpSp>
        <p:nvGrpSpPr>
          <p:cNvPr id="115" name="Группа 114">
            <a:extLst>
              <a:ext uri="{FF2B5EF4-FFF2-40B4-BE49-F238E27FC236}">
                <a16:creationId xmlns:a16="http://schemas.microsoft.com/office/drawing/2014/main" id="{704C65E1-DE92-A189-F8AC-8D164FE73B7A}"/>
              </a:ext>
            </a:extLst>
          </p:cNvPr>
          <p:cNvGrpSpPr/>
          <p:nvPr/>
        </p:nvGrpSpPr>
        <p:grpSpPr>
          <a:xfrm>
            <a:off x="1269358" y="2807444"/>
            <a:ext cx="2342035" cy="1794426"/>
            <a:chOff x="1932270" y="2789517"/>
            <a:chExt cx="2342035" cy="1794426"/>
          </a:xfrm>
        </p:grpSpPr>
        <p:pic>
          <p:nvPicPr>
            <p:cNvPr id="113" name="Рисунок 112">
              <a:extLst>
                <a:ext uri="{FF2B5EF4-FFF2-40B4-BE49-F238E27FC236}">
                  <a16:creationId xmlns:a16="http://schemas.microsoft.com/office/drawing/2014/main" id="{52CE7813-E458-2708-2984-98F01EFD7A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11869"/>
            <a:stretch/>
          </p:blipFill>
          <p:spPr>
            <a:xfrm>
              <a:off x="2228444" y="2789517"/>
              <a:ext cx="1749688" cy="1542009"/>
            </a:xfrm>
            <a:prstGeom prst="rect">
              <a:avLst/>
            </a:prstGeom>
          </p:spPr>
        </p:pic>
        <p:pic>
          <p:nvPicPr>
            <p:cNvPr id="114" name="Рисунок 113">
              <a:extLst>
                <a:ext uri="{FF2B5EF4-FFF2-40B4-BE49-F238E27FC236}">
                  <a16:creationId xmlns:a16="http://schemas.microsoft.com/office/drawing/2014/main" id="{B76DE115-375A-01B2-30C0-225FFF6579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V="1">
              <a:off x="1932270" y="4097833"/>
              <a:ext cx="2342035" cy="48611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9D99406-3291-5D80-6EF1-9DA6DB9E35AF}"/>
              </a:ext>
            </a:extLst>
          </p:cNvPr>
          <p:cNvSpPr txBox="1"/>
          <p:nvPr/>
        </p:nvSpPr>
        <p:spPr>
          <a:xfrm>
            <a:off x="5645101" y="6384453"/>
            <a:ext cx="639789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*ITES = услуги на базе ИТ (колл-центры, обработка данных, дизайн, бухгалтерия, маркетинг и др.)</a:t>
            </a:r>
            <a:endParaRPr kumimoji="0" lang="ru-RU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7FF32B49-5679-4186-5B62-345466B5E4BD}"/>
              </a:ext>
            </a:extLst>
          </p:cNvPr>
          <p:cNvGrpSpPr/>
          <p:nvPr/>
        </p:nvGrpSpPr>
        <p:grpSpPr>
          <a:xfrm>
            <a:off x="6758449" y="2384216"/>
            <a:ext cx="2085405" cy="1164870"/>
            <a:chOff x="1204573" y="1587775"/>
            <a:chExt cx="1849894" cy="2356251"/>
          </a:xfrm>
        </p:grpSpPr>
        <p:grpSp>
          <p:nvGrpSpPr>
            <p:cNvPr id="30" name="Группа 29">
              <a:extLst>
                <a:ext uri="{FF2B5EF4-FFF2-40B4-BE49-F238E27FC236}">
                  <a16:creationId xmlns:a16="http://schemas.microsoft.com/office/drawing/2014/main" id="{744A25CF-48D1-962A-3D50-0D98ABCC0CF3}"/>
                </a:ext>
              </a:extLst>
            </p:cNvPr>
            <p:cNvGrpSpPr/>
            <p:nvPr/>
          </p:nvGrpSpPr>
          <p:grpSpPr>
            <a:xfrm>
              <a:off x="1204580" y="1606714"/>
              <a:ext cx="1849887" cy="2337312"/>
              <a:chOff x="2285987" y="2654145"/>
              <a:chExt cx="2819412" cy="3466791"/>
            </a:xfrm>
            <a:solidFill>
              <a:schemeClr val="accent1">
                <a:lumMod val="20000"/>
                <a:lumOff val="80000"/>
              </a:schemeClr>
            </a:solidFill>
          </p:grpSpPr>
          <p:grpSp>
            <p:nvGrpSpPr>
              <p:cNvPr id="34" name="Группа 33">
                <a:extLst>
                  <a:ext uri="{FF2B5EF4-FFF2-40B4-BE49-F238E27FC236}">
                    <a16:creationId xmlns:a16="http://schemas.microsoft.com/office/drawing/2014/main" id="{0B7623AB-B802-737E-052A-0CE22E60FA29}"/>
                  </a:ext>
                </a:extLst>
              </p:cNvPr>
              <p:cNvGrpSpPr/>
              <p:nvPr/>
            </p:nvGrpSpPr>
            <p:grpSpPr>
              <a:xfrm>
                <a:off x="2285999" y="2666999"/>
                <a:ext cx="2819400" cy="3453937"/>
                <a:chOff x="685799" y="4155800"/>
                <a:chExt cx="2590799" cy="945316"/>
              </a:xfrm>
              <a:grpFill/>
            </p:grpSpPr>
            <p:sp>
              <p:nvSpPr>
                <p:cNvPr id="36" name="Скругленный прямоугольник 35">
                  <a:extLst>
                    <a:ext uri="{FF2B5EF4-FFF2-40B4-BE49-F238E27FC236}">
                      <a16:creationId xmlns:a16="http://schemas.microsoft.com/office/drawing/2014/main" id="{16CD70D8-A00D-D6D5-E5BA-27F492E8BD2C}"/>
                    </a:ext>
                  </a:extLst>
                </p:cNvPr>
                <p:cNvSpPr/>
                <p:nvPr/>
              </p:nvSpPr>
              <p:spPr>
                <a:xfrm>
                  <a:off x="685799" y="4155800"/>
                  <a:ext cx="2590799" cy="945316"/>
                </a:xfrm>
                <a:prstGeom prst="roundRect">
                  <a:avLst>
                    <a:gd name="adj" fmla="val 8975"/>
                  </a:avLst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88DB4688-4ED1-50A5-97B4-0E34E6D83A66}"/>
                    </a:ext>
                  </a:extLst>
                </p:cNvPr>
                <p:cNvSpPr txBox="1"/>
                <p:nvPr/>
              </p:nvSpPr>
              <p:spPr>
                <a:xfrm>
                  <a:off x="831534" y="4632548"/>
                  <a:ext cx="2431757" cy="3790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Подбор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кандидатов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 — </a:t>
                  </a:r>
                  <a:r>
                    <a:rPr kumimoji="0" lang="en-GB" sz="1200" b="1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srgbClr val="00B050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Мадина</a:t>
                  </a:r>
                  <a:r>
                    <a:rPr kumimoji="0" lang="en-GB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B050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,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обученная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 в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рамках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проекта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 </a:t>
                  </a:r>
                </a:p>
              </p:txBody>
            </p:sp>
          </p:grpSp>
          <p:sp>
            <p:nvSpPr>
              <p:cNvPr id="35" name="Открывающая квадратная скобка 34">
                <a:extLst>
                  <a:ext uri="{FF2B5EF4-FFF2-40B4-BE49-F238E27FC236}">
                    <a16:creationId xmlns:a16="http://schemas.microsoft.com/office/drawing/2014/main" id="{21D6DC0A-36ED-222C-F720-B9A3B76E6726}"/>
                  </a:ext>
                </a:extLst>
              </p:cNvPr>
              <p:cNvSpPr/>
              <p:nvPr/>
            </p:nvSpPr>
            <p:spPr>
              <a:xfrm rot="5400000">
                <a:off x="3581388" y="1358744"/>
                <a:ext cx="228600" cy="2819401"/>
              </a:xfrm>
              <a:prstGeom prst="leftBracket">
                <a:avLst>
                  <a:gd name="adj" fmla="val 84262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 w="317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31" name="Прямоугольник с двумя скругленными соседними углами 30">
              <a:extLst>
                <a:ext uri="{FF2B5EF4-FFF2-40B4-BE49-F238E27FC236}">
                  <a16:creationId xmlns:a16="http://schemas.microsoft.com/office/drawing/2014/main" id="{0196A3AA-4187-D7AF-FB86-9C6F0089E6D2}"/>
                </a:ext>
              </a:extLst>
            </p:cNvPr>
            <p:cNvSpPr/>
            <p:nvPr/>
          </p:nvSpPr>
          <p:spPr>
            <a:xfrm>
              <a:off x="1204581" y="1587775"/>
              <a:ext cx="1849879" cy="1169551"/>
            </a:xfrm>
            <a:prstGeom prst="round2SameRect">
              <a:avLst>
                <a:gd name="adj1" fmla="val 19721"/>
                <a:gd name="adj2" fmla="val 0"/>
              </a:avLst>
            </a:prstGeom>
            <a:solidFill>
              <a:srgbClr val="00B050">
                <a:alpha val="1053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D712C43-C9D6-1146-C70C-71BAF7FDD3A1}"/>
                </a:ext>
              </a:extLst>
            </p:cNvPr>
            <p:cNvSpPr txBox="1"/>
            <p:nvPr/>
          </p:nvSpPr>
          <p:spPr>
            <a:xfrm>
              <a:off x="1204573" y="1852853"/>
              <a:ext cx="1849879" cy="7470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КАДРЫ</a:t>
              </a:r>
            </a:p>
          </p:txBody>
        </p:sp>
      </p:grp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16EA4E05-7D4B-F9A4-F1F3-95DF30CF0D42}"/>
              </a:ext>
            </a:extLst>
          </p:cNvPr>
          <p:cNvGrpSpPr/>
          <p:nvPr/>
        </p:nvGrpSpPr>
        <p:grpSpPr>
          <a:xfrm>
            <a:off x="8289646" y="3868529"/>
            <a:ext cx="2085406" cy="1190434"/>
            <a:chOff x="7123922" y="2412190"/>
            <a:chExt cx="1840430" cy="1190434"/>
          </a:xfrm>
        </p:grpSpPr>
        <p:grpSp>
          <p:nvGrpSpPr>
            <p:cNvPr id="21" name="Группа 20">
              <a:extLst>
                <a:ext uri="{FF2B5EF4-FFF2-40B4-BE49-F238E27FC236}">
                  <a16:creationId xmlns:a16="http://schemas.microsoft.com/office/drawing/2014/main" id="{72335B07-ED41-D17E-8E6E-3CD0FABB3057}"/>
                </a:ext>
              </a:extLst>
            </p:cNvPr>
            <p:cNvGrpSpPr/>
            <p:nvPr/>
          </p:nvGrpSpPr>
          <p:grpSpPr>
            <a:xfrm>
              <a:off x="7169293" y="2412190"/>
              <a:ext cx="1749703" cy="1190434"/>
              <a:chOff x="1204573" y="1587775"/>
              <a:chExt cx="1849894" cy="2407961"/>
            </a:xfrm>
          </p:grpSpPr>
          <p:grpSp>
            <p:nvGrpSpPr>
              <p:cNvPr id="22" name="Группа 21">
                <a:extLst>
                  <a:ext uri="{FF2B5EF4-FFF2-40B4-BE49-F238E27FC236}">
                    <a16:creationId xmlns:a16="http://schemas.microsoft.com/office/drawing/2014/main" id="{3572AECF-0FB9-00D1-C458-F3F59A405FB0}"/>
                  </a:ext>
                </a:extLst>
              </p:cNvPr>
              <p:cNvGrpSpPr/>
              <p:nvPr/>
            </p:nvGrpSpPr>
            <p:grpSpPr>
              <a:xfrm>
                <a:off x="1204580" y="1606714"/>
                <a:ext cx="1849887" cy="2389022"/>
                <a:chOff x="2285987" y="2654145"/>
                <a:chExt cx="2819412" cy="3543489"/>
              </a:xfrm>
              <a:solidFill>
                <a:schemeClr val="accent1">
                  <a:lumMod val="20000"/>
                  <a:lumOff val="80000"/>
                </a:schemeClr>
              </a:solidFill>
            </p:grpSpPr>
            <p:grpSp>
              <p:nvGrpSpPr>
                <p:cNvPr id="25" name="Группа 24">
                  <a:extLst>
                    <a:ext uri="{FF2B5EF4-FFF2-40B4-BE49-F238E27FC236}">
                      <a16:creationId xmlns:a16="http://schemas.microsoft.com/office/drawing/2014/main" id="{CAF0613F-3C08-37F3-7036-4F0A222DC15B}"/>
                    </a:ext>
                  </a:extLst>
                </p:cNvPr>
                <p:cNvGrpSpPr/>
                <p:nvPr/>
              </p:nvGrpSpPr>
              <p:grpSpPr>
                <a:xfrm>
                  <a:off x="2285999" y="2667001"/>
                  <a:ext cx="2819400" cy="3530633"/>
                  <a:chOff x="685799" y="4155800"/>
                  <a:chExt cx="2590799" cy="966307"/>
                </a:xfrm>
                <a:grpFill/>
              </p:grpSpPr>
              <p:sp>
                <p:nvSpPr>
                  <p:cNvPr id="27" name="Скругленный прямоугольник 26">
                    <a:extLst>
                      <a:ext uri="{FF2B5EF4-FFF2-40B4-BE49-F238E27FC236}">
                        <a16:creationId xmlns:a16="http://schemas.microsoft.com/office/drawing/2014/main" id="{09117CCB-5D28-DFF3-1B2C-736F85881BD0}"/>
                      </a:ext>
                    </a:extLst>
                  </p:cNvPr>
                  <p:cNvSpPr/>
                  <p:nvPr/>
                </p:nvSpPr>
                <p:spPr>
                  <a:xfrm>
                    <a:off x="685799" y="4155800"/>
                    <a:ext cx="2590799" cy="945316"/>
                  </a:xfrm>
                  <a:prstGeom prst="roundRect">
                    <a:avLst>
                      <a:gd name="adj" fmla="val 8975"/>
                    </a:avLst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  <a:ln>
                    <a:noFill/>
                  </a:ln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RU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10720820-7CD0-AE67-20AC-5A970438FC91}"/>
                      </a:ext>
                    </a:extLst>
                  </p:cNvPr>
                  <p:cNvSpPr txBox="1"/>
                  <p:nvPr/>
                </p:nvSpPr>
                <p:spPr>
                  <a:xfrm>
                    <a:off x="709554" y="4591378"/>
                    <a:ext cx="2466911" cy="5307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1200" b="0" i="0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rPr>
                      <a:t>Возмещение</a:t>
                    </a:r>
                    <a:r>
                      <a: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rPr>
                      <a:t> </a:t>
                    </a:r>
                    <a:r>
                      <a:rPr kumimoji="0" lang="en-GB" sz="1200" b="0" i="0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rPr>
                      <a:t>расходов</a:t>
                    </a:r>
                    <a:r>
                      <a: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rPr>
                      <a:t> </a:t>
                    </a:r>
                    <a:r>
                      <a:rPr kumimoji="0" lang="en-GB" sz="1200" b="0" i="0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rPr>
                      <a:t>на</a:t>
                    </a:r>
                    <a:r>
                      <a: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rPr>
                      <a:t> </a:t>
                    </a:r>
                    <a:r>
                      <a:rPr kumimoji="0" lang="en-GB" sz="1200" b="0" i="0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rPr>
                      <a:t>обучение</a:t>
                    </a:r>
                    <a:r>
                      <a: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rPr>
                      <a:t> и HR-</a:t>
                    </a:r>
                    <a:r>
                      <a:rPr kumimoji="0" lang="en-GB" sz="1200" b="0" i="0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rPr>
                      <a:t>услуги</a:t>
                    </a:r>
                    <a:endPara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6" name="Открывающая квадратная скобка 25">
                  <a:extLst>
                    <a:ext uri="{FF2B5EF4-FFF2-40B4-BE49-F238E27FC236}">
                      <a16:creationId xmlns:a16="http://schemas.microsoft.com/office/drawing/2014/main" id="{713909C6-7793-C8BC-891F-15E5C7377173}"/>
                    </a:ext>
                  </a:extLst>
                </p:cNvPr>
                <p:cNvSpPr/>
                <p:nvPr/>
              </p:nvSpPr>
              <p:spPr>
                <a:xfrm rot="5400000">
                  <a:off x="3581388" y="1358744"/>
                  <a:ext cx="228600" cy="2819401"/>
                </a:xfrm>
                <a:prstGeom prst="leftBracket">
                  <a:avLst>
                    <a:gd name="adj" fmla="val 84262"/>
                  </a:avLst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 w="3175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3" name="Прямоугольник с двумя скругленными соседними углами 22">
                <a:extLst>
                  <a:ext uri="{FF2B5EF4-FFF2-40B4-BE49-F238E27FC236}">
                    <a16:creationId xmlns:a16="http://schemas.microsoft.com/office/drawing/2014/main" id="{4D66FF4D-3F9E-7A0C-C81C-3E55C3FFA304}"/>
                  </a:ext>
                </a:extLst>
              </p:cNvPr>
              <p:cNvSpPr/>
              <p:nvPr/>
            </p:nvSpPr>
            <p:spPr>
              <a:xfrm>
                <a:off x="1204581" y="1587775"/>
                <a:ext cx="1849879" cy="1169551"/>
              </a:xfrm>
              <a:prstGeom prst="round2SameRect">
                <a:avLst>
                  <a:gd name="adj1" fmla="val 19721"/>
                  <a:gd name="adj2" fmla="val 0"/>
                </a:avLst>
              </a:prstGeom>
              <a:solidFill>
                <a:srgbClr val="00B050">
                  <a:alpha val="10538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D930057-CD38-EE2B-E828-9172074E0564}"/>
                  </a:ext>
                </a:extLst>
              </p:cNvPr>
              <p:cNvSpPr txBox="1"/>
              <p:nvPr/>
            </p:nvSpPr>
            <p:spPr>
              <a:xfrm>
                <a:off x="1204573" y="1852853"/>
                <a:ext cx="1849879" cy="747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5F7AD67-33C7-DC79-A467-0170B876A5CC}"/>
                </a:ext>
              </a:extLst>
            </p:cNvPr>
            <p:cNvSpPr txBox="1"/>
            <p:nvPr/>
          </p:nvSpPr>
          <p:spPr>
            <a:xfrm>
              <a:off x="7123922" y="2560780"/>
              <a:ext cx="18404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ОБУЧЕНИЕ и HR</a:t>
              </a:r>
            </a:p>
          </p:txBody>
        </p:sp>
      </p:grp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993B54AC-E81A-489E-9351-7511BDEFDDFE}"/>
              </a:ext>
            </a:extLst>
          </p:cNvPr>
          <p:cNvGrpSpPr/>
          <p:nvPr/>
        </p:nvGrpSpPr>
        <p:grpSpPr>
          <a:xfrm>
            <a:off x="9742714" y="2363729"/>
            <a:ext cx="2298323" cy="1192692"/>
            <a:chOff x="1012087" y="1587775"/>
            <a:chExt cx="2077790" cy="2412528"/>
          </a:xfrm>
        </p:grpSpPr>
        <p:grpSp>
          <p:nvGrpSpPr>
            <p:cNvPr id="40" name="Группа 39">
              <a:extLst>
                <a:ext uri="{FF2B5EF4-FFF2-40B4-BE49-F238E27FC236}">
                  <a16:creationId xmlns:a16="http://schemas.microsoft.com/office/drawing/2014/main" id="{B26C18AC-2629-AAA1-8814-9018DE4391F6}"/>
                </a:ext>
              </a:extLst>
            </p:cNvPr>
            <p:cNvGrpSpPr/>
            <p:nvPr/>
          </p:nvGrpSpPr>
          <p:grpSpPr>
            <a:xfrm>
              <a:off x="1012087" y="1606714"/>
              <a:ext cx="2077790" cy="2393589"/>
              <a:chOff x="1992606" y="2654145"/>
              <a:chExt cx="3166758" cy="3550263"/>
            </a:xfrm>
            <a:solidFill>
              <a:schemeClr val="accent1">
                <a:lumMod val="20000"/>
                <a:lumOff val="80000"/>
              </a:schemeClr>
            </a:solidFill>
          </p:grpSpPr>
          <p:grpSp>
            <p:nvGrpSpPr>
              <p:cNvPr id="43" name="Группа 42">
                <a:extLst>
                  <a:ext uri="{FF2B5EF4-FFF2-40B4-BE49-F238E27FC236}">
                    <a16:creationId xmlns:a16="http://schemas.microsoft.com/office/drawing/2014/main" id="{BC4EE433-064C-D0A9-C480-692FE851A56C}"/>
                  </a:ext>
                </a:extLst>
              </p:cNvPr>
              <p:cNvGrpSpPr/>
              <p:nvPr/>
            </p:nvGrpSpPr>
            <p:grpSpPr>
              <a:xfrm>
                <a:off x="1992606" y="2667001"/>
                <a:ext cx="3166758" cy="3537407"/>
                <a:chOff x="416195" y="4155800"/>
                <a:chExt cx="2909992" cy="968161"/>
              </a:xfrm>
              <a:grpFill/>
            </p:grpSpPr>
            <p:sp>
              <p:nvSpPr>
                <p:cNvPr id="45" name="Скругленный прямоугольник 44">
                  <a:extLst>
                    <a:ext uri="{FF2B5EF4-FFF2-40B4-BE49-F238E27FC236}">
                      <a16:creationId xmlns:a16="http://schemas.microsoft.com/office/drawing/2014/main" id="{8BAB80B5-9AD1-2203-FF60-4A685768CCB1}"/>
                    </a:ext>
                  </a:extLst>
                </p:cNvPr>
                <p:cNvSpPr/>
                <p:nvPr/>
              </p:nvSpPr>
              <p:spPr>
                <a:xfrm>
                  <a:off x="685799" y="4155800"/>
                  <a:ext cx="2590799" cy="945316"/>
                </a:xfrm>
                <a:prstGeom prst="roundRect">
                  <a:avLst>
                    <a:gd name="adj" fmla="val 8975"/>
                  </a:avLst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45542916-C51D-23C8-77D3-9CBD01C46DB2}"/>
                    </a:ext>
                  </a:extLst>
                </p:cNvPr>
                <p:cNvSpPr txBox="1"/>
                <p:nvPr/>
              </p:nvSpPr>
              <p:spPr>
                <a:xfrm>
                  <a:off x="416195" y="4593232"/>
                  <a:ext cx="2909992" cy="530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GB" sz="1200" dirty="0">
                      <a:solidFill>
                        <a:prstClr val="black"/>
                      </a:solidFill>
                      <a:latin typeface="Century Gothic" panose="020B0502020202020204" pitchFamily="34" charset="0"/>
                    </a:rPr>
                    <a:t>15% в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озмещения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при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найме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молодёжи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,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женщин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 и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лиц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 с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инвалидностью</a:t>
                  </a:r>
                  <a:endParaRPr kumimoji="0" lang="en-GB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4" name="Открывающая квадратная скобка 43">
                <a:extLst>
                  <a:ext uri="{FF2B5EF4-FFF2-40B4-BE49-F238E27FC236}">
                    <a16:creationId xmlns:a16="http://schemas.microsoft.com/office/drawing/2014/main" id="{A5E2B308-D8E9-6817-A2FD-2CB8AA390578}"/>
                  </a:ext>
                </a:extLst>
              </p:cNvPr>
              <p:cNvSpPr/>
              <p:nvPr/>
            </p:nvSpPr>
            <p:spPr>
              <a:xfrm rot="5400000">
                <a:off x="3581388" y="1358744"/>
                <a:ext cx="228600" cy="2819401"/>
              </a:xfrm>
              <a:prstGeom prst="leftBracket">
                <a:avLst>
                  <a:gd name="adj" fmla="val 84262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 w="317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1" name="Прямоугольник с двумя скругленными соседними углами 40">
              <a:extLst>
                <a:ext uri="{FF2B5EF4-FFF2-40B4-BE49-F238E27FC236}">
                  <a16:creationId xmlns:a16="http://schemas.microsoft.com/office/drawing/2014/main" id="{F2C8A6F9-4B6F-AD2D-10BE-182758B1D925}"/>
                </a:ext>
              </a:extLst>
            </p:cNvPr>
            <p:cNvSpPr/>
            <p:nvPr/>
          </p:nvSpPr>
          <p:spPr>
            <a:xfrm>
              <a:off x="1204581" y="1587775"/>
              <a:ext cx="1849879" cy="1169551"/>
            </a:xfrm>
            <a:prstGeom prst="round2SameRect">
              <a:avLst>
                <a:gd name="adj1" fmla="val 19721"/>
                <a:gd name="adj2" fmla="val 0"/>
              </a:avLst>
            </a:prstGeom>
            <a:solidFill>
              <a:srgbClr val="00B050">
                <a:alpha val="1053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779F937-38EC-5824-0D11-7108CC5B5F80}"/>
                </a:ext>
              </a:extLst>
            </p:cNvPr>
            <p:cNvSpPr txBox="1"/>
            <p:nvPr/>
          </p:nvSpPr>
          <p:spPr>
            <a:xfrm>
              <a:off x="1204573" y="1852853"/>
              <a:ext cx="1849879" cy="7470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ЗАРПЛАТА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8201894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0" descr="A map of the world&#10;&#10;AI-generated content may be incorrect.">
            <a:extLst>
              <a:ext uri="{FF2B5EF4-FFF2-40B4-BE49-F238E27FC236}">
                <a16:creationId xmlns:a16="http://schemas.microsoft.com/office/drawing/2014/main" id="{A00EB8C1-E6DB-0BE2-17A8-8A83692FBF8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CD06B1B7-EA30-3442-8545-BE81347EBC2A}"/>
              </a:ext>
            </a:extLst>
          </p:cNvPr>
          <p:cNvSpPr/>
          <p:nvPr/>
        </p:nvSpPr>
        <p:spPr>
          <a:xfrm>
            <a:off x="1585913" y="2544415"/>
            <a:ext cx="10051329" cy="1434833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Roboto Condensed"/>
              <a:ea typeface="+mn-ea"/>
              <a:cs typeface="Roboto Condense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2A2292-531E-C3BA-7C12-80CFABC9067A}"/>
              </a:ext>
            </a:extLst>
          </p:cNvPr>
          <p:cNvSpPr txBox="1"/>
          <p:nvPr/>
        </p:nvSpPr>
        <p:spPr>
          <a:xfrm>
            <a:off x="1841946" y="2848108"/>
            <a:ext cx="860600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>
                <a:ln>
                  <a:noFill/>
                </a:ln>
                <a:solidFill>
                  <a:srgbClr val="D97706"/>
                </a:solidFill>
                <a:effectLst/>
                <a:uLnTx/>
                <a:uFillTx/>
                <a:latin typeface="Avenir Black" panose="02000503020000020003" pitchFamily="2" charset="0"/>
                <a:ea typeface="+mn-ea"/>
                <a:cs typeface="Roboto Condensed"/>
              </a:rPr>
              <a:t>Спасибо за внимание</a:t>
            </a: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464648DF-9A6E-C76C-3C99-12EDAF9BC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9952" y="2303186"/>
            <a:ext cx="1917290" cy="191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717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45977"/>
            <a:ext cx="10299546" cy="6400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r>
              <a:rPr sz="2400" b="1" i="0" dirty="0">
                <a:solidFill>
                  <a:srgbClr val="003366"/>
                </a:solidFill>
                <a:latin typeface="Georgia"/>
              </a:rPr>
              <a:t>Энергетика: Китай строит базу для эпохи 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13066"/>
            <a:ext cx="8686800" cy="3657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r>
              <a:rPr sz="1250" b="0" i="0" dirty="0">
                <a:solidFill>
                  <a:srgbClr val="5A6473"/>
                </a:solidFill>
                <a:latin typeface="Aptos"/>
              </a:rPr>
              <a:t>Ежегодный ввод «чистых» энергомощностей в Китае в несколько раз превышает планируемый ежегодный ввод в США.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73152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r>
              <a:rPr sz="750" b="0" i="0">
                <a:solidFill>
                  <a:srgbClr val="5A6473"/>
                </a:solidFill>
                <a:latin typeface="Aptos"/>
              </a:rPr>
              <a:t>Источник: Carbon Brief 2025; EIA Today in Energy 2025; IEA Renewables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320040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/>
            <a:r>
              <a:rPr sz="800" b="0" i="0">
                <a:solidFill>
                  <a:srgbClr val="5A6473"/>
                </a:solidFill>
                <a:latin typeface="Aptos"/>
              </a:rPr>
              <a:t>7</a:t>
            </a:r>
          </a:p>
        </p:txBody>
      </p:sp>
      <p:pic>
        <p:nvPicPr>
          <p:cNvPr id="8" name="Picture 7" descr="energy_additions_china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59954"/>
            <a:ext cx="6629400" cy="40088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7" y="5342740"/>
            <a:ext cx="6629399" cy="963956"/>
          </a:xfrm>
          <a:prstGeom prst="rect">
            <a:avLst/>
          </a:prstGeom>
          <a:noFill/>
        </p:spPr>
        <p:txBody>
          <a:bodyPr wrap="square" lIns="64008" tIns="27432" rIns="54864" bIns="27432">
            <a:normAutofit fontScale="92500" lnSpcReduction="10000"/>
          </a:bodyPr>
          <a:lstStyle/>
          <a:p>
            <a:pPr>
              <a:spcAft>
                <a:spcPts val="400"/>
              </a:spcAft>
              <a:defRPr sz="1240">
                <a:solidFill>
                  <a:srgbClr val="1B1B1B"/>
                </a:solidFill>
                <a:latin typeface="Aptos"/>
              </a:defRPr>
            </a:pPr>
            <a:r>
              <a:rPr dirty="0"/>
              <a:t>По прогнозу МЭА (IEA), на Китай придётся около 60% мирового прироста мощностей возобновляемой энергетики до 2030 г.</a:t>
            </a:r>
          </a:p>
          <a:p>
            <a:pPr>
              <a:spcAft>
                <a:spcPts val="400"/>
              </a:spcAft>
              <a:defRPr sz="1240">
                <a:solidFill>
                  <a:srgbClr val="1B1B1B"/>
                </a:solidFill>
                <a:latin typeface="Aptos"/>
              </a:defRPr>
            </a:pPr>
            <a:r>
              <a:rPr dirty="0"/>
              <a:t>Китай выполнил цель 2030 года в 1 200 ГВт солнечной и ветровой генерации на шесть лет раньше срока.</a:t>
            </a:r>
          </a:p>
          <a:p>
            <a:pPr>
              <a:spcAft>
                <a:spcPts val="400"/>
              </a:spcAft>
              <a:defRPr sz="1240">
                <a:solidFill>
                  <a:srgbClr val="1B1B1B"/>
                </a:solidFill>
                <a:latin typeface="Aptos"/>
              </a:defRPr>
            </a:pPr>
            <a:r>
              <a:rPr dirty="0"/>
              <a:t>По данным Carbon Brief, в 2024 г. в Китае введено около 278 ГВт солнечных и около 80 ГВт ветровых мощностей; только в марте 2025 г. добавлено 23 ГВт солнечных и 13 ГВт ветровых.</a:t>
            </a:r>
          </a:p>
          <a:p>
            <a:pPr>
              <a:spcAft>
                <a:spcPts val="400"/>
              </a:spcAft>
              <a:defRPr sz="1240">
                <a:solidFill>
                  <a:srgbClr val="1B1B1B"/>
                </a:solidFill>
                <a:latin typeface="Aptos"/>
              </a:defRPr>
            </a:pPr>
            <a:r>
              <a:rPr dirty="0"/>
              <a:t>По оценке EIA, ввод мощностей в США в 2025 г. должен быть обеспечен прежде всего солнечной генерацией (~32,5 ГВт), накопителями энергии (~18,2 ГВт) и ветром (~7,7 ГВт).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9621B9E-84A8-EA81-F57B-5B9F2AF27C98}"/>
              </a:ext>
            </a:extLst>
          </p:cNvPr>
          <p:cNvGrpSpPr/>
          <p:nvPr/>
        </p:nvGrpSpPr>
        <p:grpSpPr>
          <a:xfrm>
            <a:off x="7490460" y="1259954"/>
            <a:ext cx="4305300" cy="4762500"/>
            <a:chOff x="7490460" y="1259954"/>
            <a:chExt cx="4305300" cy="4762500"/>
          </a:xfrm>
        </p:grpSpPr>
        <p:pic>
          <p:nvPicPr>
            <p:cNvPr id="11" name="Picture 10" descr="A graph of the cost of electricity&#10;&#10;AI-generated content may be incorrect.">
              <a:extLst>
                <a:ext uri="{FF2B5EF4-FFF2-40B4-BE49-F238E27FC236}">
                  <a16:creationId xmlns:a16="http://schemas.microsoft.com/office/drawing/2014/main" id="{5B618C3B-66A9-585D-CC18-4B93690839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90460" y="1259954"/>
              <a:ext cx="4305300" cy="47625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21D3F5D-532E-5B6B-E6B1-7D5616B0C1DC}"/>
                </a:ext>
              </a:extLst>
            </p:cNvPr>
            <p:cNvSpPr txBox="1"/>
            <p:nvPr/>
          </p:nvSpPr>
          <p:spPr>
            <a:xfrm>
              <a:off x="9253728" y="5691045"/>
              <a:ext cx="13281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18 марта 2026 г.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FD2D11C-B530-D090-4D19-A032681CA928}"/>
              </a:ext>
            </a:extLst>
          </p:cNvPr>
          <p:cNvSpPr txBox="1"/>
          <p:nvPr/>
        </p:nvSpPr>
        <p:spPr>
          <a:xfrm>
            <a:off x="7490460" y="6096351"/>
            <a:ext cx="4621314" cy="525272"/>
          </a:xfrm>
          <a:prstGeom prst="rect">
            <a:avLst/>
          </a:prstGeom>
          <a:noFill/>
        </p:spPr>
        <p:txBody>
          <a:bodyPr wrap="square" lIns="64008" tIns="27432" rIns="54864" bIns="27432">
            <a:normAutofit fontScale="92500" lnSpcReduction="10000"/>
          </a:bodyPr>
          <a:lstStyle>
            <a:lvl1pPr>
              <a:spcAft>
                <a:spcPts val="400"/>
              </a:spcAft>
              <a:defRPr sz="1240">
                <a:solidFill>
                  <a:srgbClr val="1B1B1B"/>
                </a:solidFill>
                <a:latin typeface="Aptos"/>
              </a:defRPr>
            </a:lvl1pPr>
          </a:lstStyle>
          <a:p>
            <a:r>
              <a:rPr lang="en-US" dirty="0"/>
              <a:t>Китай ввёл эти мощности только за прошлый год, доведя общую мощность до 3 800 ГВт — более чем вдвое больше, чем у США. В ближайшие пять лет Китай намерен добавить в шесть раз больше мощностей.</a:t>
            </a:r>
          </a:p>
        </p:txBody>
      </p:sp>
    </p:spTree>
    <p:extLst>
      <p:ext uri="{BB962C8B-B14F-4D97-AF65-F5344CB8AC3E}">
        <p14:creationId xmlns:p14="http://schemas.microsoft.com/office/powerpoint/2010/main" val="6388854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1D64D-E3D4-480F-3594-1690F9828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B6E5C1F-ED00-55D0-930E-6441CCFA2D25}"/>
              </a:ext>
            </a:extLst>
          </p:cNvPr>
          <p:cNvSpPr/>
          <p:nvPr/>
        </p:nvSpPr>
        <p:spPr>
          <a:xfrm>
            <a:off x="974810" y="4285308"/>
            <a:ext cx="10503562" cy="234730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/>
              <a:ea typeface="+mn-ea"/>
              <a:cs typeface="Roboto Condensed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D70800-2C0D-D844-F4DE-69E09B192805}"/>
              </a:ext>
            </a:extLst>
          </p:cNvPr>
          <p:cNvSpPr txBox="1">
            <a:spLocks/>
          </p:cNvSpPr>
          <p:nvPr/>
        </p:nvSpPr>
        <p:spPr>
          <a:xfrm>
            <a:off x="1211297" y="541679"/>
            <a:ext cx="9482933" cy="815955"/>
          </a:xfrm>
          <a:prstGeom prst="rect">
            <a:avLst/>
          </a:prstGeom>
        </p:spPr>
        <p:txBody>
          <a:bodyPr lIns="96012" tIns="48006" rIns="96012" bIns="48006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000" b="1" i="0" u="none" strike="noStrike" kern="1200" cap="none" spc="0" normalizeH="0" baseline="0" noProof="0">
              <a:ln>
                <a:noFill/>
              </a:ln>
              <a:solidFill>
                <a:srgbClr val="000D9F"/>
              </a:solidFill>
              <a:effectLst/>
              <a:uLnTx/>
              <a:uFillTx/>
              <a:latin typeface="Avenir Book" panose="02000503020000020003" pitchFamily="2" charset="0"/>
              <a:ea typeface="Tw Cen MT Condensed Extra Bold" charset="0"/>
              <a:cs typeface="Tw Cen MT Condensed Extra Bold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4B8D81E8-BDEF-3684-AAA7-696B8AB5162D}"/>
              </a:ext>
            </a:extLst>
          </p:cNvPr>
          <p:cNvGrpSpPr/>
          <p:nvPr/>
        </p:nvGrpSpPr>
        <p:grpSpPr>
          <a:xfrm>
            <a:off x="974810" y="638815"/>
            <a:ext cx="10503562" cy="1434833"/>
            <a:chOff x="1803432" y="1023134"/>
            <a:chExt cx="10503562" cy="1434833"/>
          </a:xfrm>
          <a:solidFill>
            <a:srgbClr val="1E3A5F"/>
          </a:solidFill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368281C8-E7DF-E46C-62AC-3BC45F2A754D}"/>
                </a:ext>
              </a:extLst>
            </p:cNvPr>
            <p:cNvSpPr/>
            <p:nvPr/>
          </p:nvSpPr>
          <p:spPr>
            <a:xfrm>
              <a:off x="1803432" y="1023134"/>
              <a:ext cx="10503562" cy="1434833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boto Condensed"/>
                <a:ea typeface="+mn-ea"/>
                <a:cs typeface="Roboto Condensed"/>
              </a:endParaRP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024B607E-D653-B742-FF0E-D30AA6315D66}"/>
                </a:ext>
              </a:extLst>
            </p:cNvPr>
            <p:cNvSpPr txBox="1">
              <a:spLocks/>
            </p:cNvSpPr>
            <p:nvPr/>
          </p:nvSpPr>
          <p:spPr>
            <a:xfrm>
              <a:off x="2176234" y="1218029"/>
              <a:ext cx="10056119" cy="1110127"/>
            </a:xfrm>
            <a:prstGeom prst="rect">
              <a:avLst/>
            </a:prstGeom>
            <a:noFill/>
          </p:spPr>
          <p:txBody>
            <a:bodyPr lIns="96012" tIns="48006" rIns="96012" bIns="48006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Book" panose="02000503020000020003" pitchFamily="2" charset="0"/>
                  <a:ea typeface="Tw Cen MT Condensed Extra Bold" charset="0"/>
                  <a:cs typeface="Tw Cen MT Condensed Extra Bold" charset="0"/>
                </a:rPr>
                <a:t>Узбекистан: поддержка ИИ-стартапов даёт результат; приоритет — быстрое масштабирование  </a:t>
              </a:r>
              <a:endPara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Book" panose="02000503020000020003" pitchFamily="2" charset="0"/>
                <a:ea typeface="+mj-ea"/>
                <a:cs typeface="Roboto Medium"/>
              </a:endParaRPr>
            </a:p>
          </p:txBody>
        </p:sp>
      </p:grpSp>
      <p:sp>
        <p:nvSpPr>
          <p:cNvPr id="4" name="Freeform 99">
            <a:extLst>
              <a:ext uri="{FF2B5EF4-FFF2-40B4-BE49-F238E27FC236}">
                <a16:creationId xmlns:a16="http://schemas.microsoft.com/office/drawing/2014/main" id="{489FD8D8-A3A3-9620-36D5-2F399AEEF0C6}"/>
              </a:ext>
            </a:extLst>
          </p:cNvPr>
          <p:cNvSpPr>
            <a:spLocks/>
          </p:cNvSpPr>
          <p:nvPr/>
        </p:nvSpPr>
        <p:spPr bwMode="gray">
          <a:xfrm>
            <a:off x="1072722" y="3077708"/>
            <a:ext cx="1704967" cy="1018096"/>
          </a:xfrm>
          <a:custGeom>
            <a:avLst/>
            <a:gdLst>
              <a:gd name="T0" fmla="*/ 0 w 266"/>
              <a:gd name="T1" fmla="*/ 82 h 158"/>
              <a:gd name="T2" fmla="*/ 0 w 266"/>
              <a:gd name="T3" fmla="*/ 8 h 158"/>
              <a:gd name="T4" fmla="*/ 18 w 266"/>
              <a:gd name="T5" fmla="*/ 4 h 158"/>
              <a:gd name="T6" fmla="*/ 46 w 266"/>
              <a:gd name="T7" fmla="*/ 0 h 158"/>
              <a:gd name="T8" fmla="*/ 54 w 266"/>
              <a:gd name="T9" fmla="*/ 6 h 158"/>
              <a:gd name="T10" fmla="*/ 70 w 266"/>
              <a:gd name="T11" fmla="*/ 16 h 158"/>
              <a:gd name="T12" fmla="*/ 80 w 266"/>
              <a:gd name="T13" fmla="*/ 20 h 158"/>
              <a:gd name="T14" fmla="*/ 94 w 266"/>
              <a:gd name="T15" fmla="*/ 38 h 158"/>
              <a:gd name="T16" fmla="*/ 132 w 266"/>
              <a:gd name="T17" fmla="*/ 36 h 158"/>
              <a:gd name="T18" fmla="*/ 140 w 266"/>
              <a:gd name="T19" fmla="*/ 34 h 158"/>
              <a:gd name="T20" fmla="*/ 158 w 266"/>
              <a:gd name="T21" fmla="*/ 52 h 158"/>
              <a:gd name="T22" fmla="*/ 158 w 266"/>
              <a:gd name="T23" fmla="*/ 60 h 158"/>
              <a:gd name="T24" fmla="*/ 168 w 266"/>
              <a:gd name="T25" fmla="*/ 68 h 158"/>
              <a:gd name="T26" fmla="*/ 170 w 266"/>
              <a:gd name="T27" fmla="*/ 84 h 158"/>
              <a:gd name="T28" fmla="*/ 188 w 266"/>
              <a:gd name="T29" fmla="*/ 82 h 158"/>
              <a:gd name="T30" fmla="*/ 192 w 266"/>
              <a:gd name="T31" fmla="*/ 84 h 158"/>
              <a:gd name="T32" fmla="*/ 192 w 266"/>
              <a:gd name="T33" fmla="*/ 94 h 158"/>
              <a:gd name="T34" fmla="*/ 200 w 266"/>
              <a:gd name="T35" fmla="*/ 94 h 158"/>
              <a:gd name="T36" fmla="*/ 202 w 266"/>
              <a:gd name="T37" fmla="*/ 84 h 158"/>
              <a:gd name="T38" fmla="*/ 214 w 266"/>
              <a:gd name="T39" fmla="*/ 74 h 158"/>
              <a:gd name="T40" fmla="*/ 234 w 266"/>
              <a:gd name="T41" fmla="*/ 62 h 158"/>
              <a:gd name="T42" fmla="*/ 230 w 266"/>
              <a:gd name="T43" fmla="*/ 72 h 158"/>
              <a:gd name="T44" fmla="*/ 228 w 266"/>
              <a:gd name="T45" fmla="*/ 76 h 158"/>
              <a:gd name="T46" fmla="*/ 236 w 266"/>
              <a:gd name="T47" fmla="*/ 80 h 158"/>
              <a:gd name="T48" fmla="*/ 248 w 266"/>
              <a:gd name="T49" fmla="*/ 76 h 158"/>
              <a:gd name="T50" fmla="*/ 258 w 266"/>
              <a:gd name="T51" fmla="*/ 82 h 158"/>
              <a:gd name="T52" fmla="*/ 266 w 266"/>
              <a:gd name="T53" fmla="*/ 90 h 158"/>
              <a:gd name="T54" fmla="*/ 258 w 266"/>
              <a:gd name="T55" fmla="*/ 98 h 158"/>
              <a:gd name="T56" fmla="*/ 248 w 266"/>
              <a:gd name="T57" fmla="*/ 102 h 158"/>
              <a:gd name="T58" fmla="*/ 236 w 266"/>
              <a:gd name="T59" fmla="*/ 102 h 158"/>
              <a:gd name="T60" fmla="*/ 232 w 266"/>
              <a:gd name="T61" fmla="*/ 98 h 158"/>
              <a:gd name="T62" fmla="*/ 234 w 266"/>
              <a:gd name="T63" fmla="*/ 90 h 158"/>
              <a:gd name="T64" fmla="*/ 228 w 266"/>
              <a:gd name="T65" fmla="*/ 88 h 158"/>
              <a:gd name="T66" fmla="*/ 216 w 266"/>
              <a:gd name="T67" fmla="*/ 90 h 158"/>
              <a:gd name="T68" fmla="*/ 212 w 266"/>
              <a:gd name="T69" fmla="*/ 98 h 158"/>
              <a:gd name="T70" fmla="*/ 204 w 266"/>
              <a:gd name="T71" fmla="*/ 102 h 158"/>
              <a:gd name="T72" fmla="*/ 198 w 266"/>
              <a:gd name="T73" fmla="*/ 100 h 158"/>
              <a:gd name="T74" fmla="*/ 200 w 266"/>
              <a:gd name="T75" fmla="*/ 114 h 158"/>
              <a:gd name="T76" fmla="*/ 180 w 266"/>
              <a:gd name="T77" fmla="*/ 114 h 158"/>
              <a:gd name="T78" fmla="*/ 180 w 266"/>
              <a:gd name="T79" fmla="*/ 124 h 158"/>
              <a:gd name="T80" fmla="*/ 192 w 266"/>
              <a:gd name="T81" fmla="*/ 124 h 158"/>
              <a:gd name="T82" fmla="*/ 190 w 266"/>
              <a:gd name="T83" fmla="*/ 138 h 158"/>
              <a:gd name="T84" fmla="*/ 196 w 266"/>
              <a:gd name="T85" fmla="*/ 140 h 158"/>
              <a:gd name="T86" fmla="*/ 188 w 266"/>
              <a:gd name="T87" fmla="*/ 150 h 158"/>
              <a:gd name="T88" fmla="*/ 188 w 266"/>
              <a:gd name="T89" fmla="*/ 158 h 158"/>
              <a:gd name="T90" fmla="*/ 168 w 266"/>
              <a:gd name="T91" fmla="*/ 152 h 158"/>
              <a:gd name="T92" fmla="*/ 168 w 266"/>
              <a:gd name="T93" fmla="*/ 144 h 158"/>
              <a:gd name="T94" fmla="*/ 158 w 266"/>
              <a:gd name="T95" fmla="*/ 138 h 158"/>
              <a:gd name="T96" fmla="*/ 146 w 266"/>
              <a:gd name="T97" fmla="*/ 136 h 158"/>
              <a:gd name="T98" fmla="*/ 104 w 266"/>
              <a:gd name="T99" fmla="*/ 108 h 158"/>
              <a:gd name="T100" fmla="*/ 90 w 266"/>
              <a:gd name="T101" fmla="*/ 82 h 158"/>
              <a:gd name="T102" fmla="*/ 64 w 266"/>
              <a:gd name="T103" fmla="*/ 82 h 158"/>
              <a:gd name="T104" fmla="*/ 64 w 266"/>
              <a:gd name="T105" fmla="*/ 66 h 158"/>
              <a:gd name="T106" fmla="*/ 62 w 266"/>
              <a:gd name="T107" fmla="*/ 62 h 158"/>
              <a:gd name="T108" fmla="*/ 48 w 266"/>
              <a:gd name="T109" fmla="*/ 60 h 158"/>
              <a:gd name="T110" fmla="*/ 42 w 266"/>
              <a:gd name="T111" fmla="*/ 54 h 158"/>
              <a:gd name="T112" fmla="*/ 14 w 266"/>
              <a:gd name="T113" fmla="*/ 68 h 158"/>
              <a:gd name="T114" fmla="*/ 14 w 266"/>
              <a:gd name="T115" fmla="*/ 80 h 158"/>
              <a:gd name="T116" fmla="*/ 0 w 266"/>
              <a:gd name="T117" fmla="*/ 82 h 1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66" h="158">
                <a:moveTo>
                  <a:pt x="0" y="82"/>
                </a:moveTo>
                <a:lnTo>
                  <a:pt x="0" y="8"/>
                </a:lnTo>
                <a:lnTo>
                  <a:pt x="18" y="4"/>
                </a:lnTo>
                <a:lnTo>
                  <a:pt x="46" y="0"/>
                </a:lnTo>
                <a:lnTo>
                  <a:pt x="54" y="6"/>
                </a:lnTo>
                <a:lnTo>
                  <a:pt x="70" y="16"/>
                </a:lnTo>
                <a:lnTo>
                  <a:pt x="80" y="20"/>
                </a:lnTo>
                <a:lnTo>
                  <a:pt x="94" y="38"/>
                </a:lnTo>
                <a:lnTo>
                  <a:pt x="132" y="36"/>
                </a:lnTo>
                <a:lnTo>
                  <a:pt x="140" y="34"/>
                </a:lnTo>
                <a:lnTo>
                  <a:pt x="158" y="52"/>
                </a:lnTo>
                <a:lnTo>
                  <a:pt x="158" y="60"/>
                </a:lnTo>
                <a:lnTo>
                  <a:pt x="168" y="68"/>
                </a:lnTo>
                <a:lnTo>
                  <a:pt x="170" y="84"/>
                </a:lnTo>
                <a:lnTo>
                  <a:pt x="188" y="82"/>
                </a:lnTo>
                <a:lnTo>
                  <a:pt x="192" y="84"/>
                </a:lnTo>
                <a:lnTo>
                  <a:pt x="192" y="94"/>
                </a:lnTo>
                <a:lnTo>
                  <a:pt x="200" y="94"/>
                </a:lnTo>
                <a:lnTo>
                  <a:pt x="202" y="84"/>
                </a:lnTo>
                <a:lnTo>
                  <a:pt x="214" y="74"/>
                </a:lnTo>
                <a:lnTo>
                  <a:pt x="234" y="62"/>
                </a:lnTo>
                <a:lnTo>
                  <a:pt x="230" y="72"/>
                </a:lnTo>
                <a:lnTo>
                  <a:pt x="228" y="76"/>
                </a:lnTo>
                <a:lnTo>
                  <a:pt x="236" y="80"/>
                </a:lnTo>
                <a:lnTo>
                  <a:pt x="248" y="76"/>
                </a:lnTo>
                <a:lnTo>
                  <a:pt x="258" y="82"/>
                </a:lnTo>
                <a:lnTo>
                  <a:pt x="266" y="90"/>
                </a:lnTo>
                <a:lnTo>
                  <a:pt x="258" y="98"/>
                </a:lnTo>
                <a:lnTo>
                  <a:pt x="248" y="102"/>
                </a:lnTo>
                <a:lnTo>
                  <a:pt x="236" y="102"/>
                </a:lnTo>
                <a:lnTo>
                  <a:pt x="232" y="98"/>
                </a:lnTo>
                <a:lnTo>
                  <a:pt x="234" y="90"/>
                </a:lnTo>
                <a:lnTo>
                  <a:pt x="228" y="88"/>
                </a:lnTo>
                <a:lnTo>
                  <a:pt x="216" y="90"/>
                </a:lnTo>
                <a:lnTo>
                  <a:pt x="212" y="98"/>
                </a:lnTo>
                <a:lnTo>
                  <a:pt x="204" y="102"/>
                </a:lnTo>
                <a:lnTo>
                  <a:pt x="198" y="100"/>
                </a:lnTo>
                <a:lnTo>
                  <a:pt x="200" y="114"/>
                </a:lnTo>
                <a:lnTo>
                  <a:pt x="180" y="114"/>
                </a:lnTo>
                <a:lnTo>
                  <a:pt x="180" y="124"/>
                </a:lnTo>
                <a:lnTo>
                  <a:pt x="192" y="124"/>
                </a:lnTo>
                <a:lnTo>
                  <a:pt x="190" y="138"/>
                </a:lnTo>
                <a:lnTo>
                  <a:pt x="196" y="140"/>
                </a:lnTo>
                <a:lnTo>
                  <a:pt x="188" y="150"/>
                </a:lnTo>
                <a:lnTo>
                  <a:pt x="188" y="158"/>
                </a:lnTo>
                <a:lnTo>
                  <a:pt x="168" y="152"/>
                </a:lnTo>
                <a:lnTo>
                  <a:pt x="168" y="144"/>
                </a:lnTo>
                <a:lnTo>
                  <a:pt x="158" y="138"/>
                </a:lnTo>
                <a:lnTo>
                  <a:pt x="146" y="136"/>
                </a:lnTo>
                <a:lnTo>
                  <a:pt x="104" y="108"/>
                </a:lnTo>
                <a:lnTo>
                  <a:pt x="90" y="82"/>
                </a:lnTo>
                <a:lnTo>
                  <a:pt x="64" y="82"/>
                </a:lnTo>
                <a:lnTo>
                  <a:pt x="64" y="66"/>
                </a:lnTo>
                <a:lnTo>
                  <a:pt x="62" y="62"/>
                </a:lnTo>
                <a:lnTo>
                  <a:pt x="48" y="60"/>
                </a:lnTo>
                <a:lnTo>
                  <a:pt x="42" y="54"/>
                </a:lnTo>
                <a:lnTo>
                  <a:pt x="14" y="68"/>
                </a:lnTo>
                <a:lnTo>
                  <a:pt x="14" y="8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3175" cap="flat">
            <a:solidFill>
              <a:srgbClr val="1A1D24"/>
            </a:solidFill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Roboto Condense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30460F-BD5A-A9BA-D6B4-B566B37B113F}"/>
              </a:ext>
            </a:extLst>
          </p:cNvPr>
          <p:cNvSpPr txBox="1"/>
          <p:nvPr/>
        </p:nvSpPr>
        <p:spPr>
          <a:xfrm>
            <a:off x="974810" y="2571182"/>
            <a:ext cx="14993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Roboto Condensed"/>
              </a:rPr>
              <a:t>Узбекистан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5E1DF3-863E-3FB1-EDA6-FC828EE07D20}"/>
              </a:ext>
            </a:extLst>
          </p:cNvPr>
          <p:cNvSpPr txBox="1"/>
          <p:nvPr/>
        </p:nvSpPr>
        <p:spPr>
          <a:xfrm>
            <a:off x="1024327" y="4319290"/>
            <a:ext cx="48297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prstClr val="black"/>
                </a:solidFill>
                <a:latin typeface="Avenir Book" panose="02000503020000020003" pitchFamily="2" charset="0"/>
                <a:cs typeface="Roboto Condensed"/>
              </a:rPr>
              <a:t>Ц</a:t>
            </a:r>
            <a:r>
              <a:rPr kumimoji="0" lang="en-US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Roboto Condensed"/>
              </a:rPr>
              <a:t>ель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Roboto Condensed"/>
              </a:rPr>
              <a:t>/приоритет: </a:t>
            </a:r>
            <a:r>
              <a:rPr lang="en-US" sz="1200">
                <a:latin typeface="Avenir Book" panose="02000503020000020003" pitchFamily="2" charset="0"/>
              </a:rPr>
              <a:t>создание национальной и международной экосистемы ИИ-стартапов </a:t>
            </a:r>
            <a:endParaRPr lang="en-US" sz="1200">
              <a:highlight>
                <a:srgbClr val="FFFF00"/>
              </a:highlight>
              <a:latin typeface="Avenir Book" panose="02000503020000020003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9D51FA-DAA0-4B77-C1E6-C42E531F656E}"/>
              </a:ext>
            </a:extLst>
          </p:cNvPr>
          <p:cNvSpPr txBox="1"/>
          <p:nvPr/>
        </p:nvSpPr>
        <p:spPr>
          <a:xfrm>
            <a:off x="1043922" y="5059278"/>
            <a:ext cx="1361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Roboto Condensed"/>
              </a:rPr>
              <a:t>Что усилить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C58C23-1D78-02CA-9EF3-FCB26E9E3BE4}"/>
              </a:ext>
            </a:extLst>
          </p:cNvPr>
          <p:cNvSpPr txBox="1"/>
          <p:nvPr/>
        </p:nvSpPr>
        <p:spPr>
          <a:xfrm>
            <a:off x="1043923" y="5277917"/>
            <a:ext cx="1043444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latin typeface="Avenir Book" panose="02000503020000020003" pitchFamily="2" charset="0"/>
              </a:rPr>
              <a:t>Удвоить усилия по финансированию стартап-экосистемы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latin typeface="Avenir Book" panose="02000503020000020003" pitchFamily="2" charset="0"/>
              </a:rPr>
              <a:t>Ускорить развёртывание инфраструктуры (</a:t>
            </a:r>
            <a:r>
              <a:rPr lang="en-US" sz="1200" err="1">
                <a:latin typeface="Avenir Book" panose="02000503020000020003" pitchFamily="2" charset="0"/>
              </a:rPr>
              <a:t>DataVolt</a:t>
            </a:r>
            <a:r>
              <a:rPr lang="en-US" sz="1200">
                <a:latin typeface="Avenir Book" panose="02000503020000020003" pitchFamily="2" charset="0"/>
              </a:rPr>
              <a:t>, Supermicro, Guorui)</a:t>
            </a:r>
            <a:endParaRPr lang="en-US" sz="1400"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latin typeface="Avenir Book" panose="02000503020000020003" pitchFamily="2" charset="0"/>
              </a:rPr>
              <a:t>Больше инвестировать в развитие компетенций в области ИИ — </a:t>
            </a:r>
            <a:r>
              <a:rPr lang="en-US" sz="1200" i="1">
                <a:latin typeface="Avenir Book" panose="02000503020000020003" pitchFamily="2" charset="0"/>
              </a:rPr>
              <a:t>5 миллионов ИИ-лидеров (включая направление промышленного ИИ)</a:t>
            </a:r>
            <a:endParaRPr lang="en-US" sz="1400" i="1"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latin typeface="Avenir Book" panose="02000503020000020003" pitchFamily="2" charset="0"/>
              </a:rPr>
              <a:t>Поддержать коммерческий спрос на решения ИИ-стартапов в зрелых секторах (финтех, электронная коммерция), согласуя государственную поддержку со спросом — </a:t>
            </a:r>
            <a:r>
              <a:rPr lang="en-US" sz="1200" i="1">
                <a:latin typeface="Avenir Book" panose="02000503020000020003" pitchFamily="2" charset="0"/>
              </a:rPr>
              <a:t>дорожная карта внедрения ИИ в 60 приоритетных проектах </a:t>
            </a:r>
            <a:r>
              <a:rPr lang="en-US" sz="1200">
                <a:latin typeface="Avenir Book" panose="02000503020000020003" pitchFamily="2" charset="0"/>
              </a:rPr>
              <a:t>до конца 2026 г.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latin typeface="Avenir Book" panose="02000503020000020003" pitchFamily="2" charset="0"/>
              </a:rPr>
              <a:t>Продолжать поддержку международных обменов и перекрёстного обмена знаниями через академическую среду и стартап-программы — </a:t>
            </a:r>
            <a:r>
              <a:rPr lang="en-US" sz="1200" i="1">
                <a:latin typeface="Avenir Book" panose="02000503020000020003" pitchFamily="2" charset="0"/>
              </a:rPr>
              <a:t>Enterprise Uzbekistan, Национальный офис трансфера в Кремниевой долине, Национальная студенческая стартап-программа с 14 ИИ-лабораториями, Президентский конкурс по ИИ со 100 победителями для стажировок за рубежом</a:t>
            </a:r>
            <a:r>
              <a:rPr lang="en-US" sz="1200">
                <a:latin typeface="Avenir Book" panose="02000503020000020003" pitchFamily="2" charset="0"/>
              </a:rPr>
              <a:t> (100 млн долл.)</a:t>
            </a:r>
          </a:p>
        </p:txBody>
      </p:sp>
      <p:graphicFrame>
        <p:nvGraphicFramePr>
          <p:cNvPr id="20" name="Google Shape;536;p46">
            <a:extLst>
              <a:ext uri="{FF2B5EF4-FFF2-40B4-BE49-F238E27FC236}">
                <a16:creationId xmlns:a16="http://schemas.microsoft.com/office/drawing/2014/main" id="{58629A74-7F3B-A37E-4A30-7153543F1A63}"/>
              </a:ext>
            </a:extLst>
          </p:cNvPr>
          <p:cNvGraphicFramePr/>
          <p:nvPr/>
        </p:nvGraphicFramePr>
        <p:xfrm>
          <a:off x="3557204" y="2174096"/>
          <a:ext cx="7921168" cy="198140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6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00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32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16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16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16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164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164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0988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25" marR="7125" marT="71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25" marR="7125" marT="7125" marB="0" anchor="ctr">
                    <a:lnL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25" marR="7125" marT="7125" marB="0" anchor="ctr">
                    <a:lnL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25" marR="7125" marT="7125" marB="0" anchor="ctr">
                    <a:lnL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25" marR="7125" marT="7125" marB="0" anchor="ctr">
                    <a:lnL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25" marR="7125" marT="7125" marB="0" anchor="ctr">
                    <a:lnL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25" marR="7125" marT="7125" marB="0" anchor="ctr">
                    <a:lnL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/>
                    </a:p>
                  </a:txBody>
                  <a:tcPr marL="7125" marR="7125" marT="7125" marB="0" anchor="ctr">
                    <a:lnL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25" marR="7125" marT="7125" marB="0" anchor="ctr">
                    <a:lnL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25" marR="7125" marT="7125" marB="0" anchor="ctr">
                    <a:lnL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51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ЗДОРОВЬЕ*</a:t>
                      </a:r>
                      <a:endParaRPr/>
                    </a:p>
                  </a:txBody>
                  <a:tcPr marL="7125" marR="7125" marT="71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ФИНТЕХ*</a:t>
                      </a:r>
                      <a:endParaRPr/>
                    </a:p>
                  </a:txBody>
                  <a:tcPr marL="7125" marR="7125" marT="7125" marB="0" anchor="ctr">
                    <a:lnL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ЛОГИСТИКА*</a:t>
                      </a:r>
                      <a:endParaRPr/>
                    </a:p>
                  </a:txBody>
                  <a:tcPr marL="7125" marR="7125" marT="7125" marB="0" anchor="ctr">
                    <a:lnL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Э-КОММЕРЦИЯ*</a:t>
                      </a:r>
                      <a:endParaRPr/>
                    </a:p>
                  </a:txBody>
                  <a:tcPr marL="7125" marR="7125" marT="7125" marB="0" anchor="ctr">
                    <a:lnL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АГРО*</a:t>
                      </a:r>
                      <a:endParaRPr/>
                    </a:p>
                  </a:txBody>
                  <a:tcPr marL="7125" marR="7125" marT="7125" marB="0" anchor="ctr">
                    <a:lnL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КРЕАТИВ* </a:t>
                      </a:r>
                      <a:endParaRPr/>
                    </a:p>
                  </a:txBody>
                  <a:tcPr marL="7125" marR="7125" marT="7125" marB="0" anchor="ctr">
                    <a:lnL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ОБРАЗОВАНИЕ*</a:t>
                      </a:r>
                      <a:endParaRPr/>
                    </a:p>
                  </a:txBody>
                  <a:tcPr marL="7125" marR="7125" marT="7125" marB="0" anchor="ctr">
                    <a:lnL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ГОРНОЕ ДЕЛО / МЕТАЛЛ.</a:t>
                      </a:r>
                      <a:endParaRPr/>
                    </a:p>
                  </a:txBody>
                  <a:tcPr marL="7125" marR="7125" marT="7125" marB="0" anchor="ctr">
                    <a:lnL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ЭНЕРГЕТИКА</a:t>
                      </a:r>
                      <a:r>
                        <a:rPr lang="en-US" sz="9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</a:t>
                      </a:r>
                      <a:endParaRPr/>
                    </a:p>
                  </a:txBody>
                  <a:tcPr marL="7125" marR="7125" marT="7125" marB="0" anchor="ctr">
                    <a:lnL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ТЕЛЕКОМ / ID</a:t>
                      </a:r>
                      <a:endParaRPr/>
                    </a:p>
                  </a:txBody>
                  <a:tcPr marL="7125" marR="7125" marT="7125" marB="0" anchor="ctr">
                    <a:lnL w="9525" cap="flat" cmpd="sng">
                      <a:solidFill>
                        <a:srgbClr val="7F7F7F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1" name="Google Shape;540;p46">
            <a:extLst>
              <a:ext uri="{FF2B5EF4-FFF2-40B4-BE49-F238E27FC236}">
                <a16:creationId xmlns:a16="http://schemas.microsoft.com/office/drawing/2014/main" id="{AAC23996-DF8E-341D-1A24-CFD86038FA8D}"/>
              </a:ext>
            </a:extLst>
          </p:cNvPr>
          <p:cNvCxnSpPr>
            <a:cxnSpLocks/>
          </p:cNvCxnSpPr>
          <p:nvPr/>
        </p:nvCxnSpPr>
        <p:spPr>
          <a:xfrm>
            <a:off x="3547074" y="3052129"/>
            <a:ext cx="8047302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2" name="Google Shape;543;p46">
            <a:extLst>
              <a:ext uri="{FF2B5EF4-FFF2-40B4-BE49-F238E27FC236}">
                <a16:creationId xmlns:a16="http://schemas.microsoft.com/office/drawing/2014/main" id="{155614FF-3BCF-0C5A-02F4-9DBED7DA3051}"/>
              </a:ext>
            </a:extLst>
          </p:cNvPr>
          <p:cNvSpPr/>
          <p:nvPr/>
        </p:nvSpPr>
        <p:spPr>
          <a:xfrm>
            <a:off x="3557207" y="2177898"/>
            <a:ext cx="7931295" cy="1975691"/>
          </a:xfrm>
          <a:prstGeom prst="roundRect">
            <a:avLst>
              <a:gd name="adj" fmla="val 1661"/>
            </a:avLst>
          </a:prstGeom>
          <a:noFill/>
          <a:ln w="28575" cap="flat" cmpd="sng">
            <a:solidFill>
              <a:schemeClr val="bg1">
                <a:lumMod val="6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3"/>
              </a:buClr>
              <a:buSzPts val="1000"/>
              <a:buFont typeface="Arial"/>
              <a:buNone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021F43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545;p46">
            <a:extLst>
              <a:ext uri="{FF2B5EF4-FFF2-40B4-BE49-F238E27FC236}">
                <a16:creationId xmlns:a16="http://schemas.microsoft.com/office/drawing/2014/main" id="{9912B08C-C6A2-1E21-73B6-1BD0B98BD0F7}"/>
              </a:ext>
            </a:extLst>
          </p:cNvPr>
          <p:cNvSpPr txBox="1"/>
          <p:nvPr/>
        </p:nvSpPr>
        <p:spPr>
          <a:xfrm>
            <a:off x="8955075" y="2178923"/>
            <a:ext cx="2537979" cy="17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Использование новых возможностей ИИ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Google Shape;548;p46">
            <a:extLst>
              <a:ext uri="{FF2B5EF4-FFF2-40B4-BE49-F238E27FC236}">
                <a16:creationId xmlns:a16="http://schemas.microsoft.com/office/drawing/2014/main" id="{81890A06-16F3-DED3-FC5C-EE40DAF92088}"/>
              </a:ext>
            </a:extLst>
          </p:cNvPr>
          <p:cNvSpPr txBox="1"/>
          <p:nvPr/>
        </p:nvSpPr>
        <p:spPr>
          <a:xfrm>
            <a:off x="6318629" y="2135703"/>
            <a:ext cx="250412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3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21F43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ВЕРТИКАЛЬНЫЙ 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21F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ИИ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Google Shape;546;p46">
            <a:extLst>
              <a:ext uri="{FF2B5EF4-FFF2-40B4-BE49-F238E27FC236}">
                <a16:creationId xmlns:a16="http://schemas.microsoft.com/office/drawing/2014/main" id="{BCB7D4C8-E0EA-5DB8-A774-4E31DB3CC55A}"/>
              </a:ext>
            </a:extLst>
          </p:cNvPr>
          <p:cNvSpPr txBox="1"/>
          <p:nvPr/>
        </p:nvSpPr>
        <p:spPr>
          <a:xfrm>
            <a:off x="9043282" y="3077946"/>
            <a:ext cx="2450129" cy="22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Создание новых ИИ-продуктов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78BEDCA1-991D-492B-C583-41231C0BEC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17470" y="3293218"/>
            <a:ext cx="774700" cy="17780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1DD29C56-4B82-85FF-F24D-16EDDC4EF29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54047" y="3429516"/>
            <a:ext cx="1053626" cy="24406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AB17A029-A9A1-3573-5D7E-6C5314B5C23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10833" y="3407510"/>
            <a:ext cx="1000428" cy="30884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561D2FB-124D-C22D-9FD2-9E862013CE4A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46464" y="3367476"/>
            <a:ext cx="570324" cy="165735"/>
          </a:xfrm>
          <a:prstGeom prst="rect">
            <a:avLst/>
          </a:prstGeom>
        </p:spPr>
      </p:pic>
      <p:pic>
        <p:nvPicPr>
          <p:cNvPr id="30" name="Picture 29" descr="A green triangle with a wifi signal&#10;&#10;AI-generated content may be incorrect.">
            <a:extLst>
              <a:ext uri="{FF2B5EF4-FFF2-40B4-BE49-F238E27FC236}">
                <a16:creationId xmlns:a16="http://schemas.microsoft.com/office/drawing/2014/main" id="{74BDBB92-DABF-655A-601E-E4B8B4B7C5B3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8551" y="3180859"/>
            <a:ext cx="364952" cy="364952"/>
          </a:xfrm>
          <a:prstGeom prst="rect">
            <a:avLst/>
          </a:prstGeom>
        </p:spPr>
      </p:pic>
      <p:pic>
        <p:nvPicPr>
          <p:cNvPr id="31" name="Picture 30" descr="A blue and black logo&#10;&#10;AI-generated content may be incorrect.">
            <a:extLst>
              <a:ext uri="{FF2B5EF4-FFF2-40B4-BE49-F238E27FC236}">
                <a16:creationId xmlns:a16="http://schemas.microsoft.com/office/drawing/2014/main" id="{DC25D580-BE92-510A-D0B5-6034B40D9E28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1047" y="2972325"/>
            <a:ext cx="527209" cy="287815"/>
          </a:xfrm>
          <a:prstGeom prst="rect">
            <a:avLst/>
          </a:prstGeom>
        </p:spPr>
      </p:pic>
      <p:pic>
        <p:nvPicPr>
          <p:cNvPr id="32" name="Picture 31" descr="A blue and black text&#10;&#10;AI-generated content may be incorrect.">
            <a:extLst>
              <a:ext uri="{FF2B5EF4-FFF2-40B4-BE49-F238E27FC236}">
                <a16:creationId xmlns:a16="http://schemas.microsoft.com/office/drawing/2014/main" id="{50F8BE53-7F94-301D-31BB-EB937218553A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96076" y="2764555"/>
            <a:ext cx="553199" cy="252559"/>
          </a:xfrm>
          <a:prstGeom prst="rect">
            <a:avLst/>
          </a:prstGeom>
        </p:spPr>
      </p:pic>
      <p:pic>
        <p:nvPicPr>
          <p:cNvPr id="33" name="Picture 32" descr="A close-up of a grey background&#10;&#10;AI-generated content may be incorrect.">
            <a:extLst>
              <a:ext uri="{FF2B5EF4-FFF2-40B4-BE49-F238E27FC236}">
                <a16:creationId xmlns:a16="http://schemas.microsoft.com/office/drawing/2014/main" id="{8EBF5685-7F06-00D0-428A-51B717193DB0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632"/>
          <a:stretch>
            <a:fillRect/>
          </a:stretch>
        </p:blipFill>
        <p:spPr>
          <a:xfrm>
            <a:off x="5490578" y="2819053"/>
            <a:ext cx="652063" cy="367119"/>
          </a:xfrm>
          <a:prstGeom prst="rect">
            <a:avLst/>
          </a:prstGeom>
        </p:spPr>
      </p:pic>
      <p:pic>
        <p:nvPicPr>
          <p:cNvPr id="34" name="Picture 33" descr="A purple square with a white square and a white rectangle with text&#10;&#10;AI-generated content may be incorrect.">
            <a:extLst>
              <a:ext uri="{FF2B5EF4-FFF2-40B4-BE49-F238E27FC236}">
                <a16:creationId xmlns:a16="http://schemas.microsoft.com/office/drawing/2014/main" id="{8E7EDB59-A7D2-3F9F-0D31-76D639DFEDED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26019" y="2935799"/>
            <a:ext cx="495905" cy="480947"/>
          </a:xfrm>
          <a:prstGeom prst="rect">
            <a:avLst/>
          </a:prstGeom>
        </p:spPr>
      </p:pic>
      <p:pic>
        <p:nvPicPr>
          <p:cNvPr id="35" name="Picture 34" descr="A blue text on a white background&#10;&#10;AI-generated content may be incorrect.">
            <a:extLst>
              <a:ext uri="{FF2B5EF4-FFF2-40B4-BE49-F238E27FC236}">
                <a16:creationId xmlns:a16="http://schemas.microsoft.com/office/drawing/2014/main" id="{4BDC84E1-C518-91E2-DFED-49B8CB651828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2934" y="2275290"/>
            <a:ext cx="812831" cy="221867"/>
          </a:xfrm>
          <a:prstGeom prst="rect">
            <a:avLst/>
          </a:prstGeom>
        </p:spPr>
      </p:pic>
      <p:pic>
        <p:nvPicPr>
          <p:cNvPr id="36" name="Picture 35" descr="A blue text on a white background&#10;&#10;AI-generated content may be incorrect.">
            <a:extLst>
              <a:ext uri="{FF2B5EF4-FFF2-40B4-BE49-F238E27FC236}">
                <a16:creationId xmlns:a16="http://schemas.microsoft.com/office/drawing/2014/main" id="{278425DB-7840-9A8A-CD2C-DB218E682840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74"/>
          <a:stretch>
            <a:fillRect/>
          </a:stretch>
        </p:blipFill>
        <p:spPr>
          <a:xfrm>
            <a:off x="4672663" y="3291261"/>
            <a:ext cx="912867" cy="129947"/>
          </a:xfrm>
          <a:prstGeom prst="rect">
            <a:avLst/>
          </a:prstGeom>
        </p:spPr>
      </p:pic>
      <p:pic>
        <p:nvPicPr>
          <p:cNvPr id="37" name="Picture 36" descr="A blue background with white letters&#10;&#10;AI-generated content may be incorrect.">
            <a:extLst>
              <a:ext uri="{FF2B5EF4-FFF2-40B4-BE49-F238E27FC236}">
                <a16:creationId xmlns:a16="http://schemas.microsoft.com/office/drawing/2014/main" id="{E8280B75-C8AB-AFCA-E92E-B63650E5DC7A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53645" y="3054188"/>
            <a:ext cx="565182" cy="19638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23B2CDE2-9877-C034-F09E-DBBBD302BB7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826328" y="3478322"/>
            <a:ext cx="656876" cy="179148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C01AB84E-82D9-7D54-9293-62092B71A71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91088" y="2357048"/>
            <a:ext cx="1031877" cy="263458"/>
          </a:xfrm>
          <a:prstGeom prst="rect">
            <a:avLst/>
          </a:prstGeom>
        </p:spPr>
      </p:pic>
      <p:pic>
        <p:nvPicPr>
          <p:cNvPr id="40" name="Picture 39" descr="A blue triangle with grey text&#10;&#10;AI-generated content may be incorrect.">
            <a:extLst>
              <a:ext uri="{FF2B5EF4-FFF2-40B4-BE49-F238E27FC236}">
                <a16:creationId xmlns:a16="http://schemas.microsoft.com/office/drawing/2014/main" id="{A2DCFE53-6AE1-117E-E24C-CE32CC394F3B}"/>
              </a:ext>
            </a:extLst>
          </p:cNvPr>
          <p:cNvPicPr>
            <a:picLocks noChangeAspect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35476" y="2535088"/>
            <a:ext cx="1027749" cy="251825"/>
          </a:xfrm>
          <a:prstGeom prst="rect">
            <a:avLst/>
          </a:prstGeom>
        </p:spPr>
      </p:pic>
      <p:pic>
        <p:nvPicPr>
          <p:cNvPr id="41" name="Picture 40" descr="A purple letter on a white background&#10;&#10;AI-generated content may be incorrect.">
            <a:extLst>
              <a:ext uri="{FF2B5EF4-FFF2-40B4-BE49-F238E27FC236}">
                <a16:creationId xmlns:a16="http://schemas.microsoft.com/office/drawing/2014/main" id="{CBB08465-FDD6-4005-357C-981363D0B056}"/>
              </a:ext>
            </a:extLst>
          </p:cNvPr>
          <p:cNvPicPr>
            <a:picLocks noChangeAspect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77922" y="3068472"/>
            <a:ext cx="671353" cy="18973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017E96DC-DE28-3C47-4969-4D3DB7FF014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663996" y="2496086"/>
            <a:ext cx="739736" cy="251825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7C0757B3-C0AB-01F6-3662-7760330CA574}"/>
              </a:ext>
            </a:extLst>
          </p:cNvPr>
          <p:cNvSpPr txBox="1"/>
          <p:nvPr/>
        </p:nvSpPr>
        <p:spPr>
          <a:xfrm>
            <a:off x="1024325" y="4578677"/>
            <a:ext cx="10434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1200" b="1">
                <a:solidFill>
                  <a:prstClr val="black"/>
                </a:solidFill>
                <a:latin typeface="Avenir Book" panose="02000503020000020003" pitchFamily="2" charset="0"/>
                <a:cs typeface="Roboto Condensed"/>
              </a:defRPr>
            </a:lvl1pPr>
          </a:lstStyle>
          <a:p>
            <a:r>
              <a:rPr lang="en-US"/>
              <a:t>Отличительные черты: </a:t>
            </a:r>
            <a:r>
              <a:rPr lang="en-US" b="0"/>
              <a:t>сначала фундамент, сильная национальная стратегия, которая реально исполняется (например, в финтехе), продуманные программы стимулов для ускорения стартап-экосистемы, формирующийся стек физической инфраструктуры</a:t>
            </a:r>
          </a:p>
        </p:txBody>
      </p:sp>
    </p:spTree>
    <p:extLst>
      <p:ext uri="{BB962C8B-B14F-4D97-AF65-F5344CB8AC3E}">
        <p14:creationId xmlns:p14="http://schemas.microsoft.com/office/powerpoint/2010/main" val="445512525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Green Digita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77D99"/>
      </a:accent1>
      <a:accent2>
        <a:srgbClr val="55BACB"/>
      </a:accent2>
      <a:accent3>
        <a:srgbClr val="FF9966"/>
      </a:accent3>
      <a:accent4>
        <a:srgbClr val="F2B943"/>
      </a:accent4>
      <a:accent5>
        <a:srgbClr val="90BF4A"/>
      </a:accent5>
      <a:accent6>
        <a:srgbClr val="1C3159"/>
      </a:accent6>
      <a:hlink>
        <a:srgbClr val="377D99"/>
      </a:hlink>
      <a:folHlink>
        <a:srgbClr val="954F72"/>
      </a:folHlink>
    </a:clrScheme>
    <a:fontScheme name="Roboto">
      <a:majorFont>
        <a:latin typeface="Roboto Medium"/>
        <a:ea typeface=""/>
        <a:cs typeface="Roboto Medium"/>
      </a:majorFont>
      <a:minorFont>
        <a:latin typeface="Roboto Condensed"/>
        <a:ea typeface=""/>
        <a:cs typeface="Roboto Condensed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ede06562-2862-4488-9720-8109f1475842">
      <Terms xmlns="http://schemas.microsoft.com/office/infopath/2007/PartnerControls"/>
    </lcf76f155ced4ddcb4097134ff3c332f>
    <TaxCatchAll xmlns="3e02667f-0271-471b-bd6e-11a2e16def1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D20E3FD9213949ADD13D86955EEA6B" ma:contentTypeVersion="20" ma:contentTypeDescription="Create a new document." ma:contentTypeScope="" ma:versionID="60d69647fc117bcd00ba7942950f7f74">
  <xsd:schema xmlns:xsd="http://www.w3.org/2001/XMLSchema" xmlns:xs="http://www.w3.org/2001/XMLSchema" xmlns:p="http://schemas.microsoft.com/office/2006/metadata/properties" xmlns:ns1="http://schemas.microsoft.com/sharepoint/v3" xmlns:ns2="ede06562-2862-4488-9720-8109f1475842" xmlns:ns3="b202bacb-cc9c-4b1b-9897-5a9396d71553" xmlns:ns4="3e02667f-0271-471b-bd6e-11a2e16def1d" targetNamespace="http://schemas.microsoft.com/office/2006/metadata/properties" ma:root="true" ma:fieldsID="fce498af4c4b7bd2b7b73310c84288f5" ns1:_="" ns2:_="" ns3:_="" ns4:_="">
    <xsd:import namespace="http://schemas.microsoft.com/sharepoint/v3"/>
    <xsd:import namespace="ede06562-2862-4488-9720-8109f1475842"/>
    <xsd:import namespace="b202bacb-cc9c-4b1b-9897-5a9396d71553"/>
    <xsd:import namespace="3e02667f-0271-471b-bd6e-11a2e16def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4:TaxCatchAll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e06562-2862-4488-9720-8109f14758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2a6c10d7-b926-4fc0-945e-3cbf5049f6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02bacb-cc9c-4b1b-9897-5a9396d7155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02667f-0271-471b-bd6e-11a2e16def1d" elementFormDefault="qualified">
    <xsd:import namespace="http://schemas.microsoft.com/office/2006/documentManagement/types"/>
    <xsd:import namespace="http://schemas.microsoft.com/office/infopath/2007/PartnerControls"/>
    <xsd:element name="TaxCatchAll" ma:index="24" nillable="true" ma:displayName="Taxonomy Catch All Column" ma:hidden="true" ma:list="{bcbe84ff-0712-4a66-9a67-ce71d0f844e1}" ma:internalName="TaxCatchAll" ma:showField="CatchAllData" ma:web="b202bacb-cc9c-4b1b-9897-5a9396d7155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0BCE92-613A-48E7-8037-BC2434586A1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ede06562-2862-4488-9720-8109f1475842"/>
    <ds:schemaRef ds:uri="3e02667f-0271-471b-bd6e-11a2e16def1d"/>
  </ds:schemaRefs>
</ds:datastoreItem>
</file>

<file path=customXml/itemProps2.xml><?xml version="1.0" encoding="utf-8"?>
<ds:datastoreItem xmlns:ds="http://schemas.openxmlformats.org/officeDocument/2006/customXml" ds:itemID="{8C8EEC74-FCFA-4957-926F-04E3C402A2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1B352E9-9FE3-4C9D-9FC9-C0CE1F788F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de06562-2862-4488-9720-8109f1475842"/>
    <ds:schemaRef ds:uri="b202bacb-cc9c-4b1b-9897-5a9396d71553"/>
    <ds:schemaRef ds:uri="3e02667f-0271-471b-bd6e-11a2e16def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706</TotalTime>
  <Words>2170</Words>
  <Application>Microsoft Office PowerPoint</Application>
  <PresentationFormat>Widescreen</PresentationFormat>
  <Paragraphs>245</Paragraphs>
  <Slides>20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6" baseType="lpstr">
      <vt:lpstr>Aptos</vt:lpstr>
      <vt:lpstr>Arial</vt:lpstr>
      <vt:lpstr>Arial Nova</vt:lpstr>
      <vt:lpstr>Avenir Black</vt:lpstr>
      <vt:lpstr>Avenir Book</vt:lpstr>
      <vt:lpstr>Calibri</vt:lpstr>
      <vt:lpstr>Calibri Light</vt:lpstr>
      <vt:lpstr>Century Gothic</vt:lpstr>
      <vt:lpstr>Georgia</vt:lpstr>
      <vt:lpstr>HP Simplified</vt:lpstr>
      <vt:lpstr>Roboto Condensed</vt:lpstr>
      <vt:lpstr>Verdana</vt:lpstr>
      <vt:lpstr>Wingdings</vt:lpstr>
      <vt:lpstr>Тема Office</vt:lpstr>
      <vt:lpstr>1_Custom Design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УЗБЕКИСТАН  #DIGITAL_INCLUSION ПРОЕКТ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Yaroslav Eferin</dc:creator>
  <cp:lastModifiedBy>Luda Bujoreanu</cp:lastModifiedBy>
  <cp:revision>254</cp:revision>
  <dcterms:created xsi:type="dcterms:W3CDTF">2025-12-13T12:56:06Z</dcterms:created>
  <dcterms:modified xsi:type="dcterms:W3CDTF">2026-08-16T17:52:21Z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9608d83-f952-409d-b7c5-456515bbbf5a_Enabled">
    <vt:lpwstr>true</vt:lpwstr>
  </property>
  <property fmtid="{D5CDD505-2E9C-101B-9397-08002B2CF9AE}" pid="3" name="MSIP_Label_89608d83-f952-409d-b7c5-456515bbbf5a_SetDate">
    <vt:lpwstr>2026-01-28T08:10:34Z</vt:lpwstr>
  </property>
  <property fmtid="{D5CDD505-2E9C-101B-9397-08002B2CF9AE}" pid="4" name="MSIP_Label_89608d83-f952-409d-b7c5-456515bbbf5a_Method">
    <vt:lpwstr>Privileged</vt:lpwstr>
  </property>
  <property fmtid="{D5CDD505-2E9C-101B-9397-08002B2CF9AE}" pid="5" name="MSIP_Label_89608d83-f952-409d-b7c5-456515bbbf5a_Name">
    <vt:lpwstr>Public</vt:lpwstr>
  </property>
  <property fmtid="{D5CDD505-2E9C-101B-9397-08002B2CF9AE}" pid="6" name="MSIP_Label_89608d83-f952-409d-b7c5-456515bbbf5a_SiteId">
    <vt:lpwstr>31a2fec0-266b-4c67-b56e-2796d8f59c36</vt:lpwstr>
  </property>
  <property fmtid="{D5CDD505-2E9C-101B-9397-08002B2CF9AE}" pid="7" name="MSIP_Label_89608d83-f952-409d-b7c5-456515bbbf5a_ActionId">
    <vt:lpwstr>ae733ba8-cd55-44ce-9eda-f70b0e36a421</vt:lpwstr>
  </property>
  <property fmtid="{D5CDD505-2E9C-101B-9397-08002B2CF9AE}" pid="8" name="MSIP_Label_89608d83-f952-409d-b7c5-456515bbbf5a_ContentBits">
    <vt:lpwstr>0</vt:lpwstr>
  </property>
  <property fmtid="{D5CDD505-2E9C-101B-9397-08002B2CF9AE}" pid="9" name="MSIP_Label_89608d83-f952-409d-b7c5-456515bbbf5a_Tag">
    <vt:lpwstr>10, 0, 1, 2</vt:lpwstr>
  </property>
  <property fmtid="{D5CDD505-2E9C-101B-9397-08002B2CF9AE}" pid="10" name="MediaServiceImageTags">
    <vt:lpwstr/>
  </property>
  <property fmtid="{D5CDD505-2E9C-101B-9397-08002B2CF9AE}" pid="11" name="ContentTypeId">
    <vt:lpwstr>0x010100B9D20E3FD9213949ADD13D86955EEA6B</vt:lpwstr>
  </property>
</Properties>
</file>